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669" autoAdjust="0"/>
  </p:normalViewPr>
  <p:slideViewPr>
    <p:cSldViewPr snapToGrid="0" snapToObjects="1">
      <p:cViewPr varScale="1">
        <p:scale>
          <a:sx n="92" d="100"/>
          <a:sy n="92" d="100"/>
        </p:scale>
        <p:origin x="7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9DC892-F880-47DB-8591-10FBC08A1036}" type="datetimeFigureOut">
              <a:rPr lang="en-IN" smtClean="0"/>
              <a:t>08-04-2026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7BDAFD-83D7-433E-9DC7-70DAD1FCBBDC}" type="slidenum">
              <a:rPr lang="en-IN" smtClean="0"/>
              <a:t>‹#›</a:t>
            </a:fld>
            <a:endParaRPr lang="en-IN"/>
          </a:p>
        </p:txBody>
      </p:sp>
    </p:spTree>
    <p:extLst>
      <p:ext uri="{BB962C8B-B14F-4D97-AF65-F5344CB8AC3E}">
        <p14:creationId xmlns:p14="http://schemas.microsoft.com/office/powerpoint/2010/main" val="3254189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7BDAFD-83D7-433E-9DC7-70DAD1FCBBDC}" type="slidenum">
              <a:rPr lang="en-IN" smtClean="0"/>
              <a:t>2</a:t>
            </a:fld>
            <a:endParaRPr lang="en-IN"/>
          </a:p>
        </p:txBody>
      </p:sp>
    </p:spTree>
    <p:extLst>
      <p:ext uri="{BB962C8B-B14F-4D97-AF65-F5344CB8AC3E}">
        <p14:creationId xmlns:p14="http://schemas.microsoft.com/office/powerpoint/2010/main" val="2968552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2514600"/>
            <a:ext cx="1179576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274320"/>
            <a:ext cx="11430000" cy="223138"/>
          </a:xfrm>
          <a:prstGeom prst="rect">
            <a:avLst/>
          </a:prstGeom>
          <a:noFill/>
        </p:spPr>
        <p:txBody>
          <a:bodyPr wrap="square">
            <a:spAutoFit/>
          </a:bodyPr>
          <a:lstStyle/>
          <a:p>
            <a:pPr algn="l"/>
            <a:r>
              <a:rPr sz="850" b="0" i="0" dirty="0">
                <a:solidFill>
                  <a:srgbClr val="CADCFC"/>
                </a:solidFill>
              </a:rPr>
              <a:t>BFSI MUTUAL FUND RESEARCH  |  NOV 2022 </a:t>
            </a:r>
            <a:r>
              <a:rPr lang="en-IN" sz="850" b="0" i="0" dirty="0">
                <a:solidFill>
                  <a:srgbClr val="CADCFC"/>
                </a:solidFill>
              </a:rPr>
              <a:t>-</a:t>
            </a:r>
            <a:r>
              <a:rPr sz="850" b="0" i="0" dirty="0">
                <a:solidFill>
                  <a:srgbClr val="CADCFC"/>
                </a:solidFill>
              </a:rPr>
              <a:t> OCT 2025  |  ₹1</a:t>
            </a:r>
            <a:r>
              <a:rPr lang="en-IN" sz="850" b="0" i="0" dirty="0">
                <a:solidFill>
                  <a:srgbClr val="CADCFC"/>
                </a:solidFill>
              </a:rPr>
              <a:t>1</a:t>
            </a:r>
            <a:r>
              <a:rPr sz="850" b="0" i="0" dirty="0">
                <a:solidFill>
                  <a:srgbClr val="CADCFC"/>
                </a:solidFill>
              </a:rPr>
              <a:t>,</a:t>
            </a:r>
            <a:r>
              <a:rPr lang="en-IN" sz="850" b="0" i="0" dirty="0">
                <a:solidFill>
                  <a:srgbClr val="CADCFC"/>
                </a:solidFill>
              </a:rPr>
              <a:t>4</a:t>
            </a:r>
            <a:r>
              <a:rPr sz="850" b="0" i="0" dirty="0">
                <a:solidFill>
                  <a:srgbClr val="CADCFC"/>
                </a:solidFill>
              </a:rPr>
              <a:t>00 Cr+ AUM  |  3 MONETARY POLICY REGIMES</a:t>
            </a:r>
          </a:p>
        </p:txBody>
      </p:sp>
      <p:sp>
        <p:nvSpPr>
          <p:cNvPr id="6" name="TextBox 5"/>
          <p:cNvSpPr txBox="1"/>
          <p:nvPr/>
        </p:nvSpPr>
        <p:spPr>
          <a:xfrm>
            <a:off x="365760" y="594360"/>
            <a:ext cx="11430000" cy="1554480"/>
          </a:xfrm>
          <a:prstGeom prst="rect">
            <a:avLst/>
          </a:prstGeom>
          <a:noFill/>
        </p:spPr>
        <p:txBody>
          <a:bodyPr wrap="square">
            <a:spAutoFit/>
          </a:bodyPr>
          <a:lstStyle/>
          <a:p>
            <a:pPr algn="l"/>
            <a:r>
              <a:rPr sz="3400" b="1" i="0">
                <a:solidFill>
                  <a:srgbClr val="FFFFFF"/>
                </a:solidFill>
              </a:rPr>
              <a:t>Quality Concentration Beats Diversification
in Indian BFSI Mutual Funds</a:t>
            </a:r>
          </a:p>
        </p:txBody>
      </p:sp>
      <p:sp>
        <p:nvSpPr>
          <p:cNvPr id="7" name="TextBox 6"/>
          <p:cNvSpPr txBox="1"/>
          <p:nvPr/>
        </p:nvSpPr>
        <p:spPr>
          <a:xfrm>
            <a:off x="365760" y="2212848"/>
            <a:ext cx="11430000" cy="347472"/>
          </a:xfrm>
          <a:prstGeom prst="rect">
            <a:avLst/>
          </a:prstGeom>
          <a:noFill/>
        </p:spPr>
        <p:txBody>
          <a:bodyPr wrap="square">
            <a:spAutoFit/>
          </a:bodyPr>
          <a:lstStyle/>
          <a:p>
            <a:pPr algn="l"/>
            <a:r>
              <a:rPr sz="1200" b="0" i="0" dirty="0">
                <a:solidFill>
                  <a:srgbClr val="CADCFC"/>
                </a:solidFill>
              </a:rPr>
              <a:t>36-Month Regime-Based Attribution Study  |  Nippon India MF vs Aditya Birla Sun Life MF vs Nifty Financial Services TRI</a:t>
            </a:r>
          </a:p>
        </p:txBody>
      </p:sp>
      <p:sp>
        <p:nvSpPr>
          <p:cNvPr id="8" name="Rectangle 7"/>
          <p:cNvSpPr/>
          <p:nvPr/>
        </p:nvSpPr>
        <p:spPr>
          <a:xfrm>
            <a:off x="365760" y="2670048"/>
            <a:ext cx="2834640" cy="1325880"/>
          </a:xfrm>
          <a:prstGeom prst="rect">
            <a:avLst/>
          </a:prstGeom>
          <a:solidFill>
            <a:srgbClr val="236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8912" y="2761488"/>
            <a:ext cx="2697480" cy="594360"/>
          </a:xfrm>
          <a:prstGeom prst="rect">
            <a:avLst/>
          </a:prstGeom>
          <a:noFill/>
        </p:spPr>
        <p:txBody>
          <a:bodyPr wrap="square">
            <a:spAutoFit/>
          </a:bodyPr>
          <a:lstStyle/>
          <a:p>
            <a:pPr algn="ctr"/>
            <a:r>
              <a:rPr sz="2100" b="1" i="0" dirty="0">
                <a:solidFill>
                  <a:srgbClr val="FFFFFF"/>
                </a:solidFill>
              </a:rPr>
              <a:t>178 bps</a:t>
            </a:r>
          </a:p>
        </p:txBody>
      </p:sp>
      <p:sp>
        <p:nvSpPr>
          <p:cNvPr id="10" name="TextBox 9"/>
          <p:cNvSpPr txBox="1"/>
          <p:nvPr/>
        </p:nvSpPr>
        <p:spPr>
          <a:xfrm>
            <a:off x="438912" y="3328416"/>
            <a:ext cx="2697480" cy="274320"/>
          </a:xfrm>
          <a:prstGeom prst="rect">
            <a:avLst/>
          </a:prstGeom>
          <a:noFill/>
        </p:spPr>
        <p:txBody>
          <a:bodyPr wrap="square">
            <a:spAutoFit/>
          </a:bodyPr>
          <a:lstStyle/>
          <a:p>
            <a:pPr algn="ctr"/>
            <a:r>
              <a:rPr sz="1050" b="1" i="0">
                <a:solidFill>
                  <a:srgbClr val="FFFFFF"/>
                </a:solidFill>
              </a:rPr>
              <a:t>CAGR Outperformance</a:t>
            </a:r>
          </a:p>
        </p:txBody>
      </p:sp>
      <p:sp>
        <p:nvSpPr>
          <p:cNvPr id="11" name="TextBox 10"/>
          <p:cNvSpPr txBox="1"/>
          <p:nvPr/>
        </p:nvSpPr>
        <p:spPr>
          <a:xfrm>
            <a:off x="438912" y="3584448"/>
            <a:ext cx="2697480" cy="256032"/>
          </a:xfrm>
          <a:prstGeom prst="rect">
            <a:avLst/>
          </a:prstGeom>
          <a:noFill/>
        </p:spPr>
        <p:txBody>
          <a:bodyPr wrap="square">
            <a:spAutoFit/>
          </a:bodyPr>
          <a:lstStyle/>
          <a:p>
            <a:pPr algn="ctr"/>
            <a:r>
              <a:rPr sz="900" b="0" i="0">
                <a:solidFill>
                  <a:srgbClr val="CADCFC"/>
                </a:solidFill>
              </a:rPr>
              <a:t>NIMF vs ABSL</a:t>
            </a:r>
          </a:p>
        </p:txBody>
      </p:sp>
      <p:sp>
        <p:nvSpPr>
          <p:cNvPr id="12" name="Rectangle 11"/>
          <p:cNvSpPr/>
          <p:nvPr/>
        </p:nvSpPr>
        <p:spPr>
          <a:xfrm>
            <a:off x="3310128" y="2670048"/>
            <a:ext cx="2834640" cy="13258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83280" y="2761488"/>
            <a:ext cx="2697480" cy="594360"/>
          </a:xfrm>
          <a:prstGeom prst="rect">
            <a:avLst/>
          </a:prstGeom>
          <a:noFill/>
        </p:spPr>
        <p:txBody>
          <a:bodyPr wrap="square">
            <a:spAutoFit/>
          </a:bodyPr>
          <a:lstStyle/>
          <a:p>
            <a:pPr algn="ctr"/>
            <a:r>
              <a:rPr sz="2100" b="1" i="0">
                <a:solidFill>
                  <a:srgbClr val="FFFFFF"/>
                </a:solidFill>
              </a:rPr>
              <a:t>223 bps</a:t>
            </a:r>
          </a:p>
        </p:txBody>
      </p:sp>
      <p:sp>
        <p:nvSpPr>
          <p:cNvPr id="14" name="TextBox 13"/>
          <p:cNvSpPr txBox="1"/>
          <p:nvPr/>
        </p:nvSpPr>
        <p:spPr>
          <a:xfrm>
            <a:off x="3383280" y="3328416"/>
            <a:ext cx="2697480" cy="274320"/>
          </a:xfrm>
          <a:prstGeom prst="rect">
            <a:avLst/>
          </a:prstGeom>
          <a:noFill/>
        </p:spPr>
        <p:txBody>
          <a:bodyPr wrap="square">
            <a:spAutoFit/>
          </a:bodyPr>
          <a:lstStyle/>
          <a:p>
            <a:pPr algn="ctr"/>
            <a:r>
              <a:rPr sz="1050" b="1" i="0">
                <a:solidFill>
                  <a:srgbClr val="FFFFFF"/>
                </a:solidFill>
              </a:rPr>
              <a:t>Higher Alpha</a:t>
            </a:r>
          </a:p>
        </p:txBody>
      </p:sp>
      <p:sp>
        <p:nvSpPr>
          <p:cNvPr id="15" name="TextBox 14"/>
          <p:cNvSpPr txBox="1"/>
          <p:nvPr/>
        </p:nvSpPr>
        <p:spPr>
          <a:xfrm>
            <a:off x="3383280" y="3584448"/>
            <a:ext cx="2697480" cy="256032"/>
          </a:xfrm>
          <a:prstGeom prst="rect">
            <a:avLst/>
          </a:prstGeom>
          <a:noFill/>
        </p:spPr>
        <p:txBody>
          <a:bodyPr wrap="square">
            <a:spAutoFit/>
          </a:bodyPr>
          <a:lstStyle/>
          <a:p>
            <a:pPr algn="ctr"/>
            <a:r>
              <a:rPr sz="900" b="0" i="0">
                <a:solidFill>
                  <a:srgbClr val="CADCFC"/>
                </a:solidFill>
              </a:rPr>
              <a:t>4.22% vs 1.99%</a:t>
            </a:r>
          </a:p>
        </p:txBody>
      </p:sp>
      <p:sp>
        <p:nvSpPr>
          <p:cNvPr id="16" name="Rectangle 15"/>
          <p:cNvSpPr/>
          <p:nvPr/>
        </p:nvSpPr>
        <p:spPr>
          <a:xfrm>
            <a:off x="6254496" y="2670048"/>
            <a:ext cx="2834640" cy="132588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27648" y="2761488"/>
            <a:ext cx="2697480" cy="415498"/>
          </a:xfrm>
          <a:prstGeom prst="rect">
            <a:avLst/>
          </a:prstGeom>
          <a:noFill/>
        </p:spPr>
        <p:txBody>
          <a:bodyPr wrap="square">
            <a:spAutoFit/>
          </a:bodyPr>
          <a:lstStyle/>
          <a:p>
            <a:pPr algn="ctr"/>
            <a:r>
              <a:rPr sz="2100" b="1" i="0" dirty="0">
                <a:solidFill>
                  <a:srgbClr val="FFFFFF"/>
                </a:solidFill>
              </a:rPr>
              <a:t>2</a:t>
            </a:r>
            <a:r>
              <a:rPr lang="en-IN" sz="2100" b="1" i="0" dirty="0">
                <a:solidFill>
                  <a:srgbClr val="FFFFFF"/>
                </a:solidFill>
              </a:rPr>
              <a:t>21</a:t>
            </a:r>
            <a:r>
              <a:rPr sz="2100" b="1" i="0" dirty="0">
                <a:solidFill>
                  <a:srgbClr val="FFFFFF"/>
                </a:solidFill>
              </a:rPr>
              <a:t> bps</a:t>
            </a:r>
          </a:p>
        </p:txBody>
      </p:sp>
      <p:sp>
        <p:nvSpPr>
          <p:cNvPr id="18" name="TextBox 17"/>
          <p:cNvSpPr txBox="1"/>
          <p:nvPr/>
        </p:nvSpPr>
        <p:spPr>
          <a:xfrm>
            <a:off x="6327648" y="3328416"/>
            <a:ext cx="2697480" cy="274320"/>
          </a:xfrm>
          <a:prstGeom prst="rect">
            <a:avLst/>
          </a:prstGeom>
          <a:noFill/>
        </p:spPr>
        <p:txBody>
          <a:bodyPr wrap="square">
            <a:spAutoFit/>
          </a:bodyPr>
          <a:lstStyle/>
          <a:p>
            <a:pPr algn="ctr"/>
            <a:r>
              <a:rPr sz="1050" b="1" i="0">
                <a:solidFill>
                  <a:srgbClr val="FFFFFF"/>
                </a:solidFill>
              </a:rPr>
              <a:t>Lower Max Drawdown</a:t>
            </a:r>
          </a:p>
        </p:txBody>
      </p:sp>
      <p:sp>
        <p:nvSpPr>
          <p:cNvPr id="19" name="TextBox 18"/>
          <p:cNvSpPr txBox="1"/>
          <p:nvPr/>
        </p:nvSpPr>
        <p:spPr>
          <a:xfrm>
            <a:off x="6327648" y="3584448"/>
            <a:ext cx="2697480" cy="256032"/>
          </a:xfrm>
          <a:prstGeom prst="rect">
            <a:avLst/>
          </a:prstGeom>
          <a:noFill/>
        </p:spPr>
        <p:txBody>
          <a:bodyPr wrap="square">
            <a:spAutoFit/>
          </a:bodyPr>
          <a:lstStyle/>
          <a:p>
            <a:pPr algn="ctr"/>
            <a:r>
              <a:rPr sz="900" b="0" i="0">
                <a:solidFill>
                  <a:srgbClr val="CADCFC"/>
                </a:solidFill>
              </a:rPr>
              <a:t>-9.69% vs -11.90%</a:t>
            </a:r>
          </a:p>
        </p:txBody>
      </p:sp>
      <p:sp>
        <p:nvSpPr>
          <p:cNvPr id="20" name="Rectangle 19"/>
          <p:cNvSpPr/>
          <p:nvPr/>
        </p:nvSpPr>
        <p:spPr>
          <a:xfrm>
            <a:off x="9198864" y="2670048"/>
            <a:ext cx="2834640" cy="13258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72016" y="2761488"/>
            <a:ext cx="2697480" cy="594360"/>
          </a:xfrm>
          <a:prstGeom prst="rect">
            <a:avLst/>
          </a:prstGeom>
          <a:noFill/>
        </p:spPr>
        <p:txBody>
          <a:bodyPr wrap="square">
            <a:spAutoFit/>
          </a:bodyPr>
          <a:lstStyle/>
          <a:p>
            <a:pPr algn="ctr"/>
            <a:r>
              <a:rPr sz="2100" b="1" i="0" dirty="0">
                <a:solidFill>
                  <a:srgbClr val="FFFFFF"/>
                </a:solidFill>
              </a:rPr>
              <a:t>0.950 vs 0.731</a:t>
            </a:r>
          </a:p>
        </p:txBody>
      </p:sp>
      <p:sp>
        <p:nvSpPr>
          <p:cNvPr id="22" name="TextBox 21"/>
          <p:cNvSpPr txBox="1"/>
          <p:nvPr/>
        </p:nvSpPr>
        <p:spPr>
          <a:xfrm>
            <a:off x="9272016" y="3328416"/>
            <a:ext cx="2697480" cy="274320"/>
          </a:xfrm>
          <a:prstGeom prst="rect">
            <a:avLst/>
          </a:prstGeom>
          <a:noFill/>
        </p:spPr>
        <p:txBody>
          <a:bodyPr wrap="square">
            <a:spAutoFit/>
          </a:bodyPr>
          <a:lstStyle/>
          <a:p>
            <a:pPr algn="ctr"/>
            <a:r>
              <a:rPr sz="1050" b="1" i="0">
                <a:solidFill>
                  <a:srgbClr val="FFFFFF"/>
                </a:solidFill>
              </a:rPr>
              <a:t>Sharpe Ratio</a:t>
            </a:r>
          </a:p>
        </p:txBody>
      </p:sp>
      <p:sp>
        <p:nvSpPr>
          <p:cNvPr id="23" name="TextBox 22"/>
          <p:cNvSpPr txBox="1"/>
          <p:nvPr/>
        </p:nvSpPr>
        <p:spPr>
          <a:xfrm>
            <a:off x="9272016" y="3584448"/>
            <a:ext cx="2697480" cy="256032"/>
          </a:xfrm>
          <a:prstGeom prst="rect">
            <a:avLst/>
          </a:prstGeom>
          <a:noFill/>
        </p:spPr>
        <p:txBody>
          <a:bodyPr wrap="square">
            <a:spAutoFit/>
          </a:bodyPr>
          <a:lstStyle/>
          <a:p>
            <a:pPr algn="ctr"/>
            <a:r>
              <a:rPr sz="900" b="0" i="0">
                <a:solidFill>
                  <a:srgbClr val="CADCFC"/>
                </a:solidFill>
              </a:rPr>
              <a:t>NIMF vs ABSL</a:t>
            </a:r>
          </a:p>
        </p:txBody>
      </p:sp>
      <p:sp>
        <p:nvSpPr>
          <p:cNvPr id="24" name="TextBox 23"/>
          <p:cNvSpPr txBox="1"/>
          <p:nvPr/>
        </p:nvSpPr>
        <p:spPr>
          <a:xfrm>
            <a:off x="365760" y="4160520"/>
            <a:ext cx="10972800" cy="230832"/>
          </a:xfrm>
          <a:prstGeom prst="rect">
            <a:avLst/>
          </a:prstGeom>
          <a:noFill/>
        </p:spPr>
        <p:txBody>
          <a:bodyPr wrap="square">
            <a:spAutoFit/>
          </a:bodyPr>
          <a:lstStyle/>
          <a:p>
            <a:pPr algn="l"/>
            <a:r>
              <a:rPr lang="en-IN" sz="900" b="1" i="0" dirty="0">
                <a:solidFill>
                  <a:srgbClr val="F5C518"/>
                </a:solidFill>
              </a:rPr>
              <a:t>EXECUTIVE TAKEAWAY</a:t>
            </a:r>
          </a:p>
        </p:txBody>
      </p:sp>
      <p:sp>
        <p:nvSpPr>
          <p:cNvPr id="26" name="TextBox 25"/>
          <p:cNvSpPr txBox="1"/>
          <p:nvPr/>
        </p:nvSpPr>
        <p:spPr>
          <a:xfrm>
            <a:off x="358833" y="4901184"/>
            <a:ext cx="11430000" cy="253916"/>
          </a:xfrm>
          <a:prstGeom prst="rect">
            <a:avLst/>
          </a:prstGeom>
          <a:noFill/>
        </p:spPr>
        <p:txBody>
          <a:bodyPr wrap="square">
            <a:spAutoFit/>
          </a:bodyPr>
          <a:lstStyle/>
          <a:p>
            <a:pPr algn="l"/>
            <a:r>
              <a:rPr sz="1050" b="0" i="0" dirty="0">
                <a:solidFill>
                  <a:srgbClr val="CADCFC"/>
                </a:solidFill>
              </a:rPr>
              <a:t>▸  </a:t>
            </a:r>
            <a:r>
              <a:rPr lang="en-US" sz="1050" b="0" i="0" dirty="0">
                <a:solidFill>
                  <a:srgbClr val="CADCFC"/>
                </a:solidFill>
              </a:rPr>
              <a:t>80% of the performance gap crystallized during the RBI Tightening cycle (Nov 2023 to Jan 2025) via superior stock selection across non headline mid cap banks.</a:t>
            </a:r>
            <a:endParaRPr lang="en-IN" sz="1050" b="0" i="0" dirty="0">
              <a:solidFill>
                <a:srgbClr val="CADCFC"/>
              </a:solidFill>
            </a:endParaRPr>
          </a:p>
        </p:txBody>
      </p:sp>
      <p:sp>
        <p:nvSpPr>
          <p:cNvPr id="27" name="TextBox 26"/>
          <p:cNvSpPr txBox="1"/>
          <p:nvPr/>
        </p:nvSpPr>
        <p:spPr>
          <a:xfrm>
            <a:off x="379412" y="4551183"/>
            <a:ext cx="11430000" cy="253916"/>
          </a:xfrm>
          <a:prstGeom prst="rect">
            <a:avLst/>
          </a:prstGeom>
          <a:noFill/>
        </p:spPr>
        <p:txBody>
          <a:bodyPr wrap="square">
            <a:spAutoFit/>
          </a:bodyPr>
          <a:lstStyle/>
          <a:p>
            <a:pPr algn="l"/>
            <a:r>
              <a:rPr lang="en-US" sz="1050" b="0" i="0" dirty="0">
                <a:solidFill>
                  <a:srgbClr val="CADCFC"/>
                </a:solidFill>
              </a:rPr>
              <a:t>▸  Concentrated stock selection delivered superior capital preservation during peak volatility, restricting maximum portfolio drawdown to 9.69% compared to 11.90% for the diversified active peer.</a:t>
            </a:r>
          </a:p>
        </p:txBody>
      </p:sp>
      <p:sp>
        <p:nvSpPr>
          <p:cNvPr id="28" name="Rectangle 27"/>
          <p:cNvSpPr/>
          <p:nvPr/>
        </p:nvSpPr>
        <p:spPr>
          <a:xfrm>
            <a:off x="0" y="6446520"/>
            <a:ext cx="12188952" cy="41148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74320" y="6492240"/>
            <a:ext cx="11430000" cy="230832"/>
          </a:xfrm>
          <a:prstGeom prst="rect">
            <a:avLst/>
          </a:prstGeom>
          <a:noFill/>
        </p:spPr>
        <p:txBody>
          <a:bodyPr wrap="square">
            <a:spAutoFit/>
          </a:bodyPr>
          <a:lstStyle/>
          <a:p>
            <a:pPr algn="l"/>
            <a:r>
              <a:rPr sz="900" b="0" i="0" dirty="0">
                <a:solidFill>
                  <a:srgbClr val="CADCFC"/>
                </a:solidFill>
              </a:rPr>
              <a:t>Data: AMFI, NSE, Fund Factsheets  |  Benchmark: Nifty Financial Services TRI  |  Rf = 6.651% (1Y G-Sec avg)  |  Methodology: Regime-based attribution, threshold-corrected capture ratios, regime-specific peak drawdowns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540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64592"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91440"/>
            <a:ext cx="11430000" cy="246221"/>
          </a:xfrm>
          <a:prstGeom prst="rect">
            <a:avLst/>
          </a:prstGeom>
          <a:noFill/>
        </p:spPr>
        <p:txBody>
          <a:bodyPr wrap="square">
            <a:spAutoFit/>
          </a:bodyPr>
          <a:lstStyle/>
          <a:p>
            <a:pPr algn="l"/>
            <a:r>
              <a:rPr sz="1000" b="0" i="0" dirty="0">
                <a:solidFill>
                  <a:srgbClr val="CADCFC"/>
                </a:solidFill>
              </a:rPr>
              <a:t>OVERALL PERFORMANCE SCORECARD  |  3-Year Risk-Adjusted Analysis (Nov 2022 </a:t>
            </a:r>
            <a:r>
              <a:rPr lang="en-IN" sz="1000" b="0" i="0" dirty="0">
                <a:solidFill>
                  <a:srgbClr val="CADCFC"/>
                </a:solidFill>
              </a:rPr>
              <a:t>-</a:t>
            </a:r>
            <a:r>
              <a:rPr sz="1000" b="0" i="0" dirty="0">
                <a:solidFill>
                  <a:srgbClr val="CADCFC"/>
                </a:solidFill>
              </a:rPr>
              <a:t> Oct 2025)</a:t>
            </a:r>
          </a:p>
        </p:txBody>
      </p:sp>
      <p:sp>
        <p:nvSpPr>
          <p:cNvPr id="6" name="TextBox 5"/>
          <p:cNvSpPr txBox="1"/>
          <p:nvPr/>
        </p:nvSpPr>
        <p:spPr>
          <a:xfrm>
            <a:off x="274320" y="457200"/>
            <a:ext cx="11430000" cy="393192"/>
          </a:xfrm>
          <a:prstGeom prst="rect">
            <a:avLst/>
          </a:prstGeom>
          <a:noFill/>
        </p:spPr>
        <p:txBody>
          <a:bodyPr wrap="square">
            <a:spAutoFit/>
          </a:bodyPr>
          <a:lstStyle/>
          <a:p>
            <a:pPr algn="l"/>
            <a:r>
              <a:rPr sz="1700" b="1" i="0" dirty="0">
                <a:solidFill>
                  <a:srgbClr val="FFFFFF"/>
                </a:solidFill>
              </a:rPr>
              <a:t>NIMF: Higher Returns + Lower Risk + Superior Alpha Across All Metrics</a:t>
            </a:r>
          </a:p>
        </p:txBody>
      </p:sp>
      <p:sp>
        <p:nvSpPr>
          <p:cNvPr id="7" name="TextBox 6"/>
          <p:cNvSpPr txBox="1"/>
          <p:nvPr/>
        </p:nvSpPr>
        <p:spPr>
          <a:xfrm>
            <a:off x="274320" y="960120"/>
            <a:ext cx="11430000" cy="238527"/>
          </a:xfrm>
          <a:prstGeom prst="rect">
            <a:avLst/>
          </a:prstGeom>
          <a:noFill/>
        </p:spPr>
        <p:txBody>
          <a:bodyPr wrap="square">
            <a:spAutoFit/>
          </a:bodyPr>
          <a:lstStyle/>
          <a:p>
            <a:pPr algn="l"/>
            <a:r>
              <a:rPr sz="950" b="1" i="0" dirty="0">
                <a:solidFill>
                  <a:srgbClr val="1E2761"/>
                </a:solidFill>
              </a:rPr>
              <a:t>KEY </a:t>
            </a:r>
            <a:r>
              <a:rPr lang="en-IN" sz="950" b="1" i="0" dirty="0">
                <a:solidFill>
                  <a:srgbClr val="1E2761"/>
                </a:solidFill>
              </a:rPr>
              <a:t>NOTE</a:t>
            </a:r>
            <a:r>
              <a:rPr sz="950" b="1" i="0" dirty="0">
                <a:solidFill>
                  <a:srgbClr val="1E2761"/>
                </a:solidFill>
              </a:rPr>
              <a:t>: Concentrated quality portfolio (27 stocks) outperformed diversified approach (35 stocks) on every risk-adjusted metric</a:t>
            </a:r>
          </a:p>
        </p:txBody>
      </p:sp>
      <p:sp>
        <p:nvSpPr>
          <p:cNvPr id="8" name="Rectangle 7"/>
          <p:cNvSpPr/>
          <p:nvPr/>
        </p:nvSpPr>
        <p:spPr>
          <a:xfrm>
            <a:off x="274320" y="1234440"/>
            <a:ext cx="11430000" cy="2743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298448"/>
            <a:ext cx="11064240" cy="33832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1316736"/>
            <a:ext cx="2377440" cy="274320"/>
          </a:xfrm>
          <a:prstGeom prst="rect">
            <a:avLst/>
          </a:prstGeom>
          <a:noFill/>
        </p:spPr>
        <p:txBody>
          <a:bodyPr wrap="square">
            <a:spAutoFit/>
          </a:bodyPr>
          <a:lstStyle/>
          <a:p>
            <a:pPr algn="ctr"/>
            <a:r>
              <a:rPr sz="850" b="1" i="0" dirty="0">
                <a:solidFill>
                  <a:srgbClr val="FFFFFF"/>
                </a:solidFill>
              </a:rPr>
              <a:t>METRIC</a:t>
            </a:r>
          </a:p>
        </p:txBody>
      </p:sp>
      <p:sp>
        <p:nvSpPr>
          <p:cNvPr id="11" name="TextBox 10"/>
          <p:cNvSpPr txBox="1"/>
          <p:nvPr/>
        </p:nvSpPr>
        <p:spPr>
          <a:xfrm>
            <a:off x="2743200" y="1316736"/>
            <a:ext cx="2103120" cy="274320"/>
          </a:xfrm>
          <a:prstGeom prst="rect">
            <a:avLst/>
          </a:prstGeom>
          <a:noFill/>
        </p:spPr>
        <p:txBody>
          <a:bodyPr wrap="square">
            <a:spAutoFit/>
          </a:bodyPr>
          <a:lstStyle/>
          <a:p>
            <a:pPr algn="ctr"/>
            <a:r>
              <a:rPr sz="850" b="1" i="0" dirty="0">
                <a:solidFill>
                  <a:srgbClr val="FFFFFF"/>
                </a:solidFill>
              </a:rPr>
              <a:t>NIMF (27 stocks)</a:t>
            </a:r>
          </a:p>
        </p:txBody>
      </p:sp>
      <p:sp>
        <p:nvSpPr>
          <p:cNvPr id="12" name="TextBox 11"/>
          <p:cNvSpPr txBox="1"/>
          <p:nvPr/>
        </p:nvSpPr>
        <p:spPr>
          <a:xfrm>
            <a:off x="4892040" y="1316736"/>
            <a:ext cx="2103120" cy="274320"/>
          </a:xfrm>
          <a:prstGeom prst="rect">
            <a:avLst/>
          </a:prstGeom>
          <a:noFill/>
        </p:spPr>
        <p:txBody>
          <a:bodyPr wrap="square">
            <a:spAutoFit/>
          </a:bodyPr>
          <a:lstStyle/>
          <a:p>
            <a:pPr algn="ctr"/>
            <a:r>
              <a:rPr sz="850" b="1" i="0">
                <a:solidFill>
                  <a:srgbClr val="FFFFFF"/>
                </a:solidFill>
              </a:rPr>
              <a:t>ABSL (35 stocks)</a:t>
            </a:r>
          </a:p>
        </p:txBody>
      </p:sp>
      <p:sp>
        <p:nvSpPr>
          <p:cNvPr id="13" name="TextBox 12"/>
          <p:cNvSpPr txBox="1"/>
          <p:nvPr/>
        </p:nvSpPr>
        <p:spPr>
          <a:xfrm>
            <a:off x="7040880" y="1316736"/>
            <a:ext cx="2103120" cy="274320"/>
          </a:xfrm>
          <a:prstGeom prst="rect">
            <a:avLst/>
          </a:prstGeom>
          <a:noFill/>
        </p:spPr>
        <p:txBody>
          <a:bodyPr wrap="square">
            <a:spAutoFit/>
          </a:bodyPr>
          <a:lstStyle/>
          <a:p>
            <a:pPr algn="ctr"/>
            <a:r>
              <a:rPr sz="850" b="1" i="0">
                <a:solidFill>
                  <a:srgbClr val="FFFFFF"/>
                </a:solidFill>
              </a:rPr>
              <a:t>BENCHMARK</a:t>
            </a:r>
          </a:p>
        </p:txBody>
      </p:sp>
      <p:sp>
        <p:nvSpPr>
          <p:cNvPr id="14" name="TextBox 13"/>
          <p:cNvSpPr txBox="1"/>
          <p:nvPr/>
        </p:nvSpPr>
        <p:spPr>
          <a:xfrm>
            <a:off x="9189720" y="1316736"/>
            <a:ext cx="2103120" cy="274320"/>
          </a:xfrm>
          <a:prstGeom prst="rect">
            <a:avLst/>
          </a:prstGeom>
          <a:noFill/>
        </p:spPr>
        <p:txBody>
          <a:bodyPr wrap="square">
            <a:spAutoFit/>
          </a:bodyPr>
          <a:lstStyle/>
          <a:p>
            <a:pPr algn="ctr"/>
            <a:r>
              <a:rPr sz="850" b="1" i="0">
                <a:solidFill>
                  <a:srgbClr val="FFFFFF"/>
                </a:solidFill>
              </a:rPr>
              <a:t>WINNER</a:t>
            </a:r>
          </a:p>
        </p:txBody>
      </p:sp>
      <p:sp>
        <p:nvSpPr>
          <p:cNvPr id="15" name="Rectangle 14"/>
          <p:cNvSpPr/>
          <p:nvPr/>
        </p:nvSpPr>
        <p:spPr>
          <a:xfrm>
            <a:off x="274320" y="1673352"/>
            <a:ext cx="11064240" cy="3566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0040" y="1719072"/>
            <a:ext cx="2286000" cy="274320"/>
          </a:xfrm>
          <a:prstGeom prst="rect">
            <a:avLst/>
          </a:prstGeom>
          <a:noFill/>
        </p:spPr>
        <p:txBody>
          <a:bodyPr wrap="square">
            <a:spAutoFit/>
          </a:bodyPr>
          <a:lstStyle/>
          <a:p>
            <a:pPr algn="l"/>
            <a:r>
              <a:rPr sz="950" b="0" i="0">
                <a:solidFill>
                  <a:srgbClr val="2C3E50"/>
                </a:solidFill>
              </a:rPr>
              <a:t>Total Return (3Y CAGR)</a:t>
            </a:r>
          </a:p>
        </p:txBody>
      </p:sp>
      <p:sp>
        <p:nvSpPr>
          <p:cNvPr id="17" name="TextBox 16"/>
          <p:cNvSpPr txBox="1"/>
          <p:nvPr/>
        </p:nvSpPr>
        <p:spPr>
          <a:xfrm>
            <a:off x="2743200" y="1719072"/>
            <a:ext cx="2103120" cy="274320"/>
          </a:xfrm>
          <a:prstGeom prst="rect">
            <a:avLst/>
          </a:prstGeom>
          <a:noFill/>
        </p:spPr>
        <p:txBody>
          <a:bodyPr wrap="square">
            <a:spAutoFit/>
          </a:bodyPr>
          <a:lstStyle/>
          <a:p>
            <a:pPr algn="ctr"/>
            <a:r>
              <a:rPr sz="1000" b="1" i="0">
                <a:solidFill>
                  <a:srgbClr val="236FB4"/>
                </a:solidFill>
              </a:rPr>
              <a:t>17.90%</a:t>
            </a:r>
          </a:p>
        </p:txBody>
      </p:sp>
      <p:sp>
        <p:nvSpPr>
          <p:cNvPr id="18" name="TextBox 17"/>
          <p:cNvSpPr txBox="1"/>
          <p:nvPr/>
        </p:nvSpPr>
        <p:spPr>
          <a:xfrm>
            <a:off x="4892040" y="1719072"/>
            <a:ext cx="2103120" cy="274320"/>
          </a:xfrm>
          <a:prstGeom prst="rect">
            <a:avLst/>
          </a:prstGeom>
          <a:noFill/>
        </p:spPr>
        <p:txBody>
          <a:bodyPr wrap="square">
            <a:spAutoFit/>
          </a:bodyPr>
          <a:lstStyle/>
          <a:p>
            <a:pPr algn="ctr"/>
            <a:r>
              <a:rPr sz="1000" b="1" i="0">
                <a:solidFill>
                  <a:srgbClr val="E87A1E"/>
                </a:solidFill>
              </a:rPr>
              <a:t>16.12%</a:t>
            </a:r>
          </a:p>
        </p:txBody>
      </p:sp>
      <p:sp>
        <p:nvSpPr>
          <p:cNvPr id="19" name="TextBox 18"/>
          <p:cNvSpPr txBox="1"/>
          <p:nvPr/>
        </p:nvSpPr>
        <p:spPr>
          <a:xfrm>
            <a:off x="7040880" y="1719072"/>
            <a:ext cx="2103120" cy="274320"/>
          </a:xfrm>
          <a:prstGeom prst="rect">
            <a:avLst/>
          </a:prstGeom>
          <a:noFill/>
        </p:spPr>
        <p:txBody>
          <a:bodyPr wrap="square">
            <a:spAutoFit/>
          </a:bodyPr>
          <a:lstStyle/>
          <a:p>
            <a:pPr algn="ctr"/>
            <a:r>
              <a:rPr sz="1000" b="1" i="0">
                <a:solidFill>
                  <a:srgbClr val="95A5A6"/>
                </a:solidFill>
              </a:rPr>
              <a:t>14.52%</a:t>
            </a:r>
          </a:p>
        </p:txBody>
      </p:sp>
      <p:sp>
        <p:nvSpPr>
          <p:cNvPr id="20" name="Rectangle 19"/>
          <p:cNvSpPr/>
          <p:nvPr/>
        </p:nvSpPr>
        <p:spPr>
          <a:xfrm>
            <a:off x="9281160" y="1728216"/>
            <a:ext cx="1920239" cy="2468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81160" y="1737360"/>
            <a:ext cx="1920239" cy="228600"/>
          </a:xfrm>
          <a:prstGeom prst="rect">
            <a:avLst/>
          </a:prstGeom>
          <a:noFill/>
        </p:spPr>
        <p:txBody>
          <a:bodyPr wrap="square">
            <a:spAutoFit/>
          </a:bodyPr>
          <a:lstStyle/>
          <a:p>
            <a:pPr algn="ctr"/>
            <a:r>
              <a:rPr sz="850" b="1" i="0">
                <a:solidFill>
                  <a:srgbClr val="FFFFFF"/>
                </a:solidFill>
              </a:rPr>
              <a:t>✓ NIMF</a:t>
            </a:r>
          </a:p>
        </p:txBody>
      </p:sp>
      <p:sp>
        <p:nvSpPr>
          <p:cNvPr id="22" name="Rectangle 21"/>
          <p:cNvSpPr/>
          <p:nvPr/>
        </p:nvSpPr>
        <p:spPr>
          <a:xfrm>
            <a:off x="274320" y="2048256"/>
            <a:ext cx="11064240" cy="356616"/>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0040" y="2093976"/>
            <a:ext cx="2286000" cy="274320"/>
          </a:xfrm>
          <a:prstGeom prst="rect">
            <a:avLst/>
          </a:prstGeom>
          <a:noFill/>
        </p:spPr>
        <p:txBody>
          <a:bodyPr wrap="square">
            <a:spAutoFit/>
          </a:bodyPr>
          <a:lstStyle/>
          <a:p>
            <a:pPr algn="l"/>
            <a:r>
              <a:rPr sz="950" b="0" i="0">
                <a:solidFill>
                  <a:srgbClr val="2C3E50"/>
                </a:solidFill>
              </a:rPr>
              <a:t>Sharpe Ratio (Rf=6.651%)</a:t>
            </a:r>
          </a:p>
        </p:txBody>
      </p:sp>
      <p:sp>
        <p:nvSpPr>
          <p:cNvPr id="24" name="TextBox 23"/>
          <p:cNvSpPr txBox="1"/>
          <p:nvPr/>
        </p:nvSpPr>
        <p:spPr>
          <a:xfrm>
            <a:off x="2743200" y="2093976"/>
            <a:ext cx="2103120" cy="274320"/>
          </a:xfrm>
          <a:prstGeom prst="rect">
            <a:avLst/>
          </a:prstGeom>
          <a:noFill/>
        </p:spPr>
        <p:txBody>
          <a:bodyPr wrap="square">
            <a:spAutoFit/>
          </a:bodyPr>
          <a:lstStyle/>
          <a:p>
            <a:pPr algn="ctr"/>
            <a:r>
              <a:rPr sz="1000" b="1" i="0">
                <a:solidFill>
                  <a:srgbClr val="236FB4"/>
                </a:solidFill>
              </a:rPr>
              <a:t>0.950</a:t>
            </a:r>
          </a:p>
        </p:txBody>
      </p:sp>
      <p:sp>
        <p:nvSpPr>
          <p:cNvPr id="25" name="TextBox 24"/>
          <p:cNvSpPr txBox="1"/>
          <p:nvPr/>
        </p:nvSpPr>
        <p:spPr>
          <a:xfrm>
            <a:off x="4892040" y="2093976"/>
            <a:ext cx="2103120" cy="274320"/>
          </a:xfrm>
          <a:prstGeom prst="rect">
            <a:avLst/>
          </a:prstGeom>
          <a:noFill/>
        </p:spPr>
        <p:txBody>
          <a:bodyPr wrap="square">
            <a:spAutoFit/>
          </a:bodyPr>
          <a:lstStyle/>
          <a:p>
            <a:pPr algn="ctr"/>
            <a:r>
              <a:rPr sz="1000" b="1" i="0">
                <a:solidFill>
                  <a:srgbClr val="E87A1E"/>
                </a:solidFill>
              </a:rPr>
              <a:t>0.731</a:t>
            </a:r>
          </a:p>
        </p:txBody>
      </p:sp>
      <p:sp>
        <p:nvSpPr>
          <p:cNvPr id="26" name="TextBox 25"/>
          <p:cNvSpPr txBox="1"/>
          <p:nvPr/>
        </p:nvSpPr>
        <p:spPr>
          <a:xfrm>
            <a:off x="7040880" y="2093976"/>
            <a:ext cx="2103120" cy="274320"/>
          </a:xfrm>
          <a:prstGeom prst="rect">
            <a:avLst/>
          </a:prstGeom>
          <a:noFill/>
        </p:spPr>
        <p:txBody>
          <a:bodyPr wrap="square">
            <a:spAutoFit/>
          </a:bodyPr>
          <a:lstStyle/>
          <a:p>
            <a:pPr algn="ctr"/>
            <a:r>
              <a:rPr sz="1000" b="1" i="0">
                <a:solidFill>
                  <a:srgbClr val="95A5A6"/>
                </a:solidFill>
              </a:rPr>
              <a:t>0.654</a:t>
            </a:r>
          </a:p>
        </p:txBody>
      </p:sp>
      <p:sp>
        <p:nvSpPr>
          <p:cNvPr id="27" name="Rectangle 26"/>
          <p:cNvSpPr/>
          <p:nvPr/>
        </p:nvSpPr>
        <p:spPr>
          <a:xfrm>
            <a:off x="9281160" y="2103120"/>
            <a:ext cx="1920239" cy="2468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81160" y="2112264"/>
            <a:ext cx="1920239" cy="228600"/>
          </a:xfrm>
          <a:prstGeom prst="rect">
            <a:avLst/>
          </a:prstGeom>
          <a:noFill/>
        </p:spPr>
        <p:txBody>
          <a:bodyPr wrap="square">
            <a:spAutoFit/>
          </a:bodyPr>
          <a:lstStyle/>
          <a:p>
            <a:pPr algn="ctr"/>
            <a:r>
              <a:rPr sz="850" b="1" i="0">
                <a:solidFill>
                  <a:srgbClr val="FFFFFF"/>
                </a:solidFill>
              </a:rPr>
              <a:t>✓ NIMF</a:t>
            </a:r>
          </a:p>
        </p:txBody>
      </p:sp>
      <p:sp>
        <p:nvSpPr>
          <p:cNvPr id="29" name="Rectangle 28"/>
          <p:cNvSpPr/>
          <p:nvPr/>
        </p:nvSpPr>
        <p:spPr>
          <a:xfrm>
            <a:off x="274320" y="2423160"/>
            <a:ext cx="11064240" cy="3566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0040" y="2468879"/>
            <a:ext cx="2286000" cy="274320"/>
          </a:xfrm>
          <a:prstGeom prst="rect">
            <a:avLst/>
          </a:prstGeom>
          <a:noFill/>
        </p:spPr>
        <p:txBody>
          <a:bodyPr wrap="square">
            <a:spAutoFit/>
          </a:bodyPr>
          <a:lstStyle/>
          <a:p>
            <a:pPr algn="l"/>
            <a:r>
              <a:rPr sz="950" b="0" i="0">
                <a:solidFill>
                  <a:srgbClr val="2C3E50"/>
                </a:solidFill>
              </a:rPr>
              <a:t>Annualized Volatility</a:t>
            </a:r>
          </a:p>
        </p:txBody>
      </p:sp>
      <p:sp>
        <p:nvSpPr>
          <p:cNvPr id="31" name="TextBox 30"/>
          <p:cNvSpPr txBox="1"/>
          <p:nvPr/>
        </p:nvSpPr>
        <p:spPr>
          <a:xfrm>
            <a:off x="2743200" y="2468879"/>
            <a:ext cx="2103120" cy="274320"/>
          </a:xfrm>
          <a:prstGeom prst="rect">
            <a:avLst/>
          </a:prstGeom>
          <a:noFill/>
        </p:spPr>
        <p:txBody>
          <a:bodyPr wrap="square">
            <a:spAutoFit/>
          </a:bodyPr>
          <a:lstStyle/>
          <a:p>
            <a:pPr algn="ctr"/>
            <a:r>
              <a:rPr sz="1000" b="1" i="0">
                <a:solidFill>
                  <a:srgbClr val="236FB4"/>
                </a:solidFill>
              </a:rPr>
              <a:t>11.99%</a:t>
            </a:r>
          </a:p>
        </p:txBody>
      </p:sp>
      <p:sp>
        <p:nvSpPr>
          <p:cNvPr id="32" name="TextBox 31"/>
          <p:cNvSpPr txBox="1"/>
          <p:nvPr/>
        </p:nvSpPr>
        <p:spPr>
          <a:xfrm>
            <a:off x="4892040" y="2468879"/>
            <a:ext cx="2103120" cy="274320"/>
          </a:xfrm>
          <a:prstGeom prst="rect">
            <a:avLst/>
          </a:prstGeom>
          <a:noFill/>
        </p:spPr>
        <p:txBody>
          <a:bodyPr wrap="square">
            <a:spAutoFit/>
          </a:bodyPr>
          <a:lstStyle/>
          <a:p>
            <a:pPr algn="ctr"/>
            <a:r>
              <a:rPr sz="1000" b="1" i="0">
                <a:solidFill>
                  <a:srgbClr val="E87A1E"/>
                </a:solidFill>
              </a:rPr>
              <a:t>12.95%</a:t>
            </a:r>
          </a:p>
        </p:txBody>
      </p:sp>
      <p:sp>
        <p:nvSpPr>
          <p:cNvPr id="33" name="TextBox 32"/>
          <p:cNvSpPr txBox="1"/>
          <p:nvPr/>
        </p:nvSpPr>
        <p:spPr>
          <a:xfrm>
            <a:off x="7040880" y="2468879"/>
            <a:ext cx="2103120" cy="274320"/>
          </a:xfrm>
          <a:prstGeom prst="rect">
            <a:avLst/>
          </a:prstGeom>
          <a:noFill/>
        </p:spPr>
        <p:txBody>
          <a:bodyPr wrap="square">
            <a:spAutoFit/>
          </a:bodyPr>
          <a:lstStyle/>
          <a:p>
            <a:pPr algn="ctr"/>
            <a:r>
              <a:rPr sz="1000" b="1" i="0">
                <a:solidFill>
                  <a:srgbClr val="95A5A6"/>
                </a:solidFill>
              </a:rPr>
              <a:t>12.25%</a:t>
            </a:r>
          </a:p>
        </p:txBody>
      </p:sp>
      <p:sp>
        <p:nvSpPr>
          <p:cNvPr id="34" name="Rectangle 33"/>
          <p:cNvSpPr/>
          <p:nvPr/>
        </p:nvSpPr>
        <p:spPr>
          <a:xfrm>
            <a:off x="9281160" y="2478024"/>
            <a:ext cx="1920239" cy="2468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281160" y="2487168"/>
            <a:ext cx="1920239" cy="228600"/>
          </a:xfrm>
          <a:prstGeom prst="rect">
            <a:avLst/>
          </a:prstGeom>
          <a:noFill/>
        </p:spPr>
        <p:txBody>
          <a:bodyPr wrap="square">
            <a:spAutoFit/>
          </a:bodyPr>
          <a:lstStyle/>
          <a:p>
            <a:pPr algn="ctr"/>
            <a:r>
              <a:rPr sz="850" b="1" i="0">
                <a:solidFill>
                  <a:srgbClr val="FFFFFF"/>
                </a:solidFill>
              </a:rPr>
              <a:t>✓ NIMF</a:t>
            </a:r>
          </a:p>
        </p:txBody>
      </p:sp>
      <p:sp>
        <p:nvSpPr>
          <p:cNvPr id="36" name="Rectangle 35"/>
          <p:cNvSpPr/>
          <p:nvPr/>
        </p:nvSpPr>
        <p:spPr>
          <a:xfrm>
            <a:off x="274320" y="2798064"/>
            <a:ext cx="11064240" cy="356616"/>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0040" y="2843784"/>
            <a:ext cx="2286000" cy="274320"/>
          </a:xfrm>
          <a:prstGeom prst="rect">
            <a:avLst/>
          </a:prstGeom>
          <a:noFill/>
        </p:spPr>
        <p:txBody>
          <a:bodyPr wrap="square">
            <a:spAutoFit/>
          </a:bodyPr>
          <a:lstStyle/>
          <a:p>
            <a:pPr algn="l"/>
            <a:r>
              <a:rPr sz="950" b="0" i="0">
                <a:solidFill>
                  <a:srgbClr val="2C3E50"/>
                </a:solidFill>
              </a:rPr>
              <a:t>Jensen's Alpha</a:t>
            </a:r>
          </a:p>
        </p:txBody>
      </p:sp>
      <p:sp>
        <p:nvSpPr>
          <p:cNvPr id="38" name="TextBox 37"/>
          <p:cNvSpPr txBox="1"/>
          <p:nvPr/>
        </p:nvSpPr>
        <p:spPr>
          <a:xfrm>
            <a:off x="2743200" y="2843784"/>
            <a:ext cx="2103120" cy="274320"/>
          </a:xfrm>
          <a:prstGeom prst="rect">
            <a:avLst/>
          </a:prstGeom>
          <a:noFill/>
        </p:spPr>
        <p:txBody>
          <a:bodyPr wrap="square">
            <a:spAutoFit/>
          </a:bodyPr>
          <a:lstStyle/>
          <a:p>
            <a:pPr algn="ctr"/>
            <a:r>
              <a:rPr sz="1000" b="1" i="0">
                <a:solidFill>
                  <a:srgbClr val="236FB4"/>
                </a:solidFill>
              </a:rPr>
              <a:t>4.22%</a:t>
            </a:r>
          </a:p>
        </p:txBody>
      </p:sp>
      <p:sp>
        <p:nvSpPr>
          <p:cNvPr id="39" name="TextBox 38"/>
          <p:cNvSpPr txBox="1"/>
          <p:nvPr/>
        </p:nvSpPr>
        <p:spPr>
          <a:xfrm>
            <a:off x="4892040" y="2843784"/>
            <a:ext cx="2103120" cy="274320"/>
          </a:xfrm>
          <a:prstGeom prst="rect">
            <a:avLst/>
          </a:prstGeom>
          <a:noFill/>
        </p:spPr>
        <p:txBody>
          <a:bodyPr wrap="square">
            <a:spAutoFit/>
          </a:bodyPr>
          <a:lstStyle/>
          <a:p>
            <a:pPr algn="ctr"/>
            <a:r>
              <a:rPr sz="1000" b="1" i="0">
                <a:solidFill>
                  <a:srgbClr val="E87A1E"/>
                </a:solidFill>
              </a:rPr>
              <a:t>1.99%</a:t>
            </a:r>
          </a:p>
        </p:txBody>
      </p:sp>
      <p:sp>
        <p:nvSpPr>
          <p:cNvPr id="40" name="TextBox 39"/>
          <p:cNvSpPr txBox="1"/>
          <p:nvPr/>
        </p:nvSpPr>
        <p:spPr>
          <a:xfrm>
            <a:off x="7040880" y="2843784"/>
            <a:ext cx="2103120" cy="274320"/>
          </a:xfrm>
          <a:prstGeom prst="rect">
            <a:avLst/>
          </a:prstGeom>
          <a:noFill/>
        </p:spPr>
        <p:txBody>
          <a:bodyPr wrap="square">
            <a:spAutoFit/>
          </a:bodyPr>
          <a:lstStyle/>
          <a:p>
            <a:pPr algn="ctr"/>
            <a:r>
              <a:rPr sz="1000" b="1" i="0">
                <a:solidFill>
                  <a:srgbClr val="95A5A6"/>
                </a:solidFill>
              </a:rPr>
              <a:t>0.00%</a:t>
            </a:r>
          </a:p>
        </p:txBody>
      </p:sp>
      <p:sp>
        <p:nvSpPr>
          <p:cNvPr id="41" name="Rectangle 40"/>
          <p:cNvSpPr/>
          <p:nvPr/>
        </p:nvSpPr>
        <p:spPr>
          <a:xfrm>
            <a:off x="9281160" y="2852928"/>
            <a:ext cx="1920239" cy="2468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281160" y="2862072"/>
            <a:ext cx="1920239" cy="228600"/>
          </a:xfrm>
          <a:prstGeom prst="rect">
            <a:avLst/>
          </a:prstGeom>
          <a:noFill/>
        </p:spPr>
        <p:txBody>
          <a:bodyPr wrap="square">
            <a:spAutoFit/>
          </a:bodyPr>
          <a:lstStyle/>
          <a:p>
            <a:pPr algn="ctr"/>
            <a:r>
              <a:rPr sz="850" b="1" i="0">
                <a:solidFill>
                  <a:srgbClr val="FFFFFF"/>
                </a:solidFill>
              </a:rPr>
              <a:t>✓ NIMF</a:t>
            </a:r>
          </a:p>
        </p:txBody>
      </p:sp>
      <p:sp>
        <p:nvSpPr>
          <p:cNvPr id="43" name="Rectangle 42"/>
          <p:cNvSpPr/>
          <p:nvPr/>
        </p:nvSpPr>
        <p:spPr>
          <a:xfrm>
            <a:off x="274320" y="3172968"/>
            <a:ext cx="11064240" cy="3566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20040" y="3218687"/>
            <a:ext cx="2286000" cy="274320"/>
          </a:xfrm>
          <a:prstGeom prst="rect">
            <a:avLst/>
          </a:prstGeom>
          <a:noFill/>
        </p:spPr>
        <p:txBody>
          <a:bodyPr wrap="square">
            <a:spAutoFit/>
          </a:bodyPr>
          <a:lstStyle/>
          <a:p>
            <a:pPr algn="l"/>
            <a:r>
              <a:rPr sz="950" b="0" i="0">
                <a:solidFill>
                  <a:srgbClr val="2C3E50"/>
                </a:solidFill>
              </a:rPr>
              <a:t>Max Drawdown</a:t>
            </a:r>
          </a:p>
        </p:txBody>
      </p:sp>
      <p:sp>
        <p:nvSpPr>
          <p:cNvPr id="45" name="TextBox 44"/>
          <p:cNvSpPr txBox="1"/>
          <p:nvPr/>
        </p:nvSpPr>
        <p:spPr>
          <a:xfrm>
            <a:off x="2743200" y="3218687"/>
            <a:ext cx="2103120" cy="274320"/>
          </a:xfrm>
          <a:prstGeom prst="rect">
            <a:avLst/>
          </a:prstGeom>
          <a:noFill/>
        </p:spPr>
        <p:txBody>
          <a:bodyPr wrap="square">
            <a:spAutoFit/>
          </a:bodyPr>
          <a:lstStyle/>
          <a:p>
            <a:pPr algn="ctr"/>
            <a:r>
              <a:rPr sz="1000" b="1" i="0">
                <a:solidFill>
                  <a:srgbClr val="236FB4"/>
                </a:solidFill>
              </a:rPr>
              <a:t>–9.69%</a:t>
            </a:r>
          </a:p>
        </p:txBody>
      </p:sp>
      <p:sp>
        <p:nvSpPr>
          <p:cNvPr id="46" name="TextBox 45"/>
          <p:cNvSpPr txBox="1"/>
          <p:nvPr/>
        </p:nvSpPr>
        <p:spPr>
          <a:xfrm>
            <a:off x="4892040" y="3218687"/>
            <a:ext cx="2103120" cy="274320"/>
          </a:xfrm>
          <a:prstGeom prst="rect">
            <a:avLst/>
          </a:prstGeom>
          <a:noFill/>
        </p:spPr>
        <p:txBody>
          <a:bodyPr wrap="square">
            <a:spAutoFit/>
          </a:bodyPr>
          <a:lstStyle/>
          <a:p>
            <a:pPr algn="ctr"/>
            <a:r>
              <a:rPr sz="1000" b="1" i="0">
                <a:solidFill>
                  <a:srgbClr val="E87A1E"/>
                </a:solidFill>
              </a:rPr>
              <a:t>–11.90%</a:t>
            </a:r>
          </a:p>
        </p:txBody>
      </p:sp>
      <p:sp>
        <p:nvSpPr>
          <p:cNvPr id="47" name="TextBox 46"/>
          <p:cNvSpPr txBox="1"/>
          <p:nvPr/>
        </p:nvSpPr>
        <p:spPr>
          <a:xfrm>
            <a:off x="7040880" y="3218687"/>
            <a:ext cx="2103120" cy="274320"/>
          </a:xfrm>
          <a:prstGeom prst="rect">
            <a:avLst/>
          </a:prstGeom>
          <a:noFill/>
        </p:spPr>
        <p:txBody>
          <a:bodyPr wrap="square">
            <a:spAutoFit/>
          </a:bodyPr>
          <a:lstStyle/>
          <a:p>
            <a:pPr algn="ctr"/>
            <a:r>
              <a:rPr sz="1000" b="1" i="0">
                <a:solidFill>
                  <a:srgbClr val="95A5A6"/>
                </a:solidFill>
              </a:rPr>
              <a:t>–7.06%</a:t>
            </a:r>
          </a:p>
        </p:txBody>
      </p:sp>
      <p:sp>
        <p:nvSpPr>
          <p:cNvPr id="48" name="Rectangle 47"/>
          <p:cNvSpPr/>
          <p:nvPr/>
        </p:nvSpPr>
        <p:spPr>
          <a:xfrm>
            <a:off x="9281160" y="3227832"/>
            <a:ext cx="1920239" cy="2468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281160" y="3236975"/>
            <a:ext cx="1920239" cy="228600"/>
          </a:xfrm>
          <a:prstGeom prst="rect">
            <a:avLst/>
          </a:prstGeom>
          <a:noFill/>
        </p:spPr>
        <p:txBody>
          <a:bodyPr wrap="square">
            <a:spAutoFit/>
          </a:bodyPr>
          <a:lstStyle/>
          <a:p>
            <a:pPr algn="ctr"/>
            <a:r>
              <a:rPr sz="850" b="1" i="0">
                <a:solidFill>
                  <a:srgbClr val="FFFFFF"/>
                </a:solidFill>
              </a:rPr>
              <a:t>✓ NIMF*</a:t>
            </a:r>
          </a:p>
        </p:txBody>
      </p:sp>
      <p:sp>
        <p:nvSpPr>
          <p:cNvPr id="50" name="Rectangle 49"/>
          <p:cNvSpPr/>
          <p:nvPr/>
        </p:nvSpPr>
        <p:spPr>
          <a:xfrm>
            <a:off x="274320" y="3547872"/>
            <a:ext cx="11064240" cy="356616"/>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20040" y="3593591"/>
            <a:ext cx="2286000" cy="274320"/>
          </a:xfrm>
          <a:prstGeom prst="rect">
            <a:avLst/>
          </a:prstGeom>
          <a:noFill/>
        </p:spPr>
        <p:txBody>
          <a:bodyPr wrap="square">
            <a:spAutoFit/>
          </a:bodyPr>
          <a:lstStyle/>
          <a:p>
            <a:pPr algn="l"/>
            <a:r>
              <a:rPr sz="950" b="0" i="0">
                <a:solidFill>
                  <a:srgbClr val="2C3E50"/>
                </a:solidFill>
              </a:rPr>
              <a:t>Sortino Ratio</a:t>
            </a:r>
          </a:p>
        </p:txBody>
      </p:sp>
      <p:sp>
        <p:nvSpPr>
          <p:cNvPr id="52" name="TextBox 51"/>
          <p:cNvSpPr txBox="1"/>
          <p:nvPr/>
        </p:nvSpPr>
        <p:spPr>
          <a:xfrm>
            <a:off x="2743200" y="3593591"/>
            <a:ext cx="2103120" cy="274320"/>
          </a:xfrm>
          <a:prstGeom prst="rect">
            <a:avLst/>
          </a:prstGeom>
          <a:noFill/>
        </p:spPr>
        <p:txBody>
          <a:bodyPr wrap="square">
            <a:spAutoFit/>
          </a:bodyPr>
          <a:lstStyle/>
          <a:p>
            <a:pPr algn="ctr"/>
            <a:r>
              <a:rPr sz="1000" b="1" i="0">
                <a:solidFill>
                  <a:srgbClr val="236FB4"/>
                </a:solidFill>
              </a:rPr>
              <a:t>1.277</a:t>
            </a:r>
          </a:p>
        </p:txBody>
      </p:sp>
      <p:sp>
        <p:nvSpPr>
          <p:cNvPr id="53" name="TextBox 52"/>
          <p:cNvSpPr txBox="1"/>
          <p:nvPr/>
        </p:nvSpPr>
        <p:spPr>
          <a:xfrm>
            <a:off x="4892040" y="3593591"/>
            <a:ext cx="2103120" cy="274320"/>
          </a:xfrm>
          <a:prstGeom prst="rect">
            <a:avLst/>
          </a:prstGeom>
          <a:noFill/>
        </p:spPr>
        <p:txBody>
          <a:bodyPr wrap="square">
            <a:spAutoFit/>
          </a:bodyPr>
          <a:lstStyle/>
          <a:p>
            <a:pPr algn="ctr"/>
            <a:r>
              <a:rPr sz="1000" b="1" i="0">
                <a:solidFill>
                  <a:srgbClr val="E87A1E"/>
                </a:solidFill>
              </a:rPr>
              <a:t>1.018</a:t>
            </a:r>
          </a:p>
        </p:txBody>
      </p:sp>
      <p:sp>
        <p:nvSpPr>
          <p:cNvPr id="54" name="TextBox 53"/>
          <p:cNvSpPr txBox="1"/>
          <p:nvPr/>
        </p:nvSpPr>
        <p:spPr>
          <a:xfrm>
            <a:off x="7040880" y="3593591"/>
            <a:ext cx="2103120" cy="274320"/>
          </a:xfrm>
          <a:prstGeom prst="rect">
            <a:avLst/>
          </a:prstGeom>
          <a:noFill/>
        </p:spPr>
        <p:txBody>
          <a:bodyPr wrap="square">
            <a:spAutoFit/>
          </a:bodyPr>
          <a:lstStyle/>
          <a:p>
            <a:pPr algn="ctr"/>
            <a:r>
              <a:rPr sz="1000" b="1" i="0">
                <a:solidFill>
                  <a:srgbClr val="95A5A6"/>
                </a:solidFill>
              </a:rPr>
              <a:t>0.822</a:t>
            </a:r>
          </a:p>
        </p:txBody>
      </p:sp>
      <p:sp>
        <p:nvSpPr>
          <p:cNvPr id="55" name="Rectangle 54"/>
          <p:cNvSpPr/>
          <p:nvPr/>
        </p:nvSpPr>
        <p:spPr>
          <a:xfrm>
            <a:off x="9281160" y="3602736"/>
            <a:ext cx="1920239" cy="2468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281160" y="3611879"/>
            <a:ext cx="1920239" cy="228600"/>
          </a:xfrm>
          <a:prstGeom prst="rect">
            <a:avLst/>
          </a:prstGeom>
          <a:noFill/>
        </p:spPr>
        <p:txBody>
          <a:bodyPr wrap="square">
            <a:spAutoFit/>
          </a:bodyPr>
          <a:lstStyle/>
          <a:p>
            <a:pPr algn="ctr"/>
            <a:r>
              <a:rPr sz="850" b="1" i="0">
                <a:solidFill>
                  <a:srgbClr val="FFFFFF"/>
                </a:solidFill>
              </a:rPr>
              <a:t>✓ NIMF</a:t>
            </a:r>
          </a:p>
        </p:txBody>
      </p:sp>
      <p:sp>
        <p:nvSpPr>
          <p:cNvPr id="57" name="Rectangle 56"/>
          <p:cNvSpPr/>
          <p:nvPr/>
        </p:nvSpPr>
        <p:spPr>
          <a:xfrm>
            <a:off x="274320" y="3922776"/>
            <a:ext cx="11064240" cy="3566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20040" y="3968496"/>
            <a:ext cx="2286000" cy="274320"/>
          </a:xfrm>
          <a:prstGeom prst="rect">
            <a:avLst/>
          </a:prstGeom>
          <a:noFill/>
        </p:spPr>
        <p:txBody>
          <a:bodyPr wrap="square">
            <a:spAutoFit/>
          </a:bodyPr>
          <a:lstStyle/>
          <a:p>
            <a:pPr algn="l"/>
            <a:r>
              <a:rPr sz="950" b="0" i="0" dirty="0">
                <a:solidFill>
                  <a:srgbClr val="2C3E50"/>
                </a:solidFill>
              </a:rPr>
              <a:t>Beta vs Benchmark</a:t>
            </a:r>
          </a:p>
        </p:txBody>
      </p:sp>
      <p:sp>
        <p:nvSpPr>
          <p:cNvPr id="59" name="TextBox 58"/>
          <p:cNvSpPr txBox="1"/>
          <p:nvPr/>
        </p:nvSpPr>
        <p:spPr>
          <a:xfrm>
            <a:off x="2743200" y="3968496"/>
            <a:ext cx="2103120" cy="274320"/>
          </a:xfrm>
          <a:prstGeom prst="rect">
            <a:avLst/>
          </a:prstGeom>
          <a:noFill/>
        </p:spPr>
        <p:txBody>
          <a:bodyPr wrap="square">
            <a:spAutoFit/>
          </a:bodyPr>
          <a:lstStyle/>
          <a:p>
            <a:pPr algn="ctr"/>
            <a:r>
              <a:rPr sz="1000" b="1" i="0" dirty="0">
                <a:solidFill>
                  <a:srgbClr val="236FB4"/>
                </a:solidFill>
              </a:rPr>
              <a:t>0.893</a:t>
            </a:r>
          </a:p>
        </p:txBody>
      </p:sp>
      <p:sp>
        <p:nvSpPr>
          <p:cNvPr id="60" name="TextBox 59"/>
          <p:cNvSpPr txBox="1"/>
          <p:nvPr/>
        </p:nvSpPr>
        <p:spPr>
          <a:xfrm>
            <a:off x="4892040" y="3968496"/>
            <a:ext cx="2103120" cy="274320"/>
          </a:xfrm>
          <a:prstGeom prst="rect">
            <a:avLst/>
          </a:prstGeom>
          <a:noFill/>
        </p:spPr>
        <p:txBody>
          <a:bodyPr wrap="square">
            <a:spAutoFit/>
          </a:bodyPr>
          <a:lstStyle/>
          <a:p>
            <a:pPr algn="ctr"/>
            <a:r>
              <a:rPr sz="1000" b="1" i="0">
                <a:solidFill>
                  <a:srgbClr val="E87A1E"/>
                </a:solidFill>
              </a:rPr>
              <a:t>0.950</a:t>
            </a:r>
          </a:p>
        </p:txBody>
      </p:sp>
      <p:sp>
        <p:nvSpPr>
          <p:cNvPr id="61" name="TextBox 60"/>
          <p:cNvSpPr txBox="1"/>
          <p:nvPr/>
        </p:nvSpPr>
        <p:spPr>
          <a:xfrm>
            <a:off x="7040880" y="3968496"/>
            <a:ext cx="2103120" cy="274320"/>
          </a:xfrm>
          <a:prstGeom prst="rect">
            <a:avLst/>
          </a:prstGeom>
          <a:noFill/>
        </p:spPr>
        <p:txBody>
          <a:bodyPr wrap="square">
            <a:spAutoFit/>
          </a:bodyPr>
          <a:lstStyle/>
          <a:p>
            <a:pPr algn="ctr"/>
            <a:r>
              <a:rPr sz="1000" b="1" i="0">
                <a:solidFill>
                  <a:srgbClr val="95A5A6"/>
                </a:solidFill>
              </a:rPr>
              <a:t>1.000</a:t>
            </a:r>
          </a:p>
        </p:txBody>
      </p:sp>
      <p:sp>
        <p:nvSpPr>
          <p:cNvPr id="62" name="Rectangle 61"/>
          <p:cNvSpPr/>
          <p:nvPr/>
        </p:nvSpPr>
        <p:spPr>
          <a:xfrm>
            <a:off x="9281160" y="3977639"/>
            <a:ext cx="1920239" cy="2468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281160" y="3986784"/>
            <a:ext cx="1920239" cy="228600"/>
          </a:xfrm>
          <a:prstGeom prst="rect">
            <a:avLst/>
          </a:prstGeom>
          <a:noFill/>
        </p:spPr>
        <p:txBody>
          <a:bodyPr wrap="square">
            <a:spAutoFit/>
          </a:bodyPr>
          <a:lstStyle/>
          <a:p>
            <a:pPr algn="ctr"/>
            <a:r>
              <a:rPr sz="850" b="1" i="0">
                <a:solidFill>
                  <a:srgbClr val="FFFFFF"/>
                </a:solidFill>
              </a:rPr>
              <a:t>✓ NIMF</a:t>
            </a:r>
          </a:p>
        </p:txBody>
      </p:sp>
      <p:sp>
        <p:nvSpPr>
          <p:cNvPr id="64" name="Rectangle 63"/>
          <p:cNvSpPr/>
          <p:nvPr/>
        </p:nvSpPr>
        <p:spPr>
          <a:xfrm>
            <a:off x="274320" y="4297679"/>
            <a:ext cx="11064240" cy="356616"/>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20040" y="4343399"/>
            <a:ext cx="2286000" cy="274320"/>
          </a:xfrm>
          <a:prstGeom prst="rect">
            <a:avLst/>
          </a:prstGeom>
          <a:noFill/>
        </p:spPr>
        <p:txBody>
          <a:bodyPr wrap="square">
            <a:spAutoFit/>
          </a:bodyPr>
          <a:lstStyle/>
          <a:p>
            <a:pPr algn="l"/>
            <a:r>
              <a:rPr sz="950" b="0" i="0" dirty="0">
                <a:solidFill>
                  <a:srgbClr val="2C3E50"/>
                </a:solidFill>
              </a:rPr>
              <a:t>Downside Deviation</a:t>
            </a:r>
          </a:p>
        </p:txBody>
      </p:sp>
      <p:sp>
        <p:nvSpPr>
          <p:cNvPr id="66" name="TextBox 65"/>
          <p:cNvSpPr txBox="1"/>
          <p:nvPr/>
        </p:nvSpPr>
        <p:spPr>
          <a:xfrm>
            <a:off x="2743200" y="4343399"/>
            <a:ext cx="2103120" cy="274320"/>
          </a:xfrm>
          <a:prstGeom prst="rect">
            <a:avLst/>
          </a:prstGeom>
          <a:noFill/>
        </p:spPr>
        <p:txBody>
          <a:bodyPr wrap="square">
            <a:spAutoFit/>
          </a:bodyPr>
          <a:lstStyle/>
          <a:p>
            <a:pPr algn="ctr"/>
            <a:r>
              <a:rPr sz="1000" b="1" i="0">
                <a:solidFill>
                  <a:srgbClr val="236FB4"/>
                </a:solidFill>
              </a:rPr>
              <a:t>8.81%</a:t>
            </a:r>
          </a:p>
        </p:txBody>
      </p:sp>
      <p:sp>
        <p:nvSpPr>
          <p:cNvPr id="67" name="TextBox 66"/>
          <p:cNvSpPr txBox="1"/>
          <p:nvPr/>
        </p:nvSpPr>
        <p:spPr>
          <a:xfrm>
            <a:off x="4892040" y="4343399"/>
            <a:ext cx="2103120" cy="274320"/>
          </a:xfrm>
          <a:prstGeom prst="rect">
            <a:avLst/>
          </a:prstGeom>
          <a:noFill/>
        </p:spPr>
        <p:txBody>
          <a:bodyPr wrap="square">
            <a:spAutoFit/>
          </a:bodyPr>
          <a:lstStyle/>
          <a:p>
            <a:pPr algn="ctr"/>
            <a:r>
              <a:rPr sz="1000" b="1" i="0">
                <a:solidFill>
                  <a:srgbClr val="E87A1E"/>
                </a:solidFill>
              </a:rPr>
              <a:t>9.29%</a:t>
            </a:r>
          </a:p>
        </p:txBody>
      </p:sp>
      <p:sp>
        <p:nvSpPr>
          <p:cNvPr id="68" name="TextBox 67"/>
          <p:cNvSpPr txBox="1"/>
          <p:nvPr/>
        </p:nvSpPr>
        <p:spPr>
          <a:xfrm>
            <a:off x="7040880" y="4343399"/>
            <a:ext cx="2103120" cy="274320"/>
          </a:xfrm>
          <a:prstGeom prst="rect">
            <a:avLst/>
          </a:prstGeom>
          <a:noFill/>
        </p:spPr>
        <p:txBody>
          <a:bodyPr wrap="square">
            <a:spAutoFit/>
          </a:bodyPr>
          <a:lstStyle/>
          <a:p>
            <a:pPr algn="ctr"/>
            <a:r>
              <a:rPr sz="1000" b="1" i="0">
                <a:solidFill>
                  <a:srgbClr val="95A5A6"/>
                </a:solidFill>
              </a:rPr>
              <a:t>9.57%</a:t>
            </a:r>
          </a:p>
        </p:txBody>
      </p:sp>
      <p:sp>
        <p:nvSpPr>
          <p:cNvPr id="69" name="Rectangle 68"/>
          <p:cNvSpPr/>
          <p:nvPr/>
        </p:nvSpPr>
        <p:spPr>
          <a:xfrm>
            <a:off x="9281160" y="4352543"/>
            <a:ext cx="1920239" cy="24688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9281160" y="4361688"/>
            <a:ext cx="1920239" cy="228600"/>
          </a:xfrm>
          <a:prstGeom prst="rect">
            <a:avLst/>
          </a:prstGeom>
          <a:noFill/>
        </p:spPr>
        <p:txBody>
          <a:bodyPr wrap="square">
            <a:spAutoFit/>
          </a:bodyPr>
          <a:lstStyle/>
          <a:p>
            <a:pPr algn="ctr"/>
            <a:r>
              <a:rPr sz="850" b="1" i="0">
                <a:solidFill>
                  <a:srgbClr val="FFFFFF"/>
                </a:solidFill>
              </a:rPr>
              <a:t>✓ NIMF</a:t>
            </a:r>
          </a:p>
        </p:txBody>
      </p:sp>
      <p:sp>
        <p:nvSpPr>
          <p:cNvPr id="71" name="Rectangle 70"/>
          <p:cNvSpPr/>
          <p:nvPr/>
        </p:nvSpPr>
        <p:spPr>
          <a:xfrm>
            <a:off x="274320" y="4956048"/>
            <a:ext cx="7315200" cy="65836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365760" y="4992624"/>
            <a:ext cx="7132320" cy="384721"/>
          </a:xfrm>
          <a:prstGeom prst="rect">
            <a:avLst/>
          </a:prstGeom>
          <a:noFill/>
        </p:spPr>
        <p:txBody>
          <a:bodyPr wrap="square">
            <a:spAutoFit/>
          </a:bodyPr>
          <a:lstStyle/>
          <a:p>
            <a:pPr algn="l"/>
            <a:r>
              <a:rPr lang="en-US" sz="950" b="0" i="0" dirty="0">
                <a:solidFill>
                  <a:srgbClr val="FFFFFF"/>
                </a:solidFill>
              </a:rPr>
              <a:t>STRATEGIC IMPLICATION </a:t>
            </a:r>
            <a:r>
              <a:rPr sz="950" b="0" i="0" dirty="0">
                <a:solidFill>
                  <a:srgbClr val="FFFFFF"/>
                </a:solidFill>
              </a:rPr>
              <a:t>: </a:t>
            </a:r>
            <a:r>
              <a:rPr lang="en-US" sz="950" b="0" i="0" dirty="0">
                <a:solidFill>
                  <a:srgbClr val="FFFFFF"/>
                </a:solidFill>
              </a:rPr>
              <a:t>The concentrated strategy mathematically contradicts conventional risk theory</a:t>
            </a:r>
            <a:r>
              <a:rPr sz="950" b="0" i="0" dirty="0">
                <a:solidFill>
                  <a:srgbClr val="FFFFFF"/>
                </a:solidFill>
              </a:rPr>
              <a:t>. 27 stocks = LOWER volatility (11.99% vs 12.95%) AND lower drawdown (–9.69% vs –11.90%) AND higher returns (17.90% vs 16.12%). Quality beats quantity in Indian BFSI.</a:t>
            </a:r>
          </a:p>
        </p:txBody>
      </p:sp>
      <p:sp>
        <p:nvSpPr>
          <p:cNvPr id="73" name="Rectangle 72"/>
          <p:cNvSpPr/>
          <p:nvPr/>
        </p:nvSpPr>
        <p:spPr>
          <a:xfrm>
            <a:off x="7726679" y="4956048"/>
            <a:ext cx="3611880" cy="658368"/>
          </a:xfrm>
          <a:prstGeom prst="rect">
            <a:avLst/>
          </a:prstGeom>
          <a:solidFill>
            <a:srgbClr val="ECF0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818120" y="5010912"/>
            <a:ext cx="3429000" cy="548640"/>
          </a:xfrm>
          <a:prstGeom prst="rect">
            <a:avLst/>
          </a:prstGeom>
          <a:noFill/>
        </p:spPr>
        <p:txBody>
          <a:bodyPr wrap="square">
            <a:spAutoFit/>
          </a:bodyPr>
          <a:lstStyle/>
          <a:p>
            <a:pPr algn="l"/>
            <a:r>
              <a:rPr sz="850" b="0" i="1" dirty="0">
                <a:solidFill>
                  <a:srgbClr val="2C3E50"/>
                </a:solidFill>
              </a:rPr>
              <a:t>* Benchmark has lowest absolute drawdown (–7.06%) due to market-cap diversification. Active funds carry sector concentration risk that emerged in Feb 2025 credit shock.</a:t>
            </a:r>
          </a:p>
        </p:txBody>
      </p:sp>
      <p:sp>
        <p:nvSpPr>
          <p:cNvPr id="75" name="Rectangle 74"/>
          <p:cNvSpPr/>
          <p:nvPr/>
        </p:nvSpPr>
        <p:spPr>
          <a:xfrm>
            <a:off x="0" y="6492240"/>
            <a:ext cx="12188952" cy="36576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274320" y="6519672"/>
            <a:ext cx="11430000" cy="230832"/>
          </a:xfrm>
          <a:prstGeom prst="rect">
            <a:avLst/>
          </a:prstGeom>
          <a:noFill/>
        </p:spPr>
        <p:txBody>
          <a:bodyPr wrap="square">
            <a:spAutoFit/>
          </a:bodyPr>
          <a:lstStyle/>
          <a:p>
            <a:pPr algn="l"/>
            <a:r>
              <a:rPr sz="900" b="0" i="0" dirty="0">
                <a:solidFill>
                  <a:srgbClr val="CADCFC"/>
                </a:solidFill>
              </a:rPr>
              <a:t>Data: AMFI, NSE  |  Nov 1, 2022 </a:t>
            </a:r>
            <a:r>
              <a:rPr lang="en-IN" sz="900" b="0" i="0" dirty="0">
                <a:solidFill>
                  <a:srgbClr val="CADCFC"/>
                </a:solidFill>
              </a:rPr>
              <a:t>-</a:t>
            </a:r>
            <a:r>
              <a:rPr sz="900" b="0" i="0" dirty="0">
                <a:solidFill>
                  <a:srgbClr val="CADCFC"/>
                </a:solidFill>
              </a:rPr>
              <a:t> Oct 31, 2025  |  Benchmark: Nifty Financial Services TRI  |  Rf = 6.651%  |  1,095 daily observations per fund  |  26 quarterly holding snapshots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64592"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91440"/>
            <a:ext cx="11430000" cy="246221"/>
          </a:xfrm>
          <a:prstGeom prst="rect">
            <a:avLst/>
          </a:prstGeom>
          <a:noFill/>
        </p:spPr>
        <p:txBody>
          <a:bodyPr wrap="square">
            <a:spAutoFit/>
          </a:bodyPr>
          <a:lstStyle/>
          <a:p>
            <a:pPr algn="l"/>
            <a:r>
              <a:rPr sz="1000" b="0" i="0" dirty="0">
                <a:solidFill>
                  <a:srgbClr val="CADCFC"/>
                </a:solidFill>
              </a:rPr>
              <a:t>REGIME ANALYSIS  |  3 Monetary Policy Cycles </a:t>
            </a:r>
            <a:r>
              <a:rPr lang="en-IN" sz="1000" b="0" i="0" dirty="0">
                <a:solidFill>
                  <a:srgbClr val="CADCFC"/>
                </a:solidFill>
              </a:rPr>
              <a:t>-</a:t>
            </a:r>
            <a:r>
              <a:rPr sz="1000" b="0" i="0" dirty="0">
                <a:solidFill>
                  <a:srgbClr val="CADCFC"/>
                </a:solidFill>
              </a:rPr>
              <a:t> </a:t>
            </a:r>
            <a:r>
              <a:rPr lang="en-IN" sz="1000" b="0" i="0" dirty="0">
                <a:solidFill>
                  <a:srgbClr val="CADCFC"/>
                </a:solidFill>
              </a:rPr>
              <a:t>7</a:t>
            </a:r>
            <a:r>
              <a:rPr sz="1000" b="0" i="0" dirty="0">
                <a:solidFill>
                  <a:srgbClr val="CADCFC"/>
                </a:solidFill>
              </a:rPr>
              <a:t> </a:t>
            </a:r>
            <a:r>
              <a:rPr lang="en-IN" sz="1000" b="0" i="0" dirty="0">
                <a:solidFill>
                  <a:srgbClr val="CADCFC"/>
                </a:solidFill>
              </a:rPr>
              <a:t>Risk-Return </a:t>
            </a:r>
            <a:r>
              <a:rPr sz="1000" b="0" i="0" dirty="0">
                <a:solidFill>
                  <a:srgbClr val="CADCFC"/>
                </a:solidFill>
              </a:rPr>
              <a:t>Metrics Each</a:t>
            </a:r>
          </a:p>
        </p:txBody>
      </p:sp>
      <p:sp>
        <p:nvSpPr>
          <p:cNvPr id="6" name="TextBox 5"/>
          <p:cNvSpPr txBox="1"/>
          <p:nvPr/>
        </p:nvSpPr>
        <p:spPr>
          <a:xfrm>
            <a:off x="274320" y="457200"/>
            <a:ext cx="11430000" cy="353943"/>
          </a:xfrm>
          <a:prstGeom prst="rect">
            <a:avLst/>
          </a:prstGeom>
          <a:noFill/>
        </p:spPr>
        <p:txBody>
          <a:bodyPr wrap="square">
            <a:spAutoFit/>
          </a:bodyPr>
          <a:lstStyle/>
          <a:p>
            <a:pPr algn="l"/>
            <a:r>
              <a:rPr sz="1700" b="1" i="0" dirty="0">
                <a:solidFill>
                  <a:srgbClr val="FFFFFF"/>
                </a:solidFill>
              </a:rPr>
              <a:t>Tightening Cycle (Nov 23</a:t>
            </a:r>
            <a:r>
              <a:rPr lang="en-IN" sz="1700" b="1" i="0" dirty="0">
                <a:solidFill>
                  <a:srgbClr val="FFFFFF"/>
                </a:solidFill>
              </a:rPr>
              <a:t>-</a:t>
            </a:r>
            <a:r>
              <a:rPr sz="1700" b="1" i="0" dirty="0">
                <a:solidFill>
                  <a:srgbClr val="FFFFFF"/>
                </a:solidFill>
              </a:rPr>
              <a:t>Jan 25) </a:t>
            </a:r>
            <a:r>
              <a:rPr sz="1700" b="1" i="0" dirty="0" err="1">
                <a:solidFill>
                  <a:srgbClr val="FFFFFF"/>
                </a:solidFill>
              </a:rPr>
              <a:t>Crystallised</a:t>
            </a:r>
            <a:r>
              <a:rPr sz="1700" b="1" i="0" dirty="0">
                <a:solidFill>
                  <a:srgbClr val="FFFFFF"/>
                </a:solidFill>
              </a:rPr>
              <a:t> 80% of NIMF's 3-Year Alpha</a:t>
            </a:r>
          </a:p>
        </p:txBody>
      </p:sp>
      <p:sp>
        <p:nvSpPr>
          <p:cNvPr id="7" name="TextBox 6"/>
          <p:cNvSpPr txBox="1"/>
          <p:nvPr/>
        </p:nvSpPr>
        <p:spPr>
          <a:xfrm>
            <a:off x="274320" y="960120"/>
            <a:ext cx="11430000" cy="238527"/>
          </a:xfrm>
          <a:prstGeom prst="rect">
            <a:avLst/>
          </a:prstGeom>
          <a:noFill/>
        </p:spPr>
        <p:txBody>
          <a:bodyPr wrap="square">
            <a:spAutoFit/>
          </a:bodyPr>
          <a:lstStyle/>
          <a:p>
            <a:pPr algn="l"/>
            <a:r>
              <a:rPr sz="950" b="1" i="0" dirty="0">
                <a:solidFill>
                  <a:srgbClr val="1E2761"/>
                </a:solidFill>
              </a:rPr>
              <a:t>KEY </a:t>
            </a:r>
            <a:r>
              <a:rPr lang="en-IN" sz="950" b="1" i="0" dirty="0">
                <a:solidFill>
                  <a:srgbClr val="1E2761"/>
                </a:solidFill>
              </a:rPr>
              <a:t>NOTE</a:t>
            </a:r>
            <a:r>
              <a:rPr sz="950" b="1" i="0" dirty="0">
                <a:solidFill>
                  <a:srgbClr val="1E2761"/>
                </a:solidFill>
              </a:rPr>
              <a:t>: NIMF's Sharpe doubled ABSL's during tightening (0.827 vs 0.423) </a:t>
            </a:r>
            <a:r>
              <a:rPr lang="en-IN" sz="950" b="1" i="0" dirty="0">
                <a:solidFill>
                  <a:srgbClr val="1E2761"/>
                </a:solidFill>
              </a:rPr>
              <a:t>-</a:t>
            </a:r>
            <a:r>
              <a:rPr sz="950" b="1" i="0" dirty="0">
                <a:solidFill>
                  <a:srgbClr val="1E2761"/>
                </a:solidFill>
              </a:rPr>
              <a:t> revealing when and why quality concentration generates alpha</a:t>
            </a:r>
          </a:p>
        </p:txBody>
      </p:sp>
      <p:sp>
        <p:nvSpPr>
          <p:cNvPr id="8" name="Rectangle 7"/>
          <p:cNvSpPr/>
          <p:nvPr/>
        </p:nvSpPr>
        <p:spPr>
          <a:xfrm>
            <a:off x="274320" y="1234440"/>
            <a:ext cx="11430000" cy="2743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298448"/>
            <a:ext cx="3749039" cy="4434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5760" y="1298448"/>
            <a:ext cx="3749039" cy="54864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 y="1247563"/>
            <a:ext cx="3611880" cy="274320"/>
          </a:xfrm>
          <a:prstGeom prst="rect">
            <a:avLst/>
          </a:prstGeom>
          <a:noFill/>
        </p:spPr>
        <p:txBody>
          <a:bodyPr wrap="square">
            <a:spAutoFit/>
          </a:bodyPr>
          <a:lstStyle/>
          <a:p>
            <a:pPr algn="ctr"/>
            <a:r>
              <a:rPr sz="1100" b="1" i="0" dirty="0">
                <a:solidFill>
                  <a:srgbClr val="FFFFFF"/>
                </a:solidFill>
              </a:rPr>
              <a:t>PRE-RBI REGIME</a:t>
            </a:r>
          </a:p>
        </p:txBody>
      </p:sp>
      <p:sp>
        <p:nvSpPr>
          <p:cNvPr id="12" name="TextBox 11"/>
          <p:cNvSpPr txBox="1"/>
          <p:nvPr/>
        </p:nvSpPr>
        <p:spPr>
          <a:xfrm>
            <a:off x="438912" y="1503595"/>
            <a:ext cx="3611880" cy="223138"/>
          </a:xfrm>
          <a:prstGeom prst="rect">
            <a:avLst/>
          </a:prstGeom>
          <a:noFill/>
        </p:spPr>
        <p:txBody>
          <a:bodyPr wrap="square">
            <a:spAutoFit/>
          </a:bodyPr>
          <a:lstStyle/>
          <a:p>
            <a:pPr algn="ctr"/>
            <a:r>
              <a:rPr sz="850" b="0" i="0" dirty="0">
                <a:solidFill>
                  <a:srgbClr val="FFFFFF"/>
                </a:solidFill>
              </a:rPr>
              <a:t>Nov 2022 </a:t>
            </a:r>
            <a:r>
              <a:rPr lang="en-IN" sz="850" b="0" i="0" dirty="0">
                <a:solidFill>
                  <a:srgbClr val="FFFFFF"/>
                </a:solidFill>
              </a:rPr>
              <a:t>-</a:t>
            </a:r>
            <a:r>
              <a:rPr sz="850" b="0" i="0" dirty="0">
                <a:solidFill>
                  <a:srgbClr val="FFFFFF"/>
                </a:solidFill>
              </a:rPr>
              <a:t> Oct 2023 (12M)</a:t>
            </a:r>
          </a:p>
        </p:txBody>
      </p:sp>
      <p:sp>
        <p:nvSpPr>
          <p:cNvPr id="13" name="TextBox 12"/>
          <p:cNvSpPr txBox="1"/>
          <p:nvPr/>
        </p:nvSpPr>
        <p:spPr>
          <a:xfrm>
            <a:off x="438912" y="1695619"/>
            <a:ext cx="3611880" cy="201168"/>
          </a:xfrm>
          <a:prstGeom prst="rect">
            <a:avLst/>
          </a:prstGeom>
          <a:noFill/>
        </p:spPr>
        <p:txBody>
          <a:bodyPr wrap="square">
            <a:spAutoFit/>
          </a:bodyPr>
          <a:lstStyle/>
          <a:p>
            <a:pPr algn="ctr"/>
            <a:r>
              <a:rPr sz="800" b="1" i="0" dirty="0">
                <a:solidFill>
                  <a:srgbClr val="FFFFFF"/>
                </a:solidFill>
              </a:rPr>
              <a:t>Easy Alpha: Weak Benchmark</a:t>
            </a:r>
          </a:p>
        </p:txBody>
      </p:sp>
      <p:sp>
        <p:nvSpPr>
          <p:cNvPr id="14" name="Rectangle 13"/>
          <p:cNvSpPr/>
          <p:nvPr/>
        </p:nvSpPr>
        <p:spPr>
          <a:xfrm>
            <a:off x="438912" y="1920240"/>
            <a:ext cx="3611880" cy="29260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 y="1956816"/>
            <a:ext cx="2011680" cy="228600"/>
          </a:xfrm>
          <a:prstGeom prst="rect">
            <a:avLst/>
          </a:prstGeom>
          <a:noFill/>
        </p:spPr>
        <p:txBody>
          <a:bodyPr wrap="square">
            <a:spAutoFit/>
          </a:bodyPr>
          <a:lstStyle/>
          <a:p>
            <a:pPr algn="l"/>
            <a:r>
              <a:rPr sz="850" b="0" i="0">
                <a:solidFill>
                  <a:srgbClr val="2C3E50"/>
                </a:solidFill>
              </a:rPr>
              <a:t>Ann. Return (NIMF)</a:t>
            </a:r>
          </a:p>
        </p:txBody>
      </p:sp>
      <p:sp>
        <p:nvSpPr>
          <p:cNvPr id="16" name="TextBox 15"/>
          <p:cNvSpPr txBox="1"/>
          <p:nvPr/>
        </p:nvSpPr>
        <p:spPr>
          <a:xfrm>
            <a:off x="2514600" y="1956816"/>
            <a:ext cx="1463040" cy="228600"/>
          </a:xfrm>
          <a:prstGeom prst="rect">
            <a:avLst/>
          </a:prstGeom>
          <a:noFill/>
        </p:spPr>
        <p:txBody>
          <a:bodyPr wrap="square">
            <a:spAutoFit/>
          </a:bodyPr>
          <a:lstStyle/>
          <a:p>
            <a:pPr algn="r"/>
            <a:r>
              <a:rPr sz="900" b="1" i="0">
                <a:solidFill>
                  <a:srgbClr val="236FB4"/>
                </a:solidFill>
              </a:rPr>
              <a:t>16.06%</a:t>
            </a:r>
          </a:p>
        </p:txBody>
      </p:sp>
      <p:sp>
        <p:nvSpPr>
          <p:cNvPr id="17" name="Rectangle 16"/>
          <p:cNvSpPr/>
          <p:nvPr/>
        </p:nvSpPr>
        <p:spPr>
          <a:xfrm>
            <a:off x="438912" y="2221992"/>
            <a:ext cx="361188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8" y="2258568"/>
            <a:ext cx="2011680" cy="228600"/>
          </a:xfrm>
          <a:prstGeom prst="rect">
            <a:avLst/>
          </a:prstGeom>
          <a:noFill/>
        </p:spPr>
        <p:txBody>
          <a:bodyPr wrap="square">
            <a:spAutoFit/>
          </a:bodyPr>
          <a:lstStyle/>
          <a:p>
            <a:pPr algn="l"/>
            <a:r>
              <a:rPr sz="850" b="0" i="0">
                <a:solidFill>
                  <a:srgbClr val="2C3E50"/>
                </a:solidFill>
              </a:rPr>
              <a:t>Ann. Return (ABSL)</a:t>
            </a:r>
          </a:p>
        </p:txBody>
      </p:sp>
      <p:sp>
        <p:nvSpPr>
          <p:cNvPr id="19" name="TextBox 18"/>
          <p:cNvSpPr txBox="1"/>
          <p:nvPr/>
        </p:nvSpPr>
        <p:spPr>
          <a:xfrm>
            <a:off x="2514600" y="2258568"/>
            <a:ext cx="1463040" cy="228600"/>
          </a:xfrm>
          <a:prstGeom prst="rect">
            <a:avLst/>
          </a:prstGeom>
          <a:noFill/>
        </p:spPr>
        <p:txBody>
          <a:bodyPr wrap="square">
            <a:spAutoFit/>
          </a:bodyPr>
          <a:lstStyle/>
          <a:p>
            <a:pPr algn="r"/>
            <a:r>
              <a:rPr sz="900" b="1" i="0">
                <a:solidFill>
                  <a:srgbClr val="E87A1E"/>
                </a:solidFill>
              </a:rPr>
              <a:t>15.15%</a:t>
            </a:r>
          </a:p>
        </p:txBody>
      </p:sp>
      <p:sp>
        <p:nvSpPr>
          <p:cNvPr id="20" name="Rectangle 19"/>
          <p:cNvSpPr/>
          <p:nvPr/>
        </p:nvSpPr>
        <p:spPr>
          <a:xfrm>
            <a:off x="438912" y="2523744"/>
            <a:ext cx="3611880" cy="29260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 y="2560320"/>
            <a:ext cx="2011680" cy="228600"/>
          </a:xfrm>
          <a:prstGeom prst="rect">
            <a:avLst/>
          </a:prstGeom>
          <a:noFill/>
        </p:spPr>
        <p:txBody>
          <a:bodyPr wrap="square">
            <a:spAutoFit/>
          </a:bodyPr>
          <a:lstStyle/>
          <a:p>
            <a:pPr algn="l"/>
            <a:r>
              <a:rPr sz="850" b="0" i="0">
                <a:solidFill>
                  <a:srgbClr val="2C3E50"/>
                </a:solidFill>
              </a:rPr>
              <a:t>Ann. Return (Bench)</a:t>
            </a:r>
          </a:p>
        </p:txBody>
      </p:sp>
      <p:sp>
        <p:nvSpPr>
          <p:cNvPr id="22" name="TextBox 21"/>
          <p:cNvSpPr txBox="1"/>
          <p:nvPr/>
        </p:nvSpPr>
        <p:spPr>
          <a:xfrm>
            <a:off x="2514600" y="2560320"/>
            <a:ext cx="1463040" cy="228600"/>
          </a:xfrm>
          <a:prstGeom prst="rect">
            <a:avLst/>
          </a:prstGeom>
          <a:noFill/>
        </p:spPr>
        <p:txBody>
          <a:bodyPr wrap="square">
            <a:spAutoFit/>
          </a:bodyPr>
          <a:lstStyle/>
          <a:p>
            <a:pPr algn="r"/>
            <a:r>
              <a:rPr sz="900" b="1" i="0">
                <a:solidFill>
                  <a:srgbClr val="95A5A6"/>
                </a:solidFill>
              </a:rPr>
              <a:t>4.17%</a:t>
            </a:r>
          </a:p>
        </p:txBody>
      </p:sp>
      <p:sp>
        <p:nvSpPr>
          <p:cNvPr id="23" name="Rectangle 22"/>
          <p:cNvSpPr/>
          <p:nvPr/>
        </p:nvSpPr>
        <p:spPr>
          <a:xfrm>
            <a:off x="438912" y="2825496"/>
            <a:ext cx="361188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 y="2862072"/>
            <a:ext cx="2011680" cy="228600"/>
          </a:xfrm>
          <a:prstGeom prst="rect">
            <a:avLst/>
          </a:prstGeom>
          <a:noFill/>
        </p:spPr>
        <p:txBody>
          <a:bodyPr wrap="square">
            <a:spAutoFit/>
          </a:bodyPr>
          <a:lstStyle/>
          <a:p>
            <a:pPr algn="l"/>
            <a:r>
              <a:rPr sz="850" b="0" i="0">
                <a:solidFill>
                  <a:srgbClr val="2C3E50"/>
                </a:solidFill>
              </a:rPr>
              <a:t>Sharpe NIMF|ABSL</a:t>
            </a:r>
          </a:p>
        </p:txBody>
      </p:sp>
      <p:sp>
        <p:nvSpPr>
          <p:cNvPr id="25" name="TextBox 24"/>
          <p:cNvSpPr txBox="1"/>
          <p:nvPr/>
        </p:nvSpPr>
        <p:spPr>
          <a:xfrm>
            <a:off x="2514600" y="2862072"/>
            <a:ext cx="1463040" cy="228600"/>
          </a:xfrm>
          <a:prstGeom prst="rect">
            <a:avLst/>
          </a:prstGeom>
          <a:noFill/>
        </p:spPr>
        <p:txBody>
          <a:bodyPr wrap="square">
            <a:spAutoFit/>
          </a:bodyPr>
          <a:lstStyle/>
          <a:p>
            <a:pPr algn="r"/>
            <a:r>
              <a:rPr sz="900" b="1" i="0">
                <a:solidFill>
                  <a:srgbClr val="27AE60"/>
                </a:solidFill>
              </a:rPr>
              <a:t>0.805|0.634</a:t>
            </a:r>
          </a:p>
        </p:txBody>
      </p:sp>
      <p:sp>
        <p:nvSpPr>
          <p:cNvPr id="26" name="Rectangle 25"/>
          <p:cNvSpPr/>
          <p:nvPr/>
        </p:nvSpPr>
        <p:spPr>
          <a:xfrm>
            <a:off x="438912" y="3127248"/>
            <a:ext cx="3611880" cy="29260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5488" y="3163824"/>
            <a:ext cx="2011680" cy="228600"/>
          </a:xfrm>
          <a:prstGeom prst="rect">
            <a:avLst/>
          </a:prstGeom>
          <a:noFill/>
        </p:spPr>
        <p:txBody>
          <a:bodyPr wrap="square">
            <a:spAutoFit/>
          </a:bodyPr>
          <a:lstStyle/>
          <a:p>
            <a:pPr algn="l"/>
            <a:r>
              <a:rPr sz="850" b="0" i="0">
                <a:solidFill>
                  <a:srgbClr val="2C3E50"/>
                </a:solidFill>
              </a:rPr>
              <a:t>Max DD NIMF|ABSL</a:t>
            </a:r>
          </a:p>
        </p:txBody>
      </p:sp>
      <p:sp>
        <p:nvSpPr>
          <p:cNvPr id="28" name="TextBox 27"/>
          <p:cNvSpPr txBox="1"/>
          <p:nvPr/>
        </p:nvSpPr>
        <p:spPr>
          <a:xfrm>
            <a:off x="2514600" y="3163824"/>
            <a:ext cx="1463040" cy="228600"/>
          </a:xfrm>
          <a:prstGeom prst="rect">
            <a:avLst/>
          </a:prstGeom>
          <a:noFill/>
        </p:spPr>
        <p:txBody>
          <a:bodyPr wrap="square">
            <a:spAutoFit/>
          </a:bodyPr>
          <a:lstStyle/>
          <a:p>
            <a:pPr algn="r"/>
            <a:r>
              <a:rPr sz="900" b="1" i="0">
                <a:solidFill>
                  <a:srgbClr val="E87A1E"/>
                </a:solidFill>
              </a:rPr>
              <a:t>–6.96%|–7.81%</a:t>
            </a:r>
          </a:p>
        </p:txBody>
      </p:sp>
      <p:sp>
        <p:nvSpPr>
          <p:cNvPr id="29" name="Rectangle 28"/>
          <p:cNvSpPr/>
          <p:nvPr/>
        </p:nvSpPr>
        <p:spPr>
          <a:xfrm>
            <a:off x="438912" y="3429000"/>
            <a:ext cx="361188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5488" y="3465576"/>
            <a:ext cx="2011680" cy="228600"/>
          </a:xfrm>
          <a:prstGeom prst="rect">
            <a:avLst/>
          </a:prstGeom>
          <a:noFill/>
        </p:spPr>
        <p:txBody>
          <a:bodyPr wrap="square">
            <a:spAutoFit/>
          </a:bodyPr>
          <a:lstStyle/>
          <a:p>
            <a:pPr algn="l"/>
            <a:r>
              <a:rPr sz="850" b="0" i="0">
                <a:solidFill>
                  <a:srgbClr val="2C3E50"/>
                </a:solidFill>
              </a:rPr>
              <a:t>Upside Capture NIMF</a:t>
            </a:r>
          </a:p>
        </p:txBody>
      </p:sp>
      <p:sp>
        <p:nvSpPr>
          <p:cNvPr id="31" name="TextBox 30"/>
          <p:cNvSpPr txBox="1"/>
          <p:nvPr/>
        </p:nvSpPr>
        <p:spPr>
          <a:xfrm>
            <a:off x="2514600" y="3465576"/>
            <a:ext cx="1463040" cy="228600"/>
          </a:xfrm>
          <a:prstGeom prst="rect">
            <a:avLst/>
          </a:prstGeom>
          <a:noFill/>
        </p:spPr>
        <p:txBody>
          <a:bodyPr wrap="square">
            <a:spAutoFit/>
          </a:bodyPr>
          <a:lstStyle/>
          <a:p>
            <a:pPr algn="r"/>
            <a:r>
              <a:rPr sz="900" b="1" i="0">
                <a:solidFill>
                  <a:srgbClr val="27AE60"/>
                </a:solidFill>
              </a:rPr>
              <a:t>172.9%</a:t>
            </a:r>
          </a:p>
        </p:txBody>
      </p:sp>
      <p:sp>
        <p:nvSpPr>
          <p:cNvPr id="32" name="Rectangle 31"/>
          <p:cNvSpPr/>
          <p:nvPr/>
        </p:nvSpPr>
        <p:spPr>
          <a:xfrm>
            <a:off x="438912" y="3730752"/>
            <a:ext cx="3611880" cy="29260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75488" y="3767328"/>
            <a:ext cx="2011680" cy="228600"/>
          </a:xfrm>
          <a:prstGeom prst="rect">
            <a:avLst/>
          </a:prstGeom>
          <a:noFill/>
        </p:spPr>
        <p:txBody>
          <a:bodyPr wrap="square">
            <a:spAutoFit/>
          </a:bodyPr>
          <a:lstStyle/>
          <a:p>
            <a:pPr algn="l"/>
            <a:r>
              <a:rPr sz="850" b="0" i="0" dirty="0">
                <a:solidFill>
                  <a:srgbClr val="2C3E50"/>
                </a:solidFill>
              </a:rPr>
              <a:t>Downside Capture NIMF</a:t>
            </a:r>
          </a:p>
        </p:txBody>
      </p:sp>
      <p:sp>
        <p:nvSpPr>
          <p:cNvPr id="34" name="TextBox 33"/>
          <p:cNvSpPr txBox="1"/>
          <p:nvPr/>
        </p:nvSpPr>
        <p:spPr>
          <a:xfrm>
            <a:off x="2514600" y="3767328"/>
            <a:ext cx="1463040" cy="228600"/>
          </a:xfrm>
          <a:prstGeom prst="rect">
            <a:avLst/>
          </a:prstGeom>
          <a:noFill/>
        </p:spPr>
        <p:txBody>
          <a:bodyPr wrap="square">
            <a:spAutoFit/>
          </a:bodyPr>
          <a:lstStyle/>
          <a:p>
            <a:pPr algn="r"/>
            <a:r>
              <a:rPr sz="900" b="1" i="0" dirty="0">
                <a:solidFill>
                  <a:srgbClr val="27AE60"/>
                </a:solidFill>
              </a:rPr>
              <a:t>95</a:t>
            </a:r>
            <a:r>
              <a:rPr lang="en-IN" sz="900" b="1" i="0" dirty="0">
                <a:solidFill>
                  <a:srgbClr val="27AE60"/>
                </a:solidFill>
              </a:rPr>
              <a:t>.1</a:t>
            </a:r>
            <a:r>
              <a:rPr sz="900" b="1" i="0" dirty="0">
                <a:solidFill>
                  <a:srgbClr val="27AE60"/>
                </a:solidFill>
              </a:rPr>
              <a:t>%</a:t>
            </a:r>
          </a:p>
        </p:txBody>
      </p:sp>
      <p:sp>
        <p:nvSpPr>
          <p:cNvPr id="35" name="Rectangle 34"/>
          <p:cNvSpPr/>
          <p:nvPr/>
        </p:nvSpPr>
        <p:spPr>
          <a:xfrm>
            <a:off x="438912" y="4078224"/>
            <a:ext cx="3611880" cy="713232"/>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2920" y="4105656"/>
            <a:ext cx="3429000" cy="658368"/>
          </a:xfrm>
          <a:prstGeom prst="rect">
            <a:avLst/>
          </a:prstGeom>
          <a:noFill/>
        </p:spPr>
        <p:txBody>
          <a:bodyPr wrap="square">
            <a:spAutoFit/>
          </a:bodyPr>
          <a:lstStyle/>
          <a:p>
            <a:pPr algn="l"/>
            <a:r>
              <a:rPr sz="850" b="0" i="0" dirty="0">
                <a:solidFill>
                  <a:srgbClr val="2C3E50"/>
                </a:solidFill>
              </a:rPr>
              <a:t>MFI exposure additive (+19.7% excess).
Both funds crushed weak benchmark.
HDFC merger tailwinds benefited all.</a:t>
            </a:r>
          </a:p>
        </p:txBody>
      </p:sp>
      <p:sp>
        <p:nvSpPr>
          <p:cNvPr id="37" name="Rectangle 36"/>
          <p:cNvSpPr/>
          <p:nvPr/>
        </p:nvSpPr>
        <p:spPr>
          <a:xfrm>
            <a:off x="4279392" y="1298448"/>
            <a:ext cx="3749039" cy="4434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279392" y="1298448"/>
            <a:ext cx="3749039" cy="5486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370832" y="1229275"/>
            <a:ext cx="3611880" cy="274320"/>
          </a:xfrm>
          <a:prstGeom prst="rect">
            <a:avLst/>
          </a:prstGeom>
          <a:noFill/>
        </p:spPr>
        <p:txBody>
          <a:bodyPr wrap="square">
            <a:spAutoFit/>
          </a:bodyPr>
          <a:lstStyle/>
          <a:p>
            <a:pPr algn="ctr"/>
            <a:r>
              <a:rPr sz="1100" b="1" i="0" dirty="0">
                <a:solidFill>
                  <a:srgbClr val="FFFFFF"/>
                </a:solidFill>
              </a:rPr>
              <a:t>TIGHTENING REGIME ★</a:t>
            </a:r>
          </a:p>
        </p:txBody>
      </p:sp>
      <p:sp>
        <p:nvSpPr>
          <p:cNvPr id="40" name="TextBox 39"/>
          <p:cNvSpPr txBox="1"/>
          <p:nvPr/>
        </p:nvSpPr>
        <p:spPr>
          <a:xfrm>
            <a:off x="4370832" y="1485307"/>
            <a:ext cx="3611880" cy="223138"/>
          </a:xfrm>
          <a:prstGeom prst="rect">
            <a:avLst/>
          </a:prstGeom>
          <a:noFill/>
        </p:spPr>
        <p:txBody>
          <a:bodyPr wrap="square">
            <a:spAutoFit/>
          </a:bodyPr>
          <a:lstStyle/>
          <a:p>
            <a:pPr algn="ctr"/>
            <a:r>
              <a:rPr sz="850" b="0" i="0" dirty="0">
                <a:solidFill>
                  <a:srgbClr val="CADCFC"/>
                </a:solidFill>
              </a:rPr>
              <a:t>Nov 2023 </a:t>
            </a:r>
            <a:r>
              <a:rPr lang="en-IN" sz="850" b="0" i="0" dirty="0">
                <a:solidFill>
                  <a:srgbClr val="CADCFC"/>
                </a:solidFill>
              </a:rPr>
              <a:t>-</a:t>
            </a:r>
            <a:r>
              <a:rPr sz="850" b="0" i="0" dirty="0">
                <a:solidFill>
                  <a:srgbClr val="CADCFC"/>
                </a:solidFill>
              </a:rPr>
              <a:t> Jan 2025 (15M)</a:t>
            </a:r>
          </a:p>
        </p:txBody>
      </p:sp>
      <p:sp>
        <p:nvSpPr>
          <p:cNvPr id="41" name="TextBox 40"/>
          <p:cNvSpPr txBox="1"/>
          <p:nvPr/>
        </p:nvSpPr>
        <p:spPr>
          <a:xfrm>
            <a:off x="4370832" y="1677331"/>
            <a:ext cx="3611880" cy="201168"/>
          </a:xfrm>
          <a:prstGeom prst="rect">
            <a:avLst/>
          </a:prstGeom>
          <a:noFill/>
        </p:spPr>
        <p:txBody>
          <a:bodyPr wrap="square">
            <a:spAutoFit/>
          </a:bodyPr>
          <a:lstStyle/>
          <a:p>
            <a:pPr algn="ctr"/>
            <a:r>
              <a:rPr sz="800" b="1" i="0">
                <a:solidFill>
                  <a:srgbClr val="CADCFC"/>
                </a:solidFill>
              </a:rPr>
              <a:t>Alpha Crucible: 4.18% Gap Crystallised</a:t>
            </a:r>
          </a:p>
        </p:txBody>
      </p:sp>
      <p:sp>
        <p:nvSpPr>
          <p:cNvPr id="42" name="Rectangle 41"/>
          <p:cNvSpPr/>
          <p:nvPr/>
        </p:nvSpPr>
        <p:spPr>
          <a:xfrm>
            <a:off x="4352544" y="1920240"/>
            <a:ext cx="3611880" cy="29260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389120" y="1956816"/>
            <a:ext cx="2011680" cy="228600"/>
          </a:xfrm>
          <a:prstGeom prst="rect">
            <a:avLst/>
          </a:prstGeom>
          <a:noFill/>
        </p:spPr>
        <p:txBody>
          <a:bodyPr wrap="square">
            <a:spAutoFit/>
          </a:bodyPr>
          <a:lstStyle/>
          <a:p>
            <a:pPr algn="l"/>
            <a:r>
              <a:rPr sz="850" b="0" i="0">
                <a:solidFill>
                  <a:srgbClr val="2C3E50"/>
                </a:solidFill>
              </a:rPr>
              <a:t>Ann. Return (NIMF)</a:t>
            </a:r>
          </a:p>
        </p:txBody>
      </p:sp>
      <p:sp>
        <p:nvSpPr>
          <p:cNvPr id="44" name="TextBox 43"/>
          <p:cNvSpPr txBox="1"/>
          <p:nvPr/>
        </p:nvSpPr>
        <p:spPr>
          <a:xfrm>
            <a:off x="6428232" y="1956816"/>
            <a:ext cx="1463040" cy="228600"/>
          </a:xfrm>
          <a:prstGeom prst="rect">
            <a:avLst/>
          </a:prstGeom>
          <a:noFill/>
        </p:spPr>
        <p:txBody>
          <a:bodyPr wrap="square">
            <a:spAutoFit/>
          </a:bodyPr>
          <a:lstStyle/>
          <a:p>
            <a:pPr algn="r"/>
            <a:r>
              <a:rPr sz="900" b="1" i="0" dirty="0">
                <a:solidFill>
                  <a:srgbClr val="236FB4"/>
                </a:solidFill>
              </a:rPr>
              <a:t>16.30%</a:t>
            </a:r>
          </a:p>
        </p:txBody>
      </p:sp>
      <p:sp>
        <p:nvSpPr>
          <p:cNvPr id="45" name="Rectangle 44"/>
          <p:cNvSpPr/>
          <p:nvPr/>
        </p:nvSpPr>
        <p:spPr>
          <a:xfrm>
            <a:off x="4352544" y="2221992"/>
            <a:ext cx="361188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389120" y="2258568"/>
            <a:ext cx="2011680" cy="228600"/>
          </a:xfrm>
          <a:prstGeom prst="rect">
            <a:avLst/>
          </a:prstGeom>
          <a:noFill/>
        </p:spPr>
        <p:txBody>
          <a:bodyPr wrap="square">
            <a:spAutoFit/>
          </a:bodyPr>
          <a:lstStyle/>
          <a:p>
            <a:pPr algn="l"/>
            <a:r>
              <a:rPr sz="850" b="0" i="0">
                <a:solidFill>
                  <a:srgbClr val="2C3E50"/>
                </a:solidFill>
              </a:rPr>
              <a:t>Ann. Return (ABSL)</a:t>
            </a:r>
          </a:p>
        </p:txBody>
      </p:sp>
      <p:sp>
        <p:nvSpPr>
          <p:cNvPr id="47" name="TextBox 46"/>
          <p:cNvSpPr txBox="1"/>
          <p:nvPr/>
        </p:nvSpPr>
        <p:spPr>
          <a:xfrm>
            <a:off x="6428232" y="2258568"/>
            <a:ext cx="1463040" cy="228600"/>
          </a:xfrm>
          <a:prstGeom prst="rect">
            <a:avLst/>
          </a:prstGeom>
          <a:noFill/>
        </p:spPr>
        <p:txBody>
          <a:bodyPr wrap="square">
            <a:spAutoFit/>
          </a:bodyPr>
          <a:lstStyle/>
          <a:p>
            <a:pPr algn="r"/>
            <a:r>
              <a:rPr sz="900" b="1" i="0">
                <a:solidFill>
                  <a:srgbClr val="E87A1E"/>
                </a:solidFill>
              </a:rPr>
              <a:t>12.12%</a:t>
            </a:r>
          </a:p>
        </p:txBody>
      </p:sp>
      <p:sp>
        <p:nvSpPr>
          <p:cNvPr id="48" name="Rectangle 47"/>
          <p:cNvSpPr/>
          <p:nvPr/>
        </p:nvSpPr>
        <p:spPr>
          <a:xfrm>
            <a:off x="4352544" y="2523744"/>
            <a:ext cx="3611880" cy="29260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389120" y="2560320"/>
            <a:ext cx="2011680" cy="228600"/>
          </a:xfrm>
          <a:prstGeom prst="rect">
            <a:avLst/>
          </a:prstGeom>
          <a:noFill/>
        </p:spPr>
        <p:txBody>
          <a:bodyPr wrap="square">
            <a:spAutoFit/>
          </a:bodyPr>
          <a:lstStyle/>
          <a:p>
            <a:pPr algn="l"/>
            <a:r>
              <a:rPr sz="850" b="0" i="0">
                <a:solidFill>
                  <a:srgbClr val="2C3E50"/>
                </a:solidFill>
              </a:rPr>
              <a:t>Ann. Return (Bench)</a:t>
            </a:r>
          </a:p>
        </p:txBody>
      </p:sp>
      <p:sp>
        <p:nvSpPr>
          <p:cNvPr id="50" name="TextBox 49"/>
          <p:cNvSpPr txBox="1"/>
          <p:nvPr/>
        </p:nvSpPr>
        <p:spPr>
          <a:xfrm>
            <a:off x="6428232" y="2560320"/>
            <a:ext cx="1463040" cy="228600"/>
          </a:xfrm>
          <a:prstGeom prst="rect">
            <a:avLst/>
          </a:prstGeom>
          <a:noFill/>
        </p:spPr>
        <p:txBody>
          <a:bodyPr wrap="square">
            <a:spAutoFit/>
          </a:bodyPr>
          <a:lstStyle/>
          <a:p>
            <a:pPr algn="r"/>
            <a:r>
              <a:rPr sz="900" b="1" i="0">
                <a:solidFill>
                  <a:srgbClr val="95A5A6"/>
                </a:solidFill>
              </a:rPr>
              <a:t>17.39%</a:t>
            </a:r>
          </a:p>
        </p:txBody>
      </p:sp>
      <p:sp>
        <p:nvSpPr>
          <p:cNvPr id="51" name="Rectangle 50"/>
          <p:cNvSpPr/>
          <p:nvPr/>
        </p:nvSpPr>
        <p:spPr>
          <a:xfrm>
            <a:off x="4352544" y="2825496"/>
            <a:ext cx="361188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389120" y="2862072"/>
            <a:ext cx="2011680" cy="228600"/>
          </a:xfrm>
          <a:prstGeom prst="rect">
            <a:avLst/>
          </a:prstGeom>
          <a:noFill/>
        </p:spPr>
        <p:txBody>
          <a:bodyPr wrap="square">
            <a:spAutoFit/>
          </a:bodyPr>
          <a:lstStyle/>
          <a:p>
            <a:pPr algn="l"/>
            <a:r>
              <a:rPr sz="850" b="0" i="0">
                <a:solidFill>
                  <a:srgbClr val="2C3E50"/>
                </a:solidFill>
              </a:rPr>
              <a:t>Sharpe NIMF|ABSL</a:t>
            </a:r>
          </a:p>
        </p:txBody>
      </p:sp>
      <p:sp>
        <p:nvSpPr>
          <p:cNvPr id="53" name="TextBox 52"/>
          <p:cNvSpPr txBox="1"/>
          <p:nvPr/>
        </p:nvSpPr>
        <p:spPr>
          <a:xfrm>
            <a:off x="6428232" y="2862072"/>
            <a:ext cx="1463040" cy="228600"/>
          </a:xfrm>
          <a:prstGeom prst="rect">
            <a:avLst/>
          </a:prstGeom>
          <a:noFill/>
        </p:spPr>
        <p:txBody>
          <a:bodyPr wrap="square">
            <a:spAutoFit/>
          </a:bodyPr>
          <a:lstStyle/>
          <a:p>
            <a:pPr algn="r"/>
            <a:r>
              <a:rPr sz="900" b="1" i="0">
                <a:solidFill>
                  <a:srgbClr val="27AE60"/>
                </a:solidFill>
              </a:rPr>
              <a:t>0.827|0.423</a:t>
            </a:r>
          </a:p>
        </p:txBody>
      </p:sp>
      <p:sp>
        <p:nvSpPr>
          <p:cNvPr id="54" name="Rectangle 53"/>
          <p:cNvSpPr/>
          <p:nvPr/>
        </p:nvSpPr>
        <p:spPr>
          <a:xfrm>
            <a:off x="4352544" y="3127248"/>
            <a:ext cx="3611880" cy="29260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389120" y="3163824"/>
            <a:ext cx="2011680" cy="228600"/>
          </a:xfrm>
          <a:prstGeom prst="rect">
            <a:avLst/>
          </a:prstGeom>
          <a:noFill/>
        </p:spPr>
        <p:txBody>
          <a:bodyPr wrap="square">
            <a:spAutoFit/>
          </a:bodyPr>
          <a:lstStyle/>
          <a:p>
            <a:pPr algn="l"/>
            <a:r>
              <a:rPr sz="850" b="0" i="0">
                <a:solidFill>
                  <a:srgbClr val="2C3E50"/>
                </a:solidFill>
              </a:rPr>
              <a:t>Max DD NIMF|ABSL</a:t>
            </a:r>
          </a:p>
        </p:txBody>
      </p:sp>
      <p:sp>
        <p:nvSpPr>
          <p:cNvPr id="56" name="TextBox 55"/>
          <p:cNvSpPr txBox="1"/>
          <p:nvPr/>
        </p:nvSpPr>
        <p:spPr>
          <a:xfrm>
            <a:off x="6428232" y="3163824"/>
            <a:ext cx="1463040" cy="228600"/>
          </a:xfrm>
          <a:prstGeom prst="rect">
            <a:avLst/>
          </a:prstGeom>
          <a:noFill/>
        </p:spPr>
        <p:txBody>
          <a:bodyPr wrap="square">
            <a:spAutoFit/>
          </a:bodyPr>
          <a:lstStyle/>
          <a:p>
            <a:pPr algn="r"/>
            <a:r>
              <a:rPr sz="900" b="1" i="0">
                <a:solidFill>
                  <a:srgbClr val="C0392B"/>
                </a:solidFill>
              </a:rPr>
              <a:t>–7.86%|–9.81%</a:t>
            </a:r>
          </a:p>
        </p:txBody>
      </p:sp>
      <p:sp>
        <p:nvSpPr>
          <p:cNvPr id="57" name="Rectangle 56"/>
          <p:cNvSpPr/>
          <p:nvPr/>
        </p:nvSpPr>
        <p:spPr>
          <a:xfrm>
            <a:off x="4352544" y="3429000"/>
            <a:ext cx="361188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389120" y="3465576"/>
            <a:ext cx="2011680" cy="228600"/>
          </a:xfrm>
          <a:prstGeom prst="rect">
            <a:avLst/>
          </a:prstGeom>
          <a:noFill/>
        </p:spPr>
        <p:txBody>
          <a:bodyPr wrap="square">
            <a:spAutoFit/>
          </a:bodyPr>
          <a:lstStyle/>
          <a:p>
            <a:pPr algn="l"/>
            <a:r>
              <a:rPr sz="850" b="0" i="0">
                <a:solidFill>
                  <a:srgbClr val="2C3E50"/>
                </a:solidFill>
              </a:rPr>
              <a:t>Upside Capture NIMF</a:t>
            </a:r>
          </a:p>
        </p:txBody>
      </p:sp>
      <p:sp>
        <p:nvSpPr>
          <p:cNvPr id="59" name="TextBox 58"/>
          <p:cNvSpPr txBox="1"/>
          <p:nvPr/>
        </p:nvSpPr>
        <p:spPr>
          <a:xfrm>
            <a:off x="6428232" y="3465576"/>
            <a:ext cx="1463040" cy="228600"/>
          </a:xfrm>
          <a:prstGeom prst="rect">
            <a:avLst/>
          </a:prstGeom>
          <a:noFill/>
        </p:spPr>
        <p:txBody>
          <a:bodyPr wrap="square">
            <a:spAutoFit/>
          </a:bodyPr>
          <a:lstStyle/>
          <a:p>
            <a:pPr algn="r"/>
            <a:r>
              <a:rPr sz="900" b="1" i="0">
                <a:solidFill>
                  <a:srgbClr val="E87A1E"/>
                </a:solidFill>
              </a:rPr>
              <a:t>71.8%</a:t>
            </a:r>
          </a:p>
        </p:txBody>
      </p:sp>
      <p:sp>
        <p:nvSpPr>
          <p:cNvPr id="60" name="Rectangle 59"/>
          <p:cNvSpPr/>
          <p:nvPr/>
        </p:nvSpPr>
        <p:spPr>
          <a:xfrm>
            <a:off x="4352544" y="3730752"/>
            <a:ext cx="3611880" cy="29260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389120" y="3767328"/>
            <a:ext cx="2011680" cy="228600"/>
          </a:xfrm>
          <a:prstGeom prst="rect">
            <a:avLst/>
          </a:prstGeom>
          <a:noFill/>
        </p:spPr>
        <p:txBody>
          <a:bodyPr wrap="square">
            <a:spAutoFit/>
          </a:bodyPr>
          <a:lstStyle/>
          <a:p>
            <a:pPr algn="l"/>
            <a:r>
              <a:rPr sz="850" b="0" i="0">
                <a:solidFill>
                  <a:srgbClr val="2C3E50"/>
                </a:solidFill>
              </a:rPr>
              <a:t>Downside Capture NIMF</a:t>
            </a:r>
          </a:p>
        </p:txBody>
      </p:sp>
      <p:sp>
        <p:nvSpPr>
          <p:cNvPr id="62" name="TextBox 61"/>
          <p:cNvSpPr txBox="1"/>
          <p:nvPr/>
        </p:nvSpPr>
        <p:spPr>
          <a:xfrm>
            <a:off x="6428232" y="3767328"/>
            <a:ext cx="1463040" cy="228600"/>
          </a:xfrm>
          <a:prstGeom prst="rect">
            <a:avLst/>
          </a:prstGeom>
          <a:noFill/>
        </p:spPr>
        <p:txBody>
          <a:bodyPr wrap="square">
            <a:spAutoFit/>
          </a:bodyPr>
          <a:lstStyle/>
          <a:p>
            <a:pPr algn="r"/>
            <a:r>
              <a:rPr sz="900" b="1" i="0" dirty="0">
                <a:solidFill>
                  <a:srgbClr val="E87A1E"/>
                </a:solidFill>
              </a:rPr>
              <a:t>1</a:t>
            </a:r>
            <a:r>
              <a:rPr lang="en-IN" sz="900" b="1" i="0" dirty="0">
                <a:solidFill>
                  <a:srgbClr val="E87A1E"/>
                </a:solidFill>
              </a:rPr>
              <a:t>09.51</a:t>
            </a:r>
            <a:r>
              <a:rPr sz="900" b="1" i="0" dirty="0">
                <a:solidFill>
                  <a:srgbClr val="E87A1E"/>
                </a:solidFill>
              </a:rPr>
              <a:t>%</a:t>
            </a:r>
          </a:p>
        </p:txBody>
      </p:sp>
      <p:sp>
        <p:nvSpPr>
          <p:cNvPr id="63" name="Rectangle 62"/>
          <p:cNvSpPr/>
          <p:nvPr/>
        </p:nvSpPr>
        <p:spPr>
          <a:xfrm>
            <a:off x="4352544" y="4078224"/>
            <a:ext cx="3611880" cy="713232"/>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416552" y="4105656"/>
            <a:ext cx="3429000" cy="484748"/>
          </a:xfrm>
          <a:prstGeom prst="rect">
            <a:avLst/>
          </a:prstGeom>
          <a:noFill/>
        </p:spPr>
        <p:txBody>
          <a:bodyPr wrap="square">
            <a:spAutoFit/>
          </a:bodyPr>
          <a:lstStyle/>
          <a:p>
            <a:pPr algn="l"/>
            <a:r>
              <a:rPr sz="850" b="0" i="0" dirty="0">
                <a:solidFill>
                  <a:srgbClr val="2C3E50"/>
                </a:solidFill>
              </a:rPr>
              <a:t>80% of 3Y alpha generated here.
NIMF's other </a:t>
            </a:r>
            <a:r>
              <a:rPr lang="en-IN" sz="850" b="0" i="0" dirty="0">
                <a:solidFill>
                  <a:srgbClr val="2C3E50"/>
                </a:solidFill>
              </a:rPr>
              <a:t>67% to 73%</a:t>
            </a:r>
            <a:r>
              <a:rPr sz="850" b="0" i="0" dirty="0">
                <a:solidFill>
                  <a:srgbClr val="2C3E50"/>
                </a:solidFill>
              </a:rPr>
              <a:t> portfolio</a:t>
            </a:r>
            <a:r>
              <a:rPr lang="en-IN" sz="850" b="0" i="0" dirty="0">
                <a:solidFill>
                  <a:srgbClr val="2C3E50"/>
                </a:solidFill>
              </a:rPr>
              <a:t> delivered</a:t>
            </a:r>
            <a:r>
              <a:rPr sz="850" b="0" i="0" dirty="0">
                <a:solidFill>
                  <a:srgbClr val="2C3E50"/>
                </a:solidFill>
              </a:rPr>
              <a:t> +5.</a:t>
            </a:r>
            <a:r>
              <a:rPr lang="en-IN" sz="850" b="0" i="0" dirty="0">
                <a:solidFill>
                  <a:srgbClr val="2C3E50"/>
                </a:solidFill>
              </a:rPr>
              <a:t>12</a:t>
            </a:r>
            <a:r>
              <a:rPr sz="850" b="0" i="0" dirty="0">
                <a:solidFill>
                  <a:srgbClr val="2C3E50"/>
                </a:solidFill>
              </a:rPr>
              <a:t>% edge.
Benchmark outperformed both funds.</a:t>
            </a:r>
          </a:p>
        </p:txBody>
      </p:sp>
      <p:sp>
        <p:nvSpPr>
          <p:cNvPr id="65" name="Rectangle 64"/>
          <p:cNvSpPr/>
          <p:nvPr/>
        </p:nvSpPr>
        <p:spPr>
          <a:xfrm>
            <a:off x="8193024" y="1298448"/>
            <a:ext cx="3749039" cy="4434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8193024" y="1298448"/>
            <a:ext cx="3749039" cy="5486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266176" y="1238977"/>
            <a:ext cx="3611880" cy="274320"/>
          </a:xfrm>
          <a:prstGeom prst="rect">
            <a:avLst/>
          </a:prstGeom>
          <a:noFill/>
        </p:spPr>
        <p:txBody>
          <a:bodyPr wrap="square">
            <a:spAutoFit/>
          </a:bodyPr>
          <a:lstStyle/>
          <a:p>
            <a:pPr algn="ctr"/>
            <a:r>
              <a:rPr sz="1100" b="1" i="0" dirty="0">
                <a:solidFill>
                  <a:srgbClr val="FFFFFF"/>
                </a:solidFill>
              </a:rPr>
              <a:t>POST-EASING REGIME</a:t>
            </a:r>
          </a:p>
        </p:txBody>
      </p:sp>
      <p:sp>
        <p:nvSpPr>
          <p:cNvPr id="68" name="TextBox 67"/>
          <p:cNvSpPr txBox="1"/>
          <p:nvPr/>
        </p:nvSpPr>
        <p:spPr>
          <a:xfrm>
            <a:off x="8266176" y="1495009"/>
            <a:ext cx="3611880" cy="223138"/>
          </a:xfrm>
          <a:prstGeom prst="rect">
            <a:avLst/>
          </a:prstGeom>
          <a:noFill/>
        </p:spPr>
        <p:txBody>
          <a:bodyPr wrap="square">
            <a:spAutoFit/>
          </a:bodyPr>
          <a:lstStyle/>
          <a:p>
            <a:pPr algn="ctr"/>
            <a:r>
              <a:rPr sz="850" b="0" i="0" dirty="0">
                <a:solidFill>
                  <a:srgbClr val="FFFFFF"/>
                </a:solidFill>
              </a:rPr>
              <a:t>Feb 2025 </a:t>
            </a:r>
            <a:r>
              <a:rPr lang="en-IN" sz="850" b="0" i="0" dirty="0">
                <a:solidFill>
                  <a:srgbClr val="FFFFFF"/>
                </a:solidFill>
              </a:rPr>
              <a:t>-</a:t>
            </a:r>
            <a:r>
              <a:rPr sz="850" b="0" i="0" dirty="0">
                <a:solidFill>
                  <a:srgbClr val="FFFFFF"/>
                </a:solidFill>
              </a:rPr>
              <a:t> Oct 2025 (9M)</a:t>
            </a:r>
          </a:p>
        </p:txBody>
      </p:sp>
      <p:sp>
        <p:nvSpPr>
          <p:cNvPr id="69" name="TextBox 68"/>
          <p:cNvSpPr txBox="1"/>
          <p:nvPr/>
        </p:nvSpPr>
        <p:spPr>
          <a:xfrm>
            <a:off x="8266176" y="1687033"/>
            <a:ext cx="3611880" cy="201168"/>
          </a:xfrm>
          <a:prstGeom prst="rect">
            <a:avLst/>
          </a:prstGeom>
          <a:noFill/>
        </p:spPr>
        <p:txBody>
          <a:bodyPr wrap="square">
            <a:spAutoFit/>
          </a:bodyPr>
          <a:lstStyle/>
          <a:p>
            <a:pPr algn="ctr"/>
            <a:r>
              <a:rPr sz="800" b="1" i="0">
                <a:solidFill>
                  <a:srgbClr val="FFFFFF"/>
                </a:solidFill>
              </a:rPr>
              <a:t>Recovery: Convergence After Credit Shock</a:t>
            </a:r>
          </a:p>
        </p:txBody>
      </p:sp>
      <p:sp>
        <p:nvSpPr>
          <p:cNvPr id="70" name="Rectangle 69"/>
          <p:cNvSpPr/>
          <p:nvPr/>
        </p:nvSpPr>
        <p:spPr>
          <a:xfrm>
            <a:off x="8266176" y="1920240"/>
            <a:ext cx="3611880" cy="29260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02752" y="1956816"/>
            <a:ext cx="2011680" cy="228600"/>
          </a:xfrm>
          <a:prstGeom prst="rect">
            <a:avLst/>
          </a:prstGeom>
          <a:noFill/>
        </p:spPr>
        <p:txBody>
          <a:bodyPr wrap="square">
            <a:spAutoFit/>
          </a:bodyPr>
          <a:lstStyle/>
          <a:p>
            <a:pPr algn="l"/>
            <a:r>
              <a:rPr sz="850" b="0" i="0">
                <a:solidFill>
                  <a:srgbClr val="2C3E50"/>
                </a:solidFill>
              </a:rPr>
              <a:t>Ann. Return (NIMF)</a:t>
            </a:r>
          </a:p>
        </p:txBody>
      </p:sp>
      <p:sp>
        <p:nvSpPr>
          <p:cNvPr id="72" name="TextBox 71"/>
          <p:cNvSpPr txBox="1"/>
          <p:nvPr/>
        </p:nvSpPr>
        <p:spPr>
          <a:xfrm>
            <a:off x="10341864" y="1956816"/>
            <a:ext cx="1463040" cy="228600"/>
          </a:xfrm>
          <a:prstGeom prst="rect">
            <a:avLst/>
          </a:prstGeom>
          <a:noFill/>
        </p:spPr>
        <p:txBody>
          <a:bodyPr wrap="square">
            <a:spAutoFit/>
          </a:bodyPr>
          <a:lstStyle/>
          <a:p>
            <a:pPr algn="r"/>
            <a:r>
              <a:rPr sz="900" b="1" i="0">
                <a:solidFill>
                  <a:srgbClr val="236FB4"/>
                </a:solidFill>
              </a:rPr>
              <a:t>23.14%</a:t>
            </a:r>
          </a:p>
        </p:txBody>
      </p:sp>
      <p:sp>
        <p:nvSpPr>
          <p:cNvPr id="73" name="Rectangle 72"/>
          <p:cNvSpPr/>
          <p:nvPr/>
        </p:nvSpPr>
        <p:spPr>
          <a:xfrm>
            <a:off x="8266176" y="2221992"/>
            <a:ext cx="361188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302752" y="2258568"/>
            <a:ext cx="2011680" cy="228600"/>
          </a:xfrm>
          <a:prstGeom prst="rect">
            <a:avLst/>
          </a:prstGeom>
          <a:noFill/>
        </p:spPr>
        <p:txBody>
          <a:bodyPr wrap="square">
            <a:spAutoFit/>
          </a:bodyPr>
          <a:lstStyle/>
          <a:p>
            <a:pPr algn="l"/>
            <a:r>
              <a:rPr sz="850" b="0" i="0">
                <a:solidFill>
                  <a:srgbClr val="2C3E50"/>
                </a:solidFill>
              </a:rPr>
              <a:t>Ann. Return (ABSL)</a:t>
            </a:r>
          </a:p>
        </p:txBody>
      </p:sp>
      <p:sp>
        <p:nvSpPr>
          <p:cNvPr id="75" name="TextBox 74"/>
          <p:cNvSpPr txBox="1"/>
          <p:nvPr/>
        </p:nvSpPr>
        <p:spPr>
          <a:xfrm>
            <a:off x="10341864" y="2258568"/>
            <a:ext cx="1463040" cy="228600"/>
          </a:xfrm>
          <a:prstGeom prst="rect">
            <a:avLst/>
          </a:prstGeom>
          <a:noFill/>
        </p:spPr>
        <p:txBody>
          <a:bodyPr wrap="square">
            <a:spAutoFit/>
          </a:bodyPr>
          <a:lstStyle/>
          <a:p>
            <a:pPr algn="r"/>
            <a:r>
              <a:rPr sz="900" b="1" i="0">
                <a:solidFill>
                  <a:srgbClr val="E87A1E"/>
                </a:solidFill>
              </a:rPr>
              <a:t>24.49%</a:t>
            </a:r>
          </a:p>
        </p:txBody>
      </p:sp>
      <p:sp>
        <p:nvSpPr>
          <p:cNvPr id="76" name="Rectangle 75"/>
          <p:cNvSpPr/>
          <p:nvPr/>
        </p:nvSpPr>
        <p:spPr>
          <a:xfrm>
            <a:off x="8266176" y="2523744"/>
            <a:ext cx="3611880" cy="29260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8302752" y="2560320"/>
            <a:ext cx="2011680" cy="228600"/>
          </a:xfrm>
          <a:prstGeom prst="rect">
            <a:avLst/>
          </a:prstGeom>
          <a:noFill/>
        </p:spPr>
        <p:txBody>
          <a:bodyPr wrap="square">
            <a:spAutoFit/>
          </a:bodyPr>
          <a:lstStyle/>
          <a:p>
            <a:pPr algn="l"/>
            <a:r>
              <a:rPr sz="850" b="0" i="0">
                <a:solidFill>
                  <a:srgbClr val="2C3E50"/>
                </a:solidFill>
              </a:rPr>
              <a:t>Ann. Return (Bench)</a:t>
            </a:r>
          </a:p>
        </p:txBody>
      </p:sp>
      <p:sp>
        <p:nvSpPr>
          <p:cNvPr id="78" name="TextBox 77"/>
          <p:cNvSpPr txBox="1"/>
          <p:nvPr/>
        </p:nvSpPr>
        <p:spPr>
          <a:xfrm>
            <a:off x="10341864" y="2560320"/>
            <a:ext cx="1463040" cy="228600"/>
          </a:xfrm>
          <a:prstGeom prst="rect">
            <a:avLst/>
          </a:prstGeom>
          <a:noFill/>
        </p:spPr>
        <p:txBody>
          <a:bodyPr wrap="square">
            <a:spAutoFit/>
          </a:bodyPr>
          <a:lstStyle/>
          <a:p>
            <a:pPr algn="r"/>
            <a:r>
              <a:rPr sz="900" b="1" i="0">
                <a:solidFill>
                  <a:srgbClr val="95A5A6"/>
                </a:solidFill>
              </a:rPr>
              <a:t>24.68%</a:t>
            </a:r>
          </a:p>
        </p:txBody>
      </p:sp>
      <p:sp>
        <p:nvSpPr>
          <p:cNvPr id="79" name="Rectangle 78"/>
          <p:cNvSpPr/>
          <p:nvPr/>
        </p:nvSpPr>
        <p:spPr>
          <a:xfrm>
            <a:off x="8266176" y="2825496"/>
            <a:ext cx="361188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302752" y="2862072"/>
            <a:ext cx="2011680" cy="228600"/>
          </a:xfrm>
          <a:prstGeom prst="rect">
            <a:avLst/>
          </a:prstGeom>
          <a:noFill/>
        </p:spPr>
        <p:txBody>
          <a:bodyPr wrap="square">
            <a:spAutoFit/>
          </a:bodyPr>
          <a:lstStyle/>
          <a:p>
            <a:pPr algn="l"/>
            <a:r>
              <a:rPr sz="850" b="0" i="0">
                <a:solidFill>
                  <a:srgbClr val="2C3E50"/>
                </a:solidFill>
              </a:rPr>
              <a:t>Sharpe NIMF|ABSL</a:t>
            </a:r>
          </a:p>
        </p:txBody>
      </p:sp>
      <p:sp>
        <p:nvSpPr>
          <p:cNvPr id="81" name="TextBox 80"/>
          <p:cNvSpPr txBox="1"/>
          <p:nvPr/>
        </p:nvSpPr>
        <p:spPr>
          <a:xfrm>
            <a:off x="10341864" y="2862072"/>
            <a:ext cx="1463040" cy="228600"/>
          </a:xfrm>
          <a:prstGeom prst="rect">
            <a:avLst/>
          </a:prstGeom>
          <a:noFill/>
        </p:spPr>
        <p:txBody>
          <a:bodyPr wrap="square">
            <a:spAutoFit/>
          </a:bodyPr>
          <a:lstStyle/>
          <a:p>
            <a:pPr algn="r"/>
            <a:r>
              <a:rPr sz="900" b="1" i="0">
                <a:solidFill>
                  <a:srgbClr val="27AE60"/>
                </a:solidFill>
              </a:rPr>
              <a:t>1.170|1.276</a:t>
            </a:r>
          </a:p>
        </p:txBody>
      </p:sp>
      <p:sp>
        <p:nvSpPr>
          <p:cNvPr id="82" name="Rectangle 81"/>
          <p:cNvSpPr/>
          <p:nvPr/>
        </p:nvSpPr>
        <p:spPr>
          <a:xfrm>
            <a:off x="8266176" y="3127248"/>
            <a:ext cx="3611880" cy="29260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8302752" y="3163824"/>
            <a:ext cx="2011680" cy="228600"/>
          </a:xfrm>
          <a:prstGeom prst="rect">
            <a:avLst/>
          </a:prstGeom>
          <a:noFill/>
        </p:spPr>
        <p:txBody>
          <a:bodyPr wrap="square">
            <a:spAutoFit/>
          </a:bodyPr>
          <a:lstStyle/>
          <a:p>
            <a:pPr algn="l"/>
            <a:r>
              <a:rPr sz="850" b="0" i="0">
                <a:solidFill>
                  <a:srgbClr val="2C3E50"/>
                </a:solidFill>
              </a:rPr>
              <a:t>Max DD NIMF|ABSL</a:t>
            </a:r>
          </a:p>
        </p:txBody>
      </p:sp>
      <p:sp>
        <p:nvSpPr>
          <p:cNvPr id="84" name="TextBox 83"/>
          <p:cNvSpPr txBox="1"/>
          <p:nvPr/>
        </p:nvSpPr>
        <p:spPr>
          <a:xfrm>
            <a:off x="10341864" y="3163824"/>
            <a:ext cx="1463040" cy="228600"/>
          </a:xfrm>
          <a:prstGeom prst="rect">
            <a:avLst/>
          </a:prstGeom>
          <a:noFill/>
        </p:spPr>
        <p:txBody>
          <a:bodyPr wrap="square">
            <a:spAutoFit/>
          </a:bodyPr>
          <a:lstStyle/>
          <a:p>
            <a:pPr algn="r"/>
            <a:r>
              <a:rPr sz="900" b="1" i="0" dirty="0">
                <a:solidFill>
                  <a:srgbClr val="E87A1E"/>
                </a:solidFill>
              </a:rPr>
              <a:t>–7.62%|–6.71%</a:t>
            </a:r>
          </a:p>
        </p:txBody>
      </p:sp>
      <p:sp>
        <p:nvSpPr>
          <p:cNvPr id="85" name="Rectangle 84"/>
          <p:cNvSpPr/>
          <p:nvPr/>
        </p:nvSpPr>
        <p:spPr>
          <a:xfrm>
            <a:off x="8266176" y="3429000"/>
            <a:ext cx="361188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8302752" y="3465576"/>
            <a:ext cx="2011680" cy="228600"/>
          </a:xfrm>
          <a:prstGeom prst="rect">
            <a:avLst/>
          </a:prstGeom>
          <a:noFill/>
        </p:spPr>
        <p:txBody>
          <a:bodyPr wrap="square">
            <a:spAutoFit/>
          </a:bodyPr>
          <a:lstStyle/>
          <a:p>
            <a:pPr algn="l"/>
            <a:r>
              <a:rPr sz="850" b="0" i="0">
                <a:solidFill>
                  <a:srgbClr val="2C3E50"/>
                </a:solidFill>
              </a:rPr>
              <a:t>Upside Capture NIMF</a:t>
            </a:r>
          </a:p>
        </p:txBody>
      </p:sp>
      <p:sp>
        <p:nvSpPr>
          <p:cNvPr id="87" name="TextBox 86"/>
          <p:cNvSpPr txBox="1"/>
          <p:nvPr/>
        </p:nvSpPr>
        <p:spPr>
          <a:xfrm>
            <a:off x="10341864" y="3465576"/>
            <a:ext cx="1463040" cy="228600"/>
          </a:xfrm>
          <a:prstGeom prst="rect">
            <a:avLst/>
          </a:prstGeom>
          <a:noFill/>
        </p:spPr>
        <p:txBody>
          <a:bodyPr wrap="square">
            <a:spAutoFit/>
          </a:bodyPr>
          <a:lstStyle/>
          <a:p>
            <a:pPr algn="r"/>
            <a:r>
              <a:rPr sz="900" b="1" i="0">
                <a:solidFill>
                  <a:srgbClr val="27AE60"/>
                </a:solidFill>
              </a:rPr>
              <a:t>125.6%</a:t>
            </a:r>
          </a:p>
        </p:txBody>
      </p:sp>
      <p:sp>
        <p:nvSpPr>
          <p:cNvPr id="88" name="Rectangle 87"/>
          <p:cNvSpPr/>
          <p:nvPr/>
        </p:nvSpPr>
        <p:spPr>
          <a:xfrm>
            <a:off x="8266176" y="3730752"/>
            <a:ext cx="3611880" cy="292608"/>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8302752" y="3767328"/>
            <a:ext cx="2011680" cy="228600"/>
          </a:xfrm>
          <a:prstGeom prst="rect">
            <a:avLst/>
          </a:prstGeom>
          <a:noFill/>
        </p:spPr>
        <p:txBody>
          <a:bodyPr wrap="square">
            <a:spAutoFit/>
          </a:bodyPr>
          <a:lstStyle/>
          <a:p>
            <a:pPr algn="l"/>
            <a:r>
              <a:rPr sz="850" b="0" i="0">
                <a:solidFill>
                  <a:srgbClr val="2C3E50"/>
                </a:solidFill>
              </a:rPr>
              <a:t>Downside Capture NIMF</a:t>
            </a:r>
          </a:p>
        </p:txBody>
      </p:sp>
      <p:sp>
        <p:nvSpPr>
          <p:cNvPr id="90" name="TextBox 89"/>
          <p:cNvSpPr txBox="1"/>
          <p:nvPr/>
        </p:nvSpPr>
        <p:spPr>
          <a:xfrm>
            <a:off x="10341864" y="3767328"/>
            <a:ext cx="1463040" cy="228600"/>
          </a:xfrm>
          <a:prstGeom prst="rect">
            <a:avLst/>
          </a:prstGeom>
          <a:noFill/>
        </p:spPr>
        <p:txBody>
          <a:bodyPr wrap="square">
            <a:spAutoFit/>
          </a:bodyPr>
          <a:lstStyle/>
          <a:p>
            <a:pPr algn="r"/>
            <a:r>
              <a:rPr sz="900" b="1" i="0" dirty="0">
                <a:solidFill>
                  <a:srgbClr val="C0392B"/>
                </a:solidFill>
              </a:rPr>
              <a:t>190</a:t>
            </a:r>
            <a:r>
              <a:rPr lang="en-IN" sz="900" b="1" i="0" dirty="0">
                <a:solidFill>
                  <a:srgbClr val="C0392B"/>
                </a:solidFill>
              </a:rPr>
              <a:t>.47</a:t>
            </a:r>
            <a:r>
              <a:rPr sz="900" b="1" i="0" dirty="0">
                <a:solidFill>
                  <a:srgbClr val="C0392B"/>
                </a:solidFill>
              </a:rPr>
              <a:t>%</a:t>
            </a:r>
          </a:p>
        </p:txBody>
      </p:sp>
      <p:sp>
        <p:nvSpPr>
          <p:cNvPr id="91" name="Rectangle 90"/>
          <p:cNvSpPr/>
          <p:nvPr/>
        </p:nvSpPr>
        <p:spPr>
          <a:xfrm>
            <a:off x="8266176" y="4078224"/>
            <a:ext cx="3611880" cy="713232"/>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8330184" y="4105656"/>
            <a:ext cx="3429000" cy="658368"/>
          </a:xfrm>
          <a:prstGeom prst="rect">
            <a:avLst/>
          </a:prstGeom>
          <a:noFill/>
        </p:spPr>
        <p:txBody>
          <a:bodyPr wrap="square">
            <a:spAutoFit/>
          </a:bodyPr>
          <a:lstStyle/>
          <a:p>
            <a:pPr algn="l"/>
            <a:r>
              <a:rPr sz="850" b="0" i="0">
                <a:solidFill>
                  <a:srgbClr val="2C3E50"/>
                </a:solidFill>
              </a:rPr>
              <a:t>All-time highs achieved by Jul 2025.
ABSL led recovery (microfinance rebound).
Feb 2025 crash absorbed within regime.</a:t>
            </a:r>
          </a:p>
        </p:txBody>
      </p:sp>
      <p:sp>
        <p:nvSpPr>
          <p:cNvPr id="93" name="Rectangle 92"/>
          <p:cNvSpPr/>
          <p:nvPr/>
        </p:nvSpPr>
        <p:spPr>
          <a:xfrm>
            <a:off x="274320" y="5870448"/>
            <a:ext cx="11430000" cy="59436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365760" y="5907024"/>
            <a:ext cx="11155680" cy="384721"/>
          </a:xfrm>
          <a:prstGeom prst="rect">
            <a:avLst/>
          </a:prstGeom>
          <a:noFill/>
        </p:spPr>
        <p:txBody>
          <a:bodyPr wrap="square">
            <a:spAutoFit/>
          </a:bodyPr>
          <a:lstStyle/>
          <a:p>
            <a:pPr algn="l"/>
            <a:r>
              <a:rPr lang="en-US" sz="950" b="0" i="0" dirty="0">
                <a:solidFill>
                  <a:srgbClr val="FFFFFF"/>
                </a:solidFill>
              </a:rPr>
              <a:t>STRATEGIC IMPLICATION </a:t>
            </a:r>
            <a:r>
              <a:rPr sz="950" b="0" i="0" dirty="0">
                <a:solidFill>
                  <a:srgbClr val="FFFFFF"/>
                </a:solidFill>
              </a:rPr>
              <a:t>: </a:t>
            </a:r>
            <a:r>
              <a:rPr lang="en-US" sz="950" b="0" i="0" dirty="0">
                <a:solidFill>
                  <a:srgbClr val="FFFFFF"/>
                </a:solidFill>
              </a:rPr>
              <a:t>The Tightening regime is the performance inflection point. The NIMF Sharpe ratio was twice the ABSL metric (0.827 vs 0.423). The benchmark outperformed both active funds during tightening (17.39% vs 12.12% and 16.30%), proving broad market rallies are hard to beat. Yet NIMF preserved more value per unit of risk, qualifying it as the superior active strategy.</a:t>
            </a:r>
            <a:endParaRPr sz="950" b="0" i="0" dirty="0">
              <a:solidFill>
                <a:srgbClr val="FFFFFF"/>
              </a:solidFill>
            </a:endParaRPr>
          </a:p>
        </p:txBody>
      </p:sp>
      <p:sp>
        <p:nvSpPr>
          <p:cNvPr id="95" name="Rectangle 94"/>
          <p:cNvSpPr/>
          <p:nvPr/>
        </p:nvSpPr>
        <p:spPr>
          <a:xfrm>
            <a:off x="0" y="6492240"/>
            <a:ext cx="12188952" cy="36576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274320" y="6519672"/>
            <a:ext cx="11430000" cy="230832"/>
          </a:xfrm>
          <a:prstGeom prst="rect">
            <a:avLst/>
          </a:prstGeom>
          <a:noFill/>
        </p:spPr>
        <p:txBody>
          <a:bodyPr wrap="square">
            <a:spAutoFit/>
          </a:bodyPr>
          <a:lstStyle/>
          <a:p>
            <a:pPr algn="l"/>
            <a:r>
              <a:rPr sz="900" b="0" i="0" dirty="0">
                <a:solidFill>
                  <a:srgbClr val="CADCFC"/>
                </a:solidFill>
              </a:rPr>
              <a:t>★ Tightening = 80% of 3Y alpha  |  Annualized returns shown; cumulative: Pre-RBI 15.1%/16.1%/4.2%, Tightening 15.4%/20.8%/22.2%, Post-Easing 17.9%/16.9%/18.0%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 name="Rectangle 2"/>
          <p:cNvSpPr/>
          <p:nvPr/>
        </p:nvSpPr>
        <p:spPr>
          <a:xfrm>
            <a:off x="0" y="0"/>
            <a:ext cx="12188952"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64592"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91440"/>
            <a:ext cx="11430000" cy="246221"/>
          </a:xfrm>
          <a:prstGeom prst="rect">
            <a:avLst/>
          </a:prstGeom>
          <a:noFill/>
        </p:spPr>
        <p:txBody>
          <a:bodyPr wrap="square">
            <a:spAutoFit/>
          </a:bodyPr>
          <a:lstStyle/>
          <a:p>
            <a:pPr algn="l"/>
            <a:r>
              <a:rPr sz="1000" b="0" i="0" dirty="0">
                <a:solidFill>
                  <a:srgbClr val="CADCFC"/>
                </a:solidFill>
              </a:rPr>
              <a:t>ATTRIBUTION ANALYSIS  |  Tightening Regime Deep Dive (Nov 2023 </a:t>
            </a:r>
            <a:r>
              <a:rPr lang="en-IN" sz="1000" b="0" i="0" dirty="0">
                <a:solidFill>
                  <a:srgbClr val="CADCFC"/>
                </a:solidFill>
              </a:rPr>
              <a:t>-</a:t>
            </a:r>
            <a:r>
              <a:rPr sz="1000" b="0" i="0" dirty="0">
                <a:solidFill>
                  <a:srgbClr val="CADCFC"/>
                </a:solidFill>
              </a:rPr>
              <a:t> Jan 2025)</a:t>
            </a:r>
          </a:p>
        </p:txBody>
      </p:sp>
      <p:sp>
        <p:nvSpPr>
          <p:cNvPr id="6" name="TextBox 5"/>
          <p:cNvSpPr txBox="1"/>
          <p:nvPr/>
        </p:nvSpPr>
        <p:spPr>
          <a:xfrm>
            <a:off x="274320" y="457200"/>
            <a:ext cx="11430000" cy="393192"/>
          </a:xfrm>
          <a:prstGeom prst="rect">
            <a:avLst/>
          </a:prstGeom>
          <a:noFill/>
        </p:spPr>
        <p:txBody>
          <a:bodyPr wrap="square">
            <a:spAutoFit/>
          </a:bodyPr>
          <a:lstStyle/>
          <a:p>
            <a:pPr algn="l"/>
            <a:r>
              <a:rPr sz="1700" b="1" i="0" dirty="0">
                <a:solidFill>
                  <a:srgbClr val="FFFFFF"/>
                </a:solidFill>
              </a:rPr>
              <a:t>The Paradox: ABSL Did Better on Top-3 Holdings, Yet NIMF Won by 4.18%</a:t>
            </a:r>
          </a:p>
        </p:txBody>
      </p:sp>
      <p:sp>
        <p:nvSpPr>
          <p:cNvPr id="7" name="TextBox 6"/>
          <p:cNvSpPr txBox="1"/>
          <p:nvPr/>
        </p:nvSpPr>
        <p:spPr>
          <a:xfrm>
            <a:off x="274320" y="960120"/>
            <a:ext cx="11430000" cy="246221"/>
          </a:xfrm>
          <a:prstGeom prst="rect">
            <a:avLst/>
          </a:prstGeom>
          <a:noFill/>
        </p:spPr>
        <p:txBody>
          <a:bodyPr wrap="square">
            <a:spAutoFit/>
          </a:bodyPr>
          <a:lstStyle/>
          <a:p>
            <a:pPr algn="l"/>
            <a:r>
              <a:rPr lang="en-US" sz="950" b="1" i="0" dirty="0">
                <a:solidFill>
                  <a:srgbClr val="1E2761"/>
                </a:solidFill>
              </a:rPr>
              <a:t>KEY </a:t>
            </a:r>
            <a:r>
              <a:rPr lang="en-US" sz="950" b="1" dirty="0">
                <a:solidFill>
                  <a:srgbClr val="1E2761"/>
                </a:solidFill>
              </a:rPr>
              <a:t>NOTE</a:t>
            </a:r>
            <a:r>
              <a:rPr lang="en-US" sz="950" b="1" i="0" dirty="0">
                <a:solidFill>
                  <a:srgbClr val="1E2761"/>
                </a:solidFill>
              </a:rPr>
              <a:t>: </a:t>
            </a:r>
            <a:r>
              <a:rPr lang="en-US" sz="1000" b="1" dirty="0"/>
              <a:t>The NIMF alpha came from the remaining 67% - 73% of the portfolio (Axis Bank, SBI, Kotak), not headline HDFC / Insurance / MFI positions</a:t>
            </a:r>
            <a:endParaRPr lang="en-US" sz="950" b="1" i="0" dirty="0">
              <a:solidFill>
                <a:srgbClr val="1E2761"/>
              </a:solidFill>
            </a:endParaRPr>
          </a:p>
        </p:txBody>
      </p:sp>
      <p:sp>
        <p:nvSpPr>
          <p:cNvPr id="8" name="Rectangle 7"/>
          <p:cNvSpPr/>
          <p:nvPr/>
        </p:nvSpPr>
        <p:spPr>
          <a:xfrm>
            <a:off x="274320" y="1234440"/>
            <a:ext cx="11430000" cy="2743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298448"/>
            <a:ext cx="6583680" cy="3200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1752" y="1316736"/>
            <a:ext cx="1371600" cy="274320"/>
          </a:xfrm>
          <a:prstGeom prst="rect">
            <a:avLst/>
          </a:prstGeom>
          <a:noFill/>
        </p:spPr>
        <p:txBody>
          <a:bodyPr wrap="square">
            <a:spAutoFit/>
          </a:bodyPr>
          <a:lstStyle/>
          <a:p>
            <a:pPr algn="ctr"/>
            <a:r>
              <a:rPr sz="750" b="1" i="0">
                <a:solidFill>
                  <a:srgbClr val="FFFFFF"/>
                </a:solidFill>
              </a:rPr>
              <a:t>FUND/HOLDING</a:t>
            </a:r>
          </a:p>
        </p:txBody>
      </p:sp>
      <p:sp>
        <p:nvSpPr>
          <p:cNvPr id="11" name="TextBox 10"/>
          <p:cNvSpPr txBox="1"/>
          <p:nvPr/>
        </p:nvSpPr>
        <p:spPr>
          <a:xfrm>
            <a:off x="1719072" y="1316736"/>
            <a:ext cx="621792" cy="274320"/>
          </a:xfrm>
          <a:prstGeom prst="rect">
            <a:avLst/>
          </a:prstGeom>
          <a:noFill/>
        </p:spPr>
        <p:txBody>
          <a:bodyPr wrap="square">
            <a:spAutoFit/>
          </a:bodyPr>
          <a:lstStyle/>
          <a:p>
            <a:pPr algn="ctr"/>
            <a:r>
              <a:rPr sz="750" b="1" i="0">
                <a:solidFill>
                  <a:srgbClr val="FFFFFF"/>
                </a:solidFill>
              </a:rPr>
              <a:t>WT%</a:t>
            </a:r>
          </a:p>
        </p:txBody>
      </p:sp>
      <p:sp>
        <p:nvSpPr>
          <p:cNvPr id="12" name="TextBox 11"/>
          <p:cNvSpPr txBox="1"/>
          <p:nvPr/>
        </p:nvSpPr>
        <p:spPr>
          <a:xfrm>
            <a:off x="2377440" y="1316736"/>
            <a:ext cx="749808" cy="274320"/>
          </a:xfrm>
          <a:prstGeom prst="rect">
            <a:avLst/>
          </a:prstGeom>
          <a:noFill/>
        </p:spPr>
        <p:txBody>
          <a:bodyPr wrap="square">
            <a:spAutoFit/>
          </a:bodyPr>
          <a:lstStyle/>
          <a:p>
            <a:pPr algn="ctr"/>
            <a:r>
              <a:rPr sz="750" b="1" i="0">
                <a:solidFill>
                  <a:srgbClr val="FFFFFF"/>
                </a:solidFill>
              </a:rPr>
              <a:t>RETURN</a:t>
            </a:r>
          </a:p>
        </p:txBody>
      </p:sp>
      <p:sp>
        <p:nvSpPr>
          <p:cNvPr id="13" name="TextBox 12"/>
          <p:cNvSpPr txBox="1"/>
          <p:nvPr/>
        </p:nvSpPr>
        <p:spPr>
          <a:xfrm>
            <a:off x="3154680" y="1316736"/>
            <a:ext cx="749808" cy="274320"/>
          </a:xfrm>
          <a:prstGeom prst="rect">
            <a:avLst/>
          </a:prstGeom>
          <a:noFill/>
        </p:spPr>
        <p:txBody>
          <a:bodyPr wrap="square">
            <a:spAutoFit/>
          </a:bodyPr>
          <a:lstStyle/>
          <a:p>
            <a:pPr algn="ctr"/>
            <a:r>
              <a:rPr sz="750" b="1" i="0">
                <a:solidFill>
                  <a:srgbClr val="FFFFFF"/>
                </a:solidFill>
              </a:rPr>
              <a:t>BENCH</a:t>
            </a:r>
          </a:p>
        </p:txBody>
      </p:sp>
      <p:sp>
        <p:nvSpPr>
          <p:cNvPr id="14" name="TextBox 13"/>
          <p:cNvSpPr txBox="1"/>
          <p:nvPr/>
        </p:nvSpPr>
        <p:spPr>
          <a:xfrm>
            <a:off x="3931920" y="1316736"/>
            <a:ext cx="777240" cy="274320"/>
          </a:xfrm>
          <a:prstGeom prst="rect">
            <a:avLst/>
          </a:prstGeom>
          <a:noFill/>
        </p:spPr>
        <p:txBody>
          <a:bodyPr wrap="square">
            <a:spAutoFit/>
          </a:bodyPr>
          <a:lstStyle/>
          <a:p>
            <a:pPr algn="ctr"/>
            <a:r>
              <a:rPr sz="750" b="1" i="0">
                <a:solidFill>
                  <a:srgbClr val="FFFFFF"/>
                </a:solidFill>
              </a:rPr>
              <a:t>EXCESS RTN</a:t>
            </a:r>
          </a:p>
        </p:txBody>
      </p:sp>
      <p:sp>
        <p:nvSpPr>
          <p:cNvPr id="15" name="TextBox 14"/>
          <p:cNvSpPr txBox="1"/>
          <p:nvPr/>
        </p:nvSpPr>
        <p:spPr>
          <a:xfrm>
            <a:off x="4736592" y="1316736"/>
            <a:ext cx="822960" cy="274320"/>
          </a:xfrm>
          <a:prstGeom prst="rect">
            <a:avLst/>
          </a:prstGeom>
          <a:noFill/>
        </p:spPr>
        <p:txBody>
          <a:bodyPr wrap="square">
            <a:spAutoFit/>
          </a:bodyPr>
          <a:lstStyle/>
          <a:p>
            <a:pPr algn="ctr"/>
            <a:r>
              <a:rPr sz="750" b="1" i="0">
                <a:solidFill>
                  <a:srgbClr val="FFFFFF"/>
                </a:solidFill>
              </a:rPr>
              <a:t>CONTRIBUTION</a:t>
            </a:r>
          </a:p>
        </p:txBody>
      </p:sp>
      <p:sp>
        <p:nvSpPr>
          <p:cNvPr id="16" name="TextBox 15"/>
          <p:cNvSpPr txBox="1"/>
          <p:nvPr/>
        </p:nvSpPr>
        <p:spPr>
          <a:xfrm>
            <a:off x="5577840" y="1316736"/>
            <a:ext cx="1234440" cy="274320"/>
          </a:xfrm>
          <a:prstGeom prst="rect">
            <a:avLst/>
          </a:prstGeom>
          <a:noFill/>
        </p:spPr>
        <p:txBody>
          <a:bodyPr wrap="square">
            <a:spAutoFit/>
          </a:bodyPr>
          <a:lstStyle/>
          <a:p>
            <a:pPr algn="ctr"/>
            <a:r>
              <a:rPr sz="750" b="1" i="0">
                <a:solidFill>
                  <a:srgbClr val="FFFFFF"/>
                </a:solidFill>
              </a:rPr>
              <a:t>NOTE</a:t>
            </a:r>
          </a:p>
        </p:txBody>
      </p:sp>
      <p:sp>
        <p:nvSpPr>
          <p:cNvPr id="17" name="Rectangle 16"/>
          <p:cNvSpPr/>
          <p:nvPr/>
        </p:nvSpPr>
        <p:spPr>
          <a:xfrm>
            <a:off x="274320" y="1655064"/>
            <a:ext cx="6583680" cy="32004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01752" y="1700784"/>
            <a:ext cx="502920" cy="246888"/>
          </a:xfrm>
          <a:prstGeom prst="rect">
            <a:avLst/>
          </a:prstGeom>
          <a:noFill/>
        </p:spPr>
        <p:txBody>
          <a:bodyPr wrap="square">
            <a:spAutoFit/>
          </a:bodyPr>
          <a:lstStyle/>
          <a:p>
            <a:pPr algn="l"/>
            <a:r>
              <a:rPr sz="800" b="1" i="0">
                <a:solidFill>
                  <a:srgbClr val="236FB4"/>
                </a:solidFill>
              </a:rPr>
              <a:t>NIMF</a:t>
            </a:r>
          </a:p>
        </p:txBody>
      </p:sp>
      <p:sp>
        <p:nvSpPr>
          <p:cNvPr id="19" name="TextBox 18"/>
          <p:cNvSpPr txBox="1"/>
          <p:nvPr/>
        </p:nvSpPr>
        <p:spPr>
          <a:xfrm>
            <a:off x="822960" y="1700784"/>
            <a:ext cx="877824" cy="246888"/>
          </a:xfrm>
          <a:prstGeom prst="rect">
            <a:avLst/>
          </a:prstGeom>
          <a:noFill/>
        </p:spPr>
        <p:txBody>
          <a:bodyPr wrap="square">
            <a:spAutoFit/>
          </a:bodyPr>
          <a:lstStyle/>
          <a:p>
            <a:pPr algn="l"/>
            <a:r>
              <a:rPr sz="850" b="0" i="0">
                <a:solidFill>
                  <a:srgbClr val="2C3E50"/>
                </a:solidFill>
              </a:rPr>
              <a:t>HDFC Bank</a:t>
            </a:r>
          </a:p>
        </p:txBody>
      </p:sp>
      <p:sp>
        <p:nvSpPr>
          <p:cNvPr id="20" name="TextBox 19"/>
          <p:cNvSpPr txBox="1"/>
          <p:nvPr/>
        </p:nvSpPr>
        <p:spPr>
          <a:xfrm>
            <a:off x="1719072" y="1700784"/>
            <a:ext cx="621792" cy="246888"/>
          </a:xfrm>
          <a:prstGeom prst="rect">
            <a:avLst/>
          </a:prstGeom>
          <a:noFill/>
        </p:spPr>
        <p:txBody>
          <a:bodyPr wrap="square">
            <a:spAutoFit/>
          </a:bodyPr>
          <a:lstStyle/>
          <a:p>
            <a:pPr algn="ctr"/>
            <a:r>
              <a:rPr sz="850" b="0" i="0">
                <a:solidFill>
                  <a:srgbClr val="2C3E50"/>
                </a:solidFill>
              </a:rPr>
              <a:t>21.05%</a:t>
            </a:r>
          </a:p>
        </p:txBody>
      </p:sp>
      <p:sp>
        <p:nvSpPr>
          <p:cNvPr id="21" name="TextBox 20"/>
          <p:cNvSpPr txBox="1"/>
          <p:nvPr/>
        </p:nvSpPr>
        <p:spPr>
          <a:xfrm>
            <a:off x="2377440" y="1700784"/>
            <a:ext cx="749808" cy="246888"/>
          </a:xfrm>
          <a:prstGeom prst="rect">
            <a:avLst/>
          </a:prstGeom>
          <a:noFill/>
        </p:spPr>
        <p:txBody>
          <a:bodyPr wrap="square">
            <a:spAutoFit/>
          </a:bodyPr>
          <a:lstStyle/>
          <a:p>
            <a:pPr algn="ctr"/>
            <a:r>
              <a:rPr sz="850" b="0" i="0">
                <a:solidFill>
                  <a:srgbClr val="2C3E50"/>
                </a:solidFill>
              </a:rPr>
              <a:t>15.05%</a:t>
            </a:r>
          </a:p>
        </p:txBody>
      </p:sp>
      <p:sp>
        <p:nvSpPr>
          <p:cNvPr id="22" name="TextBox 21"/>
          <p:cNvSpPr txBox="1"/>
          <p:nvPr/>
        </p:nvSpPr>
        <p:spPr>
          <a:xfrm>
            <a:off x="3154680" y="1700784"/>
            <a:ext cx="749808" cy="246888"/>
          </a:xfrm>
          <a:prstGeom prst="rect">
            <a:avLst/>
          </a:prstGeom>
          <a:noFill/>
        </p:spPr>
        <p:txBody>
          <a:bodyPr wrap="square">
            <a:spAutoFit/>
          </a:bodyPr>
          <a:lstStyle/>
          <a:p>
            <a:pPr algn="ctr"/>
            <a:r>
              <a:rPr sz="850" b="0" i="0">
                <a:solidFill>
                  <a:srgbClr val="95A5A6"/>
                </a:solidFill>
              </a:rPr>
              <a:t>22.19%</a:t>
            </a:r>
          </a:p>
        </p:txBody>
      </p:sp>
      <p:sp>
        <p:nvSpPr>
          <p:cNvPr id="23" name="TextBox 22"/>
          <p:cNvSpPr txBox="1"/>
          <p:nvPr/>
        </p:nvSpPr>
        <p:spPr>
          <a:xfrm>
            <a:off x="3931920" y="1700784"/>
            <a:ext cx="777240" cy="246888"/>
          </a:xfrm>
          <a:prstGeom prst="rect">
            <a:avLst/>
          </a:prstGeom>
          <a:noFill/>
        </p:spPr>
        <p:txBody>
          <a:bodyPr wrap="square">
            <a:spAutoFit/>
          </a:bodyPr>
          <a:lstStyle/>
          <a:p>
            <a:pPr algn="ctr"/>
            <a:r>
              <a:rPr sz="850" b="0" i="0">
                <a:solidFill>
                  <a:srgbClr val="C0392B"/>
                </a:solidFill>
              </a:rPr>
              <a:t>–7.14%</a:t>
            </a:r>
          </a:p>
        </p:txBody>
      </p:sp>
      <p:sp>
        <p:nvSpPr>
          <p:cNvPr id="24" name="TextBox 23"/>
          <p:cNvSpPr txBox="1"/>
          <p:nvPr/>
        </p:nvSpPr>
        <p:spPr>
          <a:xfrm>
            <a:off x="4736592" y="1700784"/>
            <a:ext cx="822960" cy="246888"/>
          </a:xfrm>
          <a:prstGeom prst="rect">
            <a:avLst/>
          </a:prstGeom>
          <a:noFill/>
        </p:spPr>
        <p:txBody>
          <a:bodyPr wrap="square">
            <a:spAutoFit/>
          </a:bodyPr>
          <a:lstStyle/>
          <a:p>
            <a:pPr algn="ctr"/>
            <a:r>
              <a:rPr sz="900" b="0" i="0" dirty="0">
                <a:solidFill>
                  <a:srgbClr val="C0392B"/>
                </a:solidFill>
              </a:rPr>
              <a:t>–1.50%</a:t>
            </a:r>
          </a:p>
        </p:txBody>
      </p:sp>
      <p:sp>
        <p:nvSpPr>
          <p:cNvPr id="25" name="TextBox 24"/>
          <p:cNvSpPr txBox="1"/>
          <p:nvPr/>
        </p:nvSpPr>
        <p:spPr>
          <a:xfrm>
            <a:off x="5577840" y="1700784"/>
            <a:ext cx="1188720" cy="246888"/>
          </a:xfrm>
          <a:prstGeom prst="rect">
            <a:avLst/>
          </a:prstGeom>
          <a:noFill/>
        </p:spPr>
        <p:txBody>
          <a:bodyPr wrap="square">
            <a:spAutoFit/>
          </a:bodyPr>
          <a:lstStyle/>
          <a:p>
            <a:pPr algn="l"/>
            <a:r>
              <a:rPr sz="750" b="0" i="0">
                <a:solidFill>
                  <a:srgbClr val="2C3E50"/>
                </a:solidFill>
              </a:rPr>
              <a:t>Overweight cost</a:t>
            </a:r>
          </a:p>
        </p:txBody>
      </p:sp>
      <p:sp>
        <p:nvSpPr>
          <p:cNvPr id="26" name="Rectangle 25"/>
          <p:cNvSpPr/>
          <p:nvPr/>
        </p:nvSpPr>
        <p:spPr>
          <a:xfrm>
            <a:off x="274320" y="1993392"/>
            <a:ext cx="6583680" cy="32004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01752" y="2039112"/>
            <a:ext cx="502920" cy="246888"/>
          </a:xfrm>
          <a:prstGeom prst="rect">
            <a:avLst/>
          </a:prstGeom>
          <a:noFill/>
        </p:spPr>
        <p:txBody>
          <a:bodyPr wrap="square">
            <a:spAutoFit/>
          </a:bodyPr>
          <a:lstStyle/>
          <a:p>
            <a:pPr algn="l"/>
            <a:r>
              <a:rPr sz="800" b="1" i="0">
                <a:solidFill>
                  <a:srgbClr val="236FB4"/>
                </a:solidFill>
              </a:rPr>
              <a:t>NIMF</a:t>
            </a:r>
          </a:p>
        </p:txBody>
      </p:sp>
      <p:sp>
        <p:nvSpPr>
          <p:cNvPr id="28" name="TextBox 27"/>
          <p:cNvSpPr txBox="1"/>
          <p:nvPr/>
        </p:nvSpPr>
        <p:spPr>
          <a:xfrm>
            <a:off x="822960" y="2039112"/>
            <a:ext cx="877824" cy="246888"/>
          </a:xfrm>
          <a:prstGeom prst="rect">
            <a:avLst/>
          </a:prstGeom>
          <a:noFill/>
        </p:spPr>
        <p:txBody>
          <a:bodyPr wrap="square">
            <a:spAutoFit/>
          </a:bodyPr>
          <a:lstStyle/>
          <a:p>
            <a:pPr algn="l"/>
            <a:r>
              <a:rPr sz="850" b="0" i="0">
                <a:solidFill>
                  <a:srgbClr val="2C3E50"/>
                </a:solidFill>
              </a:rPr>
              <a:t>Insurance</a:t>
            </a:r>
          </a:p>
        </p:txBody>
      </p:sp>
      <p:sp>
        <p:nvSpPr>
          <p:cNvPr id="29" name="TextBox 28"/>
          <p:cNvSpPr txBox="1"/>
          <p:nvPr/>
        </p:nvSpPr>
        <p:spPr>
          <a:xfrm>
            <a:off x="1719072" y="2039112"/>
            <a:ext cx="621792" cy="246888"/>
          </a:xfrm>
          <a:prstGeom prst="rect">
            <a:avLst/>
          </a:prstGeom>
          <a:noFill/>
        </p:spPr>
        <p:txBody>
          <a:bodyPr wrap="square">
            <a:spAutoFit/>
          </a:bodyPr>
          <a:lstStyle/>
          <a:p>
            <a:pPr algn="ctr"/>
            <a:r>
              <a:rPr sz="850" b="0" i="0">
                <a:solidFill>
                  <a:srgbClr val="2C3E50"/>
                </a:solidFill>
              </a:rPr>
              <a:t>8.03%</a:t>
            </a:r>
          </a:p>
        </p:txBody>
      </p:sp>
      <p:sp>
        <p:nvSpPr>
          <p:cNvPr id="30" name="TextBox 29"/>
          <p:cNvSpPr txBox="1"/>
          <p:nvPr/>
        </p:nvSpPr>
        <p:spPr>
          <a:xfrm>
            <a:off x="2377440" y="2039112"/>
            <a:ext cx="749808" cy="246888"/>
          </a:xfrm>
          <a:prstGeom prst="rect">
            <a:avLst/>
          </a:prstGeom>
          <a:noFill/>
        </p:spPr>
        <p:txBody>
          <a:bodyPr wrap="square">
            <a:spAutoFit/>
          </a:bodyPr>
          <a:lstStyle/>
          <a:p>
            <a:pPr algn="ctr"/>
            <a:r>
              <a:rPr sz="850" b="0" i="0">
                <a:solidFill>
                  <a:srgbClr val="2C3E50"/>
                </a:solidFill>
              </a:rPr>
              <a:t>7.22%</a:t>
            </a:r>
          </a:p>
        </p:txBody>
      </p:sp>
      <p:sp>
        <p:nvSpPr>
          <p:cNvPr id="31" name="TextBox 30"/>
          <p:cNvSpPr txBox="1"/>
          <p:nvPr/>
        </p:nvSpPr>
        <p:spPr>
          <a:xfrm>
            <a:off x="3154680" y="2039112"/>
            <a:ext cx="749808" cy="246888"/>
          </a:xfrm>
          <a:prstGeom prst="rect">
            <a:avLst/>
          </a:prstGeom>
          <a:noFill/>
        </p:spPr>
        <p:txBody>
          <a:bodyPr wrap="square">
            <a:spAutoFit/>
          </a:bodyPr>
          <a:lstStyle/>
          <a:p>
            <a:pPr algn="ctr"/>
            <a:r>
              <a:rPr sz="850" b="0" i="0">
                <a:solidFill>
                  <a:srgbClr val="95A5A6"/>
                </a:solidFill>
              </a:rPr>
              <a:t>22.19%</a:t>
            </a:r>
          </a:p>
        </p:txBody>
      </p:sp>
      <p:sp>
        <p:nvSpPr>
          <p:cNvPr id="32" name="TextBox 31"/>
          <p:cNvSpPr txBox="1"/>
          <p:nvPr/>
        </p:nvSpPr>
        <p:spPr>
          <a:xfrm>
            <a:off x="3931920" y="2039112"/>
            <a:ext cx="777240" cy="246888"/>
          </a:xfrm>
          <a:prstGeom prst="rect">
            <a:avLst/>
          </a:prstGeom>
          <a:noFill/>
        </p:spPr>
        <p:txBody>
          <a:bodyPr wrap="square">
            <a:spAutoFit/>
          </a:bodyPr>
          <a:lstStyle/>
          <a:p>
            <a:pPr algn="ctr"/>
            <a:r>
              <a:rPr sz="850" b="0" i="0">
                <a:solidFill>
                  <a:srgbClr val="C0392B"/>
                </a:solidFill>
              </a:rPr>
              <a:t>–14.97%</a:t>
            </a:r>
          </a:p>
        </p:txBody>
      </p:sp>
      <p:sp>
        <p:nvSpPr>
          <p:cNvPr id="33" name="TextBox 32"/>
          <p:cNvSpPr txBox="1"/>
          <p:nvPr/>
        </p:nvSpPr>
        <p:spPr>
          <a:xfrm>
            <a:off x="4736592" y="2039112"/>
            <a:ext cx="822960" cy="246888"/>
          </a:xfrm>
          <a:prstGeom prst="rect">
            <a:avLst/>
          </a:prstGeom>
          <a:noFill/>
        </p:spPr>
        <p:txBody>
          <a:bodyPr wrap="square">
            <a:spAutoFit/>
          </a:bodyPr>
          <a:lstStyle/>
          <a:p>
            <a:pPr algn="ctr"/>
            <a:r>
              <a:rPr sz="900" b="0" i="0">
                <a:solidFill>
                  <a:srgbClr val="C0392B"/>
                </a:solidFill>
              </a:rPr>
              <a:t>–1.20%</a:t>
            </a:r>
          </a:p>
        </p:txBody>
      </p:sp>
      <p:sp>
        <p:nvSpPr>
          <p:cNvPr id="34" name="TextBox 33"/>
          <p:cNvSpPr txBox="1"/>
          <p:nvPr/>
        </p:nvSpPr>
        <p:spPr>
          <a:xfrm>
            <a:off x="5577840" y="2039112"/>
            <a:ext cx="1188720" cy="246888"/>
          </a:xfrm>
          <a:prstGeom prst="rect">
            <a:avLst/>
          </a:prstGeom>
          <a:noFill/>
        </p:spPr>
        <p:txBody>
          <a:bodyPr wrap="square">
            <a:spAutoFit/>
          </a:bodyPr>
          <a:lstStyle/>
          <a:p>
            <a:pPr algn="l"/>
            <a:r>
              <a:rPr sz="750" b="0" i="0">
                <a:solidFill>
                  <a:srgbClr val="2C3E50"/>
                </a:solidFill>
              </a:rPr>
              <a:t>Biggest relative drag</a:t>
            </a:r>
          </a:p>
        </p:txBody>
      </p:sp>
      <p:sp>
        <p:nvSpPr>
          <p:cNvPr id="35" name="Rectangle 34"/>
          <p:cNvSpPr/>
          <p:nvPr/>
        </p:nvSpPr>
        <p:spPr>
          <a:xfrm>
            <a:off x="274320" y="2331720"/>
            <a:ext cx="6583680" cy="320040"/>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01752" y="2377439"/>
            <a:ext cx="502920" cy="246888"/>
          </a:xfrm>
          <a:prstGeom prst="rect">
            <a:avLst/>
          </a:prstGeom>
          <a:noFill/>
        </p:spPr>
        <p:txBody>
          <a:bodyPr wrap="square">
            <a:spAutoFit/>
          </a:bodyPr>
          <a:lstStyle/>
          <a:p>
            <a:pPr algn="l"/>
            <a:r>
              <a:rPr sz="800" b="1" i="0">
                <a:solidFill>
                  <a:srgbClr val="236FB4"/>
                </a:solidFill>
              </a:rPr>
              <a:t>NIMF</a:t>
            </a:r>
          </a:p>
        </p:txBody>
      </p:sp>
      <p:sp>
        <p:nvSpPr>
          <p:cNvPr id="37" name="TextBox 36"/>
          <p:cNvSpPr txBox="1"/>
          <p:nvPr/>
        </p:nvSpPr>
        <p:spPr>
          <a:xfrm>
            <a:off x="822960" y="2377439"/>
            <a:ext cx="877824" cy="246888"/>
          </a:xfrm>
          <a:prstGeom prst="rect">
            <a:avLst/>
          </a:prstGeom>
          <a:noFill/>
        </p:spPr>
        <p:txBody>
          <a:bodyPr wrap="square">
            <a:spAutoFit/>
          </a:bodyPr>
          <a:lstStyle/>
          <a:p>
            <a:pPr algn="l"/>
            <a:r>
              <a:rPr sz="850" b="0" i="0">
                <a:solidFill>
                  <a:srgbClr val="2C3E50"/>
                </a:solidFill>
              </a:rPr>
              <a:t>MFI / SFB</a:t>
            </a:r>
          </a:p>
        </p:txBody>
      </p:sp>
      <p:sp>
        <p:nvSpPr>
          <p:cNvPr id="38" name="TextBox 37"/>
          <p:cNvSpPr txBox="1"/>
          <p:nvPr/>
        </p:nvSpPr>
        <p:spPr>
          <a:xfrm>
            <a:off x="1719072" y="2377439"/>
            <a:ext cx="621792" cy="246888"/>
          </a:xfrm>
          <a:prstGeom prst="rect">
            <a:avLst/>
          </a:prstGeom>
          <a:noFill/>
        </p:spPr>
        <p:txBody>
          <a:bodyPr wrap="square">
            <a:spAutoFit/>
          </a:bodyPr>
          <a:lstStyle/>
          <a:p>
            <a:pPr algn="ctr"/>
            <a:r>
              <a:rPr sz="850" b="0" i="0">
                <a:solidFill>
                  <a:srgbClr val="2C3E50"/>
                </a:solidFill>
              </a:rPr>
              <a:t>4.60%</a:t>
            </a:r>
          </a:p>
        </p:txBody>
      </p:sp>
      <p:sp>
        <p:nvSpPr>
          <p:cNvPr id="39" name="TextBox 38"/>
          <p:cNvSpPr txBox="1"/>
          <p:nvPr/>
        </p:nvSpPr>
        <p:spPr>
          <a:xfrm>
            <a:off x="2377440" y="2377439"/>
            <a:ext cx="749808" cy="246888"/>
          </a:xfrm>
          <a:prstGeom prst="rect">
            <a:avLst/>
          </a:prstGeom>
          <a:noFill/>
        </p:spPr>
        <p:txBody>
          <a:bodyPr wrap="square">
            <a:spAutoFit/>
          </a:bodyPr>
          <a:lstStyle/>
          <a:p>
            <a:pPr algn="ctr"/>
            <a:r>
              <a:rPr sz="850" b="0" i="0">
                <a:solidFill>
                  <a:srgbClr val="C0392B"/>
                </a:solidFill>
              </a:rPr>
              <a:t>–18.89%</a:t>
            </a:r>
          </a:p>
        </p:txBody>
      </p:sp>
      <p:sp>
        <p:nvSpPr>
          <p:cNvPr id="40" name="TextBox 39"/>
          <p:cNvSpPr txBox="1"/>
          <p:nvPr/>
        </p:nvSpPr>
        <p:spPr>
          <a:xfrm>
            <a:off x="3154680" y="2377439"/>
            <a:ext cx="749808" cy="246888"/>
          </a:xfrm>
          <a:prstGeom prst="rect">
            <a:avLst/>
          </a:prstGeom>
          <a:noFill/>
        </p:spPr>
        <p:txBody>
          <a:bodyPr wrap="square">
            <a:spAutoFit/>
          </a:bodyPr>
          <a:lstStyle/>
          <a:p>
            <a:pPr algn="ctr"/>
            <a:r>
              <a:rPr sz="850" b="0" i="0">
                <a:solidFill>
                  <a:srgbClr val="95A5A6"/>
                </a:solidFill>
              </a:rPr>
              <a:t>22.19%</a:t>
            </a:r>
          </a:p>
        </p:txBody>
      </p:sp>
      <p:sp>
        <p:nvSpPr>
          <p:cNvPr id="41" name="TextBox 40"/>
          <p:cNvSpPr txBox="1"/>
          <p:nvPr/>
        </p:nvSpPr>
        <p:spPr>
          <a:xfrm>
            <a:off x="3931920" y="2377439"/>
            <a:ext cx="777240" cy="246888"/>
          </a:xfrm>
          <a:prstGeom prst="rect">
            <a:avLst/>
          </a:prstGeom>
          <a:noFill/>
        </p:spPr>
        <p:txBody>
          <a:bodyPr wrap="square">
            <a:spAutoFit/>
          </a:bodyPr>
          <a:lstStyle/>
          <a:p>
            <a:pPr algn="ctr"/>
            <a:r>
              <a:rPr sz="850" b="0" i="0">
                <a:solidFill>
                  <a:srgbClr val="C0392B"/>
                </a:solidFill>
              </a:rPr>
              <a:t>–41.08%</a:t>
            </a:r>
          </a:p>
        </p:txBody>
      </p:sp>
      <p:sp>
        <p:nvSpPr>
          <p:cNvPr id="42" name="TextBox 41"/>
          <p:cNvSpPr txBox="1"/>
          <p:nvPr/>
        </p:nvSpPr>
        <p:spPr>
          <a:xfrm>
            <a:off x="4736592" y="2377439"/>
            <a:ext cx="822960" cy="246888"/>
          </a:xfrm>
          <a:prstGeom prst="rect">
            <a:avLst/>
          </a:prstGeom>
          <a:noFill/>
        </p:spPr>
        <p:txBody>
          <a:bodyPr wrap="square">
            <a:spAutoFit/>
          </a:bodyPr>
          <a:lstStyle/>
          <a:p>
            <a:pPr algn="ctr"/>
            <a:r>
              <a:rPr sz="900" b="0" i="0">
                <a:solidFill>
                  <a:srgbClr val="C0392B"/>
                </a:solidFill>
              </a:rPr>
              <a:t>–1.89%</a:t>
            </a:r>
          </a:p>
        </p:txBody>
      </p:sp>
      <p:sp>
        <p:nvSpPr>
          <p:cNvPr id="43" name="TextBox 42"/>
          <p:cNvSpPr txBox="1"/>
          <p:nvPr/>
        </p:nvSpPr>
        <p:spPr>
          <a:xfrm>
            <a:off x="5577840" y="2377439"/>
            <a:ext cx="1188720" cy="246888"/>
          </a:xfrm>
          <a:prstGeom prst="rect">
            <a:avLst/>
          </a:prstGeom>
          <a:noFill/>
        </p:spPr>
        <p:txBody>
          <a:bodyPr wrap="square">
            <a:spAutoFit/>
          </a:bodyPr>
          <a:lstStyle/>
          <a:p>
            <a:pPr algn="l"/>
            <a:r>
              <a:rPr sz="750" b="0" i="0">
                <a:solidFill>
                  <a:srgbClr val="2C3E50"/>
                </a:solidFill>
              </a:rPr>
              <a:t>Sector devastated</a:t>
            </a:r>
          </a:p>
        </p:txBody>
      </p:sp>
      <p:sp>
        <p:nvSpPr>
          <p:cNvPr id="44" name="Rectangle 43"/>
          <p:cNvSpPr/>
          <p:nvPr/>
        </p:nvSpPr>
        <p:spPr>
          <a:xfrm>
            <a:off x="274320" y="2670048"/>
            <a:ext cx="6583680" cy="320040"/>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01752" y="2715768"/>
            <a:ext cx="502920" cy="246888"/>
          </a:xfrm>
          <a:prstGeom prst="rect">
            <a:avLst/>
          </a:prstGeom>
          <a:noFill/>
        </p:spPr>
        <p:txBody>
          <a:bodyPr wrap="square">
            <a:spAutoFit/>
          </a:bodyPr>
          <a:lstStyle/>
          <a:p>
            <a:pPr algn="l"/>
            <a:r>
              <a:rPr sz="800" b="1" i="0">
                <a:solidFill>
                  <a:srgbClr val="236FB4"/>
                </a:solidFill>
              </a:rPr>
              <a:t>NIMF</a:t>
            </a:r>
          </a:p>
        </p:txBody>
      </p:sp>
      <p:sp>
        <p:nvSpPr>
          <p:cNvPr id="46" name="TextBox 45"/>
          <p:cNvSpPr txBox="1"/>
          <p:nvPr/>
        </p:nvSpPr>
        <p:spPr>
          <a:xfrm>
            <a:off x="734291" y="2715768"/>
            <a:ext cx="1076221" cy="353943"/>
          </a:xfrm>
          <a:prstGeom prst="rect">
            <a:avLst/>
          </a:prstGeom>
          <a:noFill/>
        </p:spPr>
        <p:txBody>
          <a:bodyPr wrap="square">
            <a:spAutoFit/>
          </a:bodyPr>
          <a:lstStyle/>
          <a:p>
            <a:r>
              <a:rPr sz="850" b="1" i="0" dirty="0">
                <a:solidFill>
                  <a:srgbClr val="2C3E50"/>
                </a:solidFill>
              </a:rPr>
              <a:t>★ </a:t>
            </a:r>
            <a:r>
              <a:rPr lang="en-IN" sz="850" b="1" i="0" dirty="0">
                <a:solidFill>
                  <a:srgbClr val="2C3E50"/>
                </a:solidFill>
              </a:rPr>
              <a:t>Other Holdings</a:t>
            </a:r>
          </a:p>
          <a:p>
            <a:pPr algn="l"/>
            <a:endParaRPr sz="850" b="1" i="0" dirty="0">
              <a:solidFill>
                <a:srgbClr val="2C3E50"/>
              </a:solidFill>
            </a:endParaRPr>
          </a:p>
        </p:txBody>
      </p:sp>
      <p:sp>
        <p:nvSpPr>
          <p:cNvPr id="47" name="TextBox 46"/>
          <p:cNvSpPr txBox="1"/>
          <p:nvPr/>
        </p:nvSpPr>
        <p:spPr>
          <a:xfrm>
            <a:off x="1719072" y="2715768"/>
            <a:ext cx="621792" cy="246888"/>
          </a:xfrm>
          <a:prstGeom prst="rect">
            <a:avLst/>
          </a:prstGeom>
          <a:noFill/>
        </p:spPr>
        <p:txBody>
          <a:bodyPr wrap="square">
            <a:spAutoFit/>
          </a:bodyPr>
          <a:lstStyle/>
          <a:p>
            <a:pPr algn="ctr"/>
            <a:r>
              <a:rPr sz="850" b="0" i="0" dirty="0">
                <a:solidFill>
                  <a:srgbClr val="2C3E50"/>
                </a:solidFill>
              </a:rPr>
              <a:t>~66%</a:t>
            </a:r>
          </a:p>
        </p:txBody>
      </p:sp>
      <p:sp>
        <p:nvSpPr>
          <p:cNvPr id="48" name="TextBox 47"/>
          <p:cNvSpPr txBox="1"/>
          <p:nvPr/>
        </p:nvSpPr>
        <p:spPr>
          <a:xfrm>
            <a:off x="2377440" y="2715768"/>
            <a:ext cx="749808" cy="246888"/>
          </a:xfrm>
          <a:prstGeom prst="rect">
            <a:avLst/>
          </a:prstGeom>
          <a:noFill/>
        </p:spPr>
        <p:txBody>
          <a:bodyPr wrap="square">
            <a:spAutoFit/>
          </a:bodyPr>
          <a:lstStyle/>
          <a:p>
            <a:pPr algn="ctr"/>
            <a:r>
              <a:rPr sz="850" b="0" i="0">
                <a:solidFill>
                  <a:srgbClr val="2C3E50"/>
                </a:solidFill>
              </a:rPr>
              <a:t>—</a:t>
            </a:r>
          </a:p>
        </p:txBody>
      </p:sp>
      <p:sp>
        <p:nvSpPr>
          <p:cNvPr id="49" name="TextBox 48"/>
          <p:cNvSpPr txBox="1"/>
          <p:nvPr/>
        </p:nvSpPr>
        <p:spPr>
          <a:xfrm>
            <a:off x="3154680" y="2715768"/>
            <a:ext cx="749808" cy="246888"/>
          </a:xfrm>
          <a:prstGeom prst="rect">
            <a:avLst/>
          </a:prstGeom>
          <a:noFill/>
        </p:spPr>
        <p:txBody>
          <a:bodyPr wrap="square">
            <a:spAutoFit/>
          </a:bodyPr>
          <a:lstStyle/>
          <a:p>
            <a:pPr algn="ctr"/>
            <a:r>
              <a:rPr sz="850" b="0" i="0">
                <a:solidFill>
                  <a:srgbClr val="95A5A6"/>
                </a:solidFill>
              </a:rPr>
              <a:t>—</a:t>
            </a:r>
          </a:p>
        </p:txBody>
      </p:sp>
      <p:sp>
        <p:nvSpPr>
          <p:cNvPr id="50" name="TextBox 49"/>
          <p:cNvSpPr txBox="1"/>
          <p:nvPr/>
        </p:nvSpPr>
        <p:spPr>
          <a:xfrm>
            <a:off x="3931920" y="2715768"/>
            <a:ext cx="777240" cy="246888"/>
          </a:xfrm>
          <a:prstGeom prst="rect">
            <a:avLst/>
          </a:prstGeom>
          <a:noFill/>
        </p:spPr>
        <p:txBody>
          <a:bodyPr wrap="square">
            <a:spAutoFit/>
          </a:bodyPr>
          <a:lstStyle/>
          <a:p>
            <a:pPr algn="ctr"/>
            <a:r>
              <a:rPr sz="850" b="0" i="0">
                <a:solidFill>
                  <a:srgbClr val="2C3E50"/>
                </a:solidFill>
              </a:rPr>
              <a:t>—</a:t>
            </a:r>
          </a:p>
        </p:txBody>
      </p:sp>
      <p:sp>
        <p:nvSpPr>
          <p:cNvPr id="51" name="TextBox 50"/>
          <p:cNvSpPr txBox="1"/>
          <p:nvPr/>
        </p:nvSpPr>
        <p:spPr>
          <a:xfrm>
            <a:off x="4736592" y="2715768"/>
            <a:ext cx="822960" cy="246888"/>
          </a:xfrm>
          <a:prstGeom prst="rect">
            <a:avLst/>
          </a:prstGeom>
          <a:noFill/>
        </p:spPr>
        <p:txBody>
          <a:bodyPr wrap="square">
            <a:spAutoFit/>
          </a:bodyPr>
          <a:lstStyle/>
          <a:p>
            <a:pPr algn="ctr"/>
            <a:r>
              <a:rPr sz="900" b="1" i="0" dirty="0">
                <a:solidFill>
                  <a:srgbClr val="27AE60"/>
                </a:solidFill>
              </a:rPr>
              <a:t>+5.53%</a:t>
            </a:r>
          </a:p>
        </p:txBody>
      </p:sp>
      <p:sp>
        <p:nvSpPr>
          <p:cNvPr id="52" name="TextBox 51"/>
          <p:cNvSpPr txBox="1"/>
          <p:nvPr/>
        </p:nvSpPr>
        <p:spPr>
          <a:xfrm>
            <a:off x="5577840" y="2715768"/>
            <a:ext cx="1188720" cy="246888"/>
          </a:xfrm>
          <a:prstGeom prst="rect">
            <a:avLst/>
          </a:prstGeom>
          <a:noFill/>
        </p:spPr>
        <p:txBody>
          <a:bodyPr wrap="square">
            <a:spAutoFit/>
          </a:bodyPr>
          <a:lstStyle/>
          <a:p>
            <a:pPr algn="l"/>
            <a:r>
              <a:rPr sz="750" b="1" i="0">
                <a:solidFill>
                  <a:srgbClr val="27AE60"/>
                </a:solidFill>
              </a:rPr>
              <a:t>TRUE ALPHA SOURCE</a:t>
            </a:r>
          </a:p>
        </p:txBody>
      </p:sp>
      <p:sp>
        <p:nvSpPr>
          <p:cNvPr id="53" name="Rectangle 52"/>
          <p:cNvSpPr/>
          <p:nvPr/>
        </p:nvSpPr>
        <p:spPr>
          <a:xfrm>
            <a:off x="274320" y="3008376"/>
            <a:ext cx="6583680" cy="320040"/>
          </a:xfrm>
          <a:prstGeom prst="rect">
            <a:avLst/>
          </a:prstGeom>
          <a:solidFill>
            <a:srgbClr val="FDF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01752" y="3054096"/>
            <a:ext cx="502920" cy="246888"/>
          </a:xfrm>
          <a:prstGeom prst="rect">
            <a:avLst/>
          </a:prstGeom>
          <a:noFill/>
        </p:spPr>
        <p:txBody>
          <a:bodyPr wrap="square">
            <a:spAutoFit/>
          </a:bodyPr>
          <a:lstStyle/>
          <a:p>
            <a:pPr algn="l"/>
            <a:r>
              <a:rPr sz="800" b="1" i="0">
                <a:solidFill>
                  <a:srgbClr val="E87A1E"/>
                </a:solidFill>
              </a:rPr>
              <a:t>ABSL</a:t>
            </a:r>
          </a:p>
        </p:txBody>
      </p:sp>
      <p:sp>
        <p:nvSpPr>
          <p:cNvPr id="55" name="TextBox 54"/>
          <p:cNvSpPr txBox="1"/>
          <p:nvPr/>
        </p:nvSpPr>
        <p:spPr>
          <a:xfrm>
            <a:off x="822960" y="3054096"/>
            <a:ext cx="877824" cy="246888"/>
          </a:xfrm>
          <a:prstGeom prst="rect">
            <a:avLst/>
          </a:prstGeom>
          <a:noFill/>
        </p:spPr>
        <p:txBody>
          <a:bodyPr wrap="square">
            <a:spAutoFit/>
          </a:bodyPr>
          <a:lstStyle/>
          <a:p>
            <a:pPr algn="l"/>
            <a:r>
              <a:rPr sz="850" b="0" i="0">
                <a:solidFill>
                  <a:srgbClr val="2C3E50"/>
                </a:solidFill>
              </a:rPr>
              <a:t>HDFC Bank</a:t>
            </a:r>
          </a:p>
        </p:txBody>
      </p:sp>
      <p:sp>
        <p:nvSpPr>
          <p:cNvPr id="56" name="TextBox 55"/>
          <p:cNvSpPr txBox="1"/>
          <p:nvPr/>
        </p:nvSpPr>
        <p:spPr>
          <a:xfrm>
            <a:off x="1719072" y="3054096"/>
            <a:ext cx="621792" cy="246888"/>
          </a:xfrm>
          <a:prstGeom prst="rect">
            <a:avLst/>
          </a:prstGeom>
          <a:noFill/>
        </p:spPr>
        <p:txBody>
          <a:bodyPr wrap="square">
            <a:spAutoFit/>
          </a:bodyPr>
          <a:lstStyle/>
          <a:p>
            <a:pPr algn="ctr"/>
            <a:r>
              <a:rPr sz="850" b="0" i="0">
                <a:solidFill>
                  <a:srgbClr val="2C3E50"/>
                </a:solidFill>
              </a:rPr>
              <a:t>18.28%</a:t>
            </a:r>
          </a:p>
        </p:txBody>
      </p:sp>
      <p:sp>
        <p:nvSpPr>
          <p:cNvPr id="57" name="TextBox 56"/>
          <p:cNvSpPr txBox="1"/>
          <p:nvPr/>
        </p:nvSpPr>
        <p:spPr>
          <a:xfrm>
            <a:off x="2377440" y="3054096"/>
            <a:ext cx="749808" cy="246888"/>
          </a:xfrm>
          <a:prstGeom prst="rect">
            <a:avLst/>
          </a:prstGeom>
          <a:noFill/>
        </p:spPr>
        <p:txBody>
          <a:bodyPr wrap="square">
            <a:spAutoFit/>
          </a:bodyPr>
          <a:lstStyle/>
          <a:p>
            <a:pPr algn="ctr"/>
            <a:r>
              <a:rPr sz="850" b="0" i="0">
                <a:solidFill>
                  <a:srgbClr val="2C3E50"/>
                </a:solidFill>
              </a:rPr>
              <a:t>15.05%</a:t>
            </a:r>
          </a:p>
        </p:txBody>
      </p:sp>
      <p:sp>
        <p:nvSpPr>
          <p:cNvPr id="58" name="TextBox 57"/>
          <p:cNvSpPr txBox="1"/>
          <p:nvPr/>
        </p:nvSpPr>
        <p:spPr>
          <a:xfrm>
            <a:off x="3154680" y="3054096"/>
            <a:ext cx="749808" cy="246888"/>
          </a:xfrm>
          <a:prstGeom prst="rect">
            <a:avLst/>
          </a:prstGeom>
          <a:noFill/>
        </p:spPr>
        <p:txBody>
          <a:bodyPr wrap="square">
            <a:spAutoFit/>
          </a:bodyPr>
          <a:lstStyle/>
          <a:p>
            <a:pPr algn="ctr"/>
            <a:r>
              <a:rPr sz="850" b="0" i="0">
                <a:solidFill>
                  <a:srgbClr val="95A5A6"/>
                </a:solidFill>
              </a:rPr>
              <a:t>22.19%</a:t>
            </a:r>
          </a:p>
        </p:txBody>
      </p:sp>
      <p:sp>
        <p:nvSpPr>
          <p:cNvPr id="59" name="TextBox 58"/>
          <p:cNvSpPr txBox="1"/>
          <p:nvPr/>
        </p:nvSpPr>
        <p:spPr>
          <a:xfrm>
            <a:off x="3931920" y="3054096"/>
            <a:ext cx="777240" cy="246888"/>
          </a:xfrm>
          <a:prstGeom prst="rect">
            <a:avLst/>
          </a:prstGeom>
          <a:noFill/>
        </p:spPr>
        <p:txBody>
          <a:bodyPr wrap="square">
            <a:spAutoFit/>
          </a:bodyPr>
          <a:lstStyle/>
          <a:p>
            <a:pPr algn="ctr"/>
            <a:r>
              <a:rPr sz="850" b="0" i="0">
                <a:solidFill>
                  <a:srgbClr val="C0392B"/>
                </a:solidFill>
              </a:rPr>
              <a:t>–7.14%</a:t>
            </a:r>
          </a:p>
        </p:txBody>
      </p:sp>
      <p:sp>
        <p:nvSpPr>
          <p:cNvPr id="60" name="TextBox 59"/>
          <p:cNvSpPr txBox="1"/>
          <p:nvPr/>
        </p:nvSpPr>
        <p:spPr>
          <a:xfrm>
            <a:off x="4736592" y="3054096"/>
            <a:ext cx="822960" cy="246888"/>
          </a:xfrm>
          <a:prstGeom prst="rect">
            <a:avLst/>
          </a:prstGeom>
          <a:noFill/>
        </p:spPr>
        <p:txBody>
          <a:bodyPr wrap="square">
            <a:spAutoFit/>
          </a:bodyPr>
          <a:lstStyle/>
          <a:p>
            <a:pPr algn="ctr"/>
            <a:r>
              <a:rPr sz="900" b="0" i="0" dirty="0">
                <a:solidFill>
                  <a:srgbClr val="C0392B"/>
                </a:solidFill>
              </a:rPr>
              <a:t>–1.30%</a:t>
            </a:r>
          </a:p>
        </p:txBody>
      </p:sp>
      <p:sp>
        <p:nvSpPr>
          <p:cNvPr id="61" name="TextBox 60"/>
          <p:cNvSpPr txBox="1"/>
          <p:nvPr/>
        </p:nvSpPr>
        <p:spPr>
          <a:xfrm>
            <a:off x="5577840" y="3054096"/>
            <a:ext cx="1188720" cy="246888"/>
          </a:xfrm>
          <a:prstGeom prst="rect">
            <a:avLst/>
          </a:prstGeom>
          <a:noFill/>
        </p:spPr>
        <p:txBody>
          <a:bodyPr wrap="square">
            <a:spAutoFit/>
          </a:bodyPr>
          <a:lstStyle/>
          <a:p>
            <a:pPr algn="l"/>
            <a:r>
              <a:rPr sz="750" b="0" i="0">
                <a:solidFill>
                  <a:srgbClr val="2C3E50"/>
                </a:solidFill>
              </a:rPr>
              <a:t>Less overweight</a:t>
            </a:r>
          </a:p>
        </p:txBody>
      </p:sp>
      <p:sp>
        <p:nvSpPr>
          <p:cNvPr id="62" name="Rectangle 61"/>
          <p:cNvSpPr/>
          <p:nvPr/>
        </p:nvSpPr>
        <p:spPr>
          <a:xfrm>
            <a:off x="274320" y="3346704"/>
            <a:ext cx="6583680" cy="320040"/>
          </a:xfrm>
          <a:prstGeom prst="rect">
            <a:avLst/>
          </a:prstGeom>
          <a:solidFill>
            <a:srgbClr val="FDF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01752" y="3392424"/>
            <a:ext cx="502920" cy="246888"/>
          </a:xfrm>
          <a:prstGeom prst="rect">
            <a:avLst/>
          </a:prstGeom>
          <a:noFill/>
        </p:spPr>
        <p:txBody>
          <a:bodyPr wrap="square">
            <a:spAutoFit/>
          </a:bodyPr>
          <a:lstStyle/>
          <a:p>
            <a:pPr algn="l"/>
            <a:r>
              <a:rPr sz="800" b="1" i="0">
                <a:solidFill>
                  <a:srgbClr val="E87A1E"/>
                </a:solidFill>
              </a:rPr>
              <a:t>ABSL</a:t>
            </a:r>
          </a:p>
        </p:txBody>
      </p:sp>
      <p:sp>
        <p:nvSpPr>
          <p:cNvPr id="64" name="TextBox 63"/>
          <p:cNvSpPr txBox="1"/>
          <p:nvPr/>
        </p:nvSpPr>
        <p:spPr>
          <a:xfrm>
            <a:off x="822960" y="3392424"/>
            <a:ext cx="877824" cy="246888"/>
          </a:xfrm>
          <a:prstGeom prst="rect">
            <a:avLst/>
          </a:prstGeom>
          <a:noFill/>
        </p:spPr>
        <p:txBody>
          <a:bodyPr wrap="square">
            <a:spAutoFit/>
          </a:bodyPr>
          <a:lstStyle/>
          <a:p>
            <a:pPr algn="l"/>
            <a:r>
              <a:rPr sz="850" b="0" i="0">
                <a:solidFill>
                  <a:srgbClr val="2C3E50"/>
                </a:solidFill>
              </a:rPr>
              <a:t>Insurance</a:t>
            </a:r>
          </a:p>
        </p:txBody>
      </p:sp>
      <p:sp>
        <p:nvSpPr>
          <p:cNvPr id="65" name="TextBox 64"/>
          <p:cNvSpPr txBox="1"/>
          <p:nvPr/>
        </p:nvSpPr>
        <p:spPr>
          <a:xfrm>
            <a:off x="1719072" y="3392424"/>
            <a:ext cx="621792" cy="246888"/>
          </a:xfrm>
          <a:prstGeom prst="rect">
            <a:avLst/>
          </a:prstGeom>
          <a:noFill/>
        </p:spPr>
        <p:txBody>
          <a:bodyPr wrap="square">
            <a:spAutoFit/>
          </a:bodyPr>
          <a:lstStyle/>
          <a:p>
            <a:pPr algn="ctr"/>
            <a:r>
              <a:rPr sz="850" b="0" i="0">
                <a:solidFill>
                  <a:srgbClr val="2C3E50"/>
                </a:solidFill>
              </a:rPr>
              <a:t>4.79%</a:t>
            </a:r>
          </a:p>
        </p:txBody>
      </p:sp>
      <p:sp>
        <p:nvSpPr>
          <p:cNvPr id="66" name="TextBox 65"/>
          <p:cNvSpPr txBox="1"/>
          <p:nvPr/>
        </p:nvSpPr>
        <p:spPr>
          <a:xfrm>
            <a:off x="2377440" y="3392424"/>
            <a:ext cx="749808" cy="246888"/>
          </a:xfrm>
          <a:prstGeom prst="rect">
            <a:avLst/>
          </a:prstGeom>
          <a:noFill/>
        </p:spPr>
        <p:txBody>
          <a:bodyPr wrap="square">
            <a:spAutoFit/>
          </a:bodyPr>
          <a:lstStyle/>
          <a:p>
            <a:pPr algn="ctr"/>
            <a:r>
              <a:rPr sz="850" b="0" i="0">
                <a:solidFill>
                  <a:srgbClr val="2C3E50"/>
                </a:solidFill>
              </a:rPr>
              <a:t>7.22%</a:t>
            </a:r>
          </a:p>
        </p:txBody>
      </p:sp>
      <p:sp>
        <p:nvSpPr>
          <p:cNvPr id="67" name="TextBox 66"/>
          <p:cNvSpPr txBox="1"/>
          <p:nvPr/>
        </p:nvSpPr>
        <p:spPr>
          <a:xfrm>
            <a:off x="3154680" y="3392424"/>
            <a:ext cx="749808" cy="246888"/>
          </a:xfrm>
          <a:prstGeom prst="rect">
            <a:avLst/>
          </a:prstGeom>
          <a:noFill/>
        </p:spPr>
        <p:txBody>
          <a:bodyPr wrap="square">
            <a:spAutoFit/>
          </a:bodyPr>
          <a:lstStyle/>
          <a:p>
            <a:pPr algn="ctr"/>
            <a:r>
              <a:rPr sz="850" b="0" i="0">
                <a:solidFill>
                  <a:srgbClr val="95A5A6"/>
                </a:solidFill>
              </a:rPr>
              <a:t>22.19%</a:t>
            </a:r>
          </a:p>
        </p:txBody>
      </p:sp>
      <p:sp>
        <p:nvSpPr>
          <p:cNvPr id="68" name="TextBox 67"/>
          <p:cNvSpPr txBox="1"/>
          <p:nvPr/>
        </p:nvSpPr>
        <p:spPr>
          <a:xfrm>
            <a:off x="3931920" y="3392424"/>
            <a:ext cx="777240" cy="246888"/>
          </a:xfrm>
          <a:prstGeom prst="rect">
            <a:avLst/>
          </a:prstGeom>
          <a:noFill/>
        </p:spPr>
        <p:txBody>
          <a:bodyPr wrap="square">
            <a:spAutoFit/>
          </a:bodyPr>
          <a:lstStyle/>
          <a:p>
            <a:pPr algn="ctr"/>
            <a:r>
              <a:rPr sz="850" b="0" i="0">
                <a:solidFill>
                  <a:srgbClr val="C0392B"/>
                </a:solidFill>
              </a:rPr>
              <a:t>–14.97%</a:t>
            </a:r>
          </a:p>
        </p:txBody>
      </p:sp>
      <p:sp>
        <p:nvSpPr>
          <p:cNvPr id="69" name="TextBox 68"/>
          <p:cNvSpPr txBox="1"/>
          <p:nvPr/>
        </p:nvSpPr>
        <p:spPr>
          <a:xfrm>
            <a:off x="4736592" y="3392424"/>
            <a:ext cx="822960" cy="246888"/>
          </a:xfrm>
          <a:prstGeom prst="rect">
            <a:avLst/>
          </a:prstGeom>
          <a:noFill/>
        </p:spPr>
        <p:txBody>
          <a:bodyPr wrap="square">
            <a:spAutoFit/>
          </a:bodyPr>
          <a:lstStyle/>
          <a:p>
            <a:pPr algn="ctr"/>
            <a:r>
              <a:rPr sz="900" b="0" i="0">
                <a:solidFill>
                  <a:srgbClr val="C0392B"/>
                </a:solidFill>
              </a:rPr>
              <a:t>–0.72%</a:t>
            </a:r>
          </a:p>
        </p:txBody>
      </p:sp>
      <p:sp>
        <p:nvSpPr>
          <p:cNvPr id="70" name="TextBox 69"/>
          <p:cNvSpPr txBox="1"/>
          <p:nvPr/>
        </p:nvSpPr>
        <p:spPr>
          <a:xfrm>
            <a:off x="5577840" y="3392424"/>
            <a:ext cx="1188720" cy="246888"/>
          </a:xfrm>
          <a:prstGeom prst="rect">
            <a:avLst/>
          </a:prstGeom>
          <a:noFill/>
        </p:spPr>
        <p:txBody>
          <a:bodyPr wrap="square">
            <a:spAutoFit/>
          </a:bodyPr>
          <a:lstStyle/>
          <a:p>
            <a:pPr algn="l"/>
            <a:r>
              <a:rPr sz="750" b="0" i="0">
                <a:solidFill>
                  <a:srgbClr val="2C3E50"/>
                </a:solidFill>
              </a:rPr>
              <a:t>Less drag</a:t>
            </a:r>
          </a:p>
        </p:txBody>
      </p:sp>
      <p:sp>
        <p:nvSpPr>
          <p:cNvPr id="71" name="Rectangle 70"/>
          <p:cNvSpPr/>
          <p:nvPr/>
        </p:nvSpPr>
        <p:spPr>
          <a:xfrm>
            <a:off x="274320" y="3685031"/>
            <a:ext cx="6583680" cy="320040"/>
          </a:xfrm>
          <a:prstGeom prst="rect">
            <a:avLst/>
          </a:prstGeom>
          <a:solidFill>
            <a:srgbClr val="FDF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301752" y="3730751"/>
            <a:ext cx="502920" cy="246888"/>
          </a:xfrm>
          <a:prstGeom prst="rect">
            <a:avLst/>
          </a:prstGeom>
          <a:noFill/>
        </p:spPr>
        <p:txBody>
          <a:bodyPr wrap="square">
            <a:spAutoFit/>
          </a:bodyPr>
          <a:lstStyle/>
          <a:p>
            <a:pPr algn="l"/>
            <a:r>
              <a:rPr sz="800" b="1" i="0">
                <a:solidFill>
                  <a:srgbClr val="E87A1E"/>
                </a:solidFill>
              </a:rPr>
              <a:t>ABSL</a:t>
            </a:r>
          </a:p>
        </p:txBody>
      </p:sp>
      <p:sp>
        <p:nvSpPr>
          <p:cNvPr id="73" name="TextBox 72"/>
          <p:cNvSpPr txBox="1"/>
          <p:nvPr/>
        </p:nvSpPr>
        <p:spPr>
          <a:xfrm>
            <a:off x="822960" y="3730751"/>
            <a:ext cx="877824" cy="246888"/>
          </a:xfrm>
          <a:prstGeom prst="rect">
            <a:avLst/>
          </a:prstGeom>
          <a:noFill/>
        </p:spPr>
        <p:txBody>
          <a:bodyPr wrap="square">
            <a:spAutoFit/>
          </a:bodyPr>
          <a:lstStyle/>
          <a:p>
            <a:pPr algn="l"/>
            <a:r>
              <a:rPr sz="850" b="0" i="0">
                <a:solidFill>
                  <a:srgbClr val="2C3E50"/>
                </a:solidFill>
              </a:rPr>
              <a:t>MFI / SFB</a:t>
            </a:r>
          </a:p>
        </p:txBody>
      </p:sp>
      <p:sp>
        <p:nvSpPr>
          <p:cNvPr id="74" name="TextBox 73"/>
          <p:cNvSpPr txBox="1"/>
          <p:nvPr/>
        </p:nvSpPr>
        <p:spPr>
          <a:xfrm>
            <a:off x="1719072" y="3730751"/>
            <a:ext cx="621792" cy="246888"/>
          </a:xfrm>
          <a:prstGeom prst="rect">
            <a:avLst/>
          </a:prstGeom>
          <a:noFill/>
        </p:spPr>
        <p:txBody>
          <a:bodyPr wrap="square">
            <a:spAutoFit/>
          </a:bodyPr>
          <a:lstStyle/>
          <a:p>
            <a:pPr algn="ctr"/>
            <a:r>
              <a:rPr sz="850" b="0" i="0">
                <a:solidFill>
                  <a:srgbClr val="2C3E50"/>
                </a:solidFill>
              </a:rPr>
              <a:t>3.96%</a:t>
            </a:r>
          </a:p>
        </p:txBody>
      </p:sp>
      <p:sp>
        <p:nvSpPr>
          <p:cNvPr id="75" name="TextBox 74"/>
          <p:cNvSpPr txBox="1"/>
          <p:nvPr/>
        </p:nvSpPr>
        <p:spPr>
          <a:xfrm>
            <a:off x="2377440" y="3730751"/>
            <a:ext cx="749808" cy="246888"/>
          </a:xfrm>
          <a:prstGeom prst="rect">
            <a:avLst/>
          </a:prstGeom>
          <a:noFill/>
        </p:spPr>
        <p:txBody>
          <a:bodyPr wrap="square">
            <a:spAutoFit/>
          </a:bodyPr>
          <a:lstStyle/>
          <a:p>
            <a:pPr algn="ctr"/>
            <a:r>
              <a:rPr sz="850" b="0" i="0">
                <a:solidFill>
                  <a:srgbClr val="C0392B"/>
                </a:solidFill>
              </a:rPr>
              <a:t>–18.89%</a:t>
            </a:r>
          </a:p>
        </p:txBody>
      </p:sp>
      <p:sp>
        <p:nvSpPr>
          <p:cNvPr id="76" name="TextBox 75"/>
          <p:cNvSpPr txBox="1"/>
          <p:nvPr/>
        </p:nvSpPr>
        <p:spPr>
          <a:xfrm>
            <a:off x="3154680" y="3730751"/>
            <a:ext cx="749808" cy="246888"/>
          </a:xfrm>
          <a:prstGeom prst="rect">
            <a:avLst/>
          </a:prstGeom>
          <a:noFill/>
        </p:spPr>
        <p:txBody>
          <a:bodyPr wrap="square">
            <a:spAutoFit/>
          </a:bodyPr>
          <a:lstStyle/>
          <a:p>
            <a:pPr algn="ctr"/>
            <a:r>
              <a:rPr sz="850" b="0" i="0">
                <a:solidFill>
                  <a:srgbClr val="95A5A6"/>
                </a:solidFill>
              </a:rPr>
              <a:t>22.19%</a:t>
            </a:r>
          </a:p>
        </p:txBody>
      </p:sp>
      <p:sp>
        <p:nvSpPr>
          <p:cNvPr id="77" name="TextBox 76"/>
          <p:cNvSpPr txBox="1"/>
          <p:nvPr/>
        </p:nvSpPr>
        <p:spPr>
          <a:xfrm>
            <a:off x="3931920" y="3730751"/>
            <a:ext cx="777240" cy="246888"/>
          </a:xfrm>
          <a:prstGeom prst="rect">
            <a:avLst/>
          </a:prstGeom>
          <a:noFill/>
        </p:spPr>
        <p:txBody>
          <a:bodyPr wrap="square">
            <a:spAutoFit/>
          </a:bodyPr>
          <a:lstStyle/>
          <a:p>
            <a:pPr algn="ctr"/>
            <a:r>
              <a:rPr sz="850" b="0" i="0">
                <a:solidFill>
                  <a:srgbClr val="C0392B"/>
                </a:solidFill>
              </a:rPr>
              <a:t>–41.08%</a:t>
            </a:r>
          </a:p>
        </p:txBody>
      </p:sp>
      <p:sp>
        <p:nvSpPr>
          <p:cNvPr id="78" name="TextBox 77"/>
          <p:cNvSpPr txBox="1"/>
          <p:nvPr/>
        </p:nvSpPr>
        <p:spPr>
          <a:xfrm>
            <a:off x="4736592" y="3730751"/>
            <a:ext cx="822960" cy="246888"/>
          </a:xfrm>
          <a:prstGeom prst="rect">
            <a:avLst/>
          </a:prstGeom>
          <a:noFill/>
        </p:spPr>
        <p:txBody>
          <a:bodyPr wrap="square">
            <a:spAutoFit/>
          </a:bodyPr>
          <a:lstStyle/>
          <a:p>
            <a:pPr algn="ctr"/>
            <a:r>
              <a:rPr sz="900" b="0" i="0">
                <a:solidFill>
                  <a:srgbClr val="C0392B"/>
                </a:solidFill>
              </a:rPr>
              <a:t>–1.63%</a:t>
            </a:r>
          </a:p>
        </p:txBody>
      </p:sp>
      <p:sp>
        <p:nvSpPr>
          <p:cNvPr id="79" name="TextBox 78"/>
          <p:cNvSpPr txBox="1"/>
          <p:nvPr/>
        </p:nvSpPr>
        <p:spPr>
          <a:xfrm>
            <a:off x="5577840" y="3730751"/>
            <a:ext cx="1188720" cy="246888"/>
          </a:xfrm>
          <a:prstGeom prst="rect">
            <a:avLst/>
          </a:prstGeom>
          <a:noFill/>
        </p:spPr>
        <p:txBody>
          <a:bodyPr wrap="square">
            <a:spAutoFit/>
          </a:bodyPr>
          <a:lstStyle/>
          <a:p>
            <a:pPr algn="l"/>
            <a:r>
              <a:rPr sz="750" b="0" i="0">
                <a:solidFill>
                  <a:srgbClr val="2C3E50"/>
                </a:solidFill>
              </a:rPr>
              <a:t>Less exposed</a:t>
            </a:r>
          </a:p>
        </p:txBody>
      </p:sp>
      <p:sp>
        <p:nvSpPr>
          <p:cNvPr id="80" name="Rectangle 79"/>
          <p:cNvSpPr/>
          <p:nvPr/>
        </p:nvSpPr>
        <p:spPr>
          <a:xfrm>
            <a:off x="274320" y="4023360"/>
            <a:ext cx="6583680" cy="320040"/>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301752" y="4069080"/>
            <a:ext cx="502920" cy="246888"/>
          </a:xfrm>
          <a:prstGeom prst="rect">
            <a:avLst/>
          </a:prstGeom>
          <a:noFill/>
        </p:spPr>
        <p:txBody>
          <a:bodyPr wrap="square">
            <a:spAutoFit/>
          </a:bodyPr>
          <a:lstStyle/>
          <a:p>
            <a:pPr algn="l"/>
            <a:r>
              <a:rPr sz="800" b="1" i="0">
                <a:solidFill>
                  <a:srgbClr val="E87A1E"/>
                </a:solidFill>
              </a:rPr>
              <a:t>ABSL</a:t>
            </a:r>
          </a:p>
        </p:txBody>
      </p:sp>
      <p:sp>
        <p:nvSpPr>
          <p:cNvPr id="82" name="TextBox 81"/>
          <p:cNvSpPr txBox="1"/>
          <p:nvPr/>
        </p:nvSpPr>
        <p:spPr>
          <a:xfrm>
            <a:off x="734291" y="4069080"/>
            <a:ext cx="966493" cy="223138"/>
          </a:xfrm>
          <a:prstGeom prst="rect">
            <a:avLst/>
          </a:prstGeom>
          <a:noFill/>
        </p:spPr>
        <p:txBody>
          <a:bodyPr wrap="square">
            <a:spAutoFit/>
          </a:bodyPr>
          <a:lstStyle/>
          <a:p>
            <a:pPr algn="l"/>
            <a:r>
              <a:rPr sz="850" b="1" i="0" dirty="0">
                <a:solidFill>
                  <a:srgbClr val="2C3E50"/>
                </a:solidFill>
              </a:rPr>
              <a:t>Other </a:t>
            </a:r>
            <a:r>
              <a:rPr lang="en-IN" sz="850" b="1" i="0" dirty="0">
                <a:solidFill>
                  <a:srgbClr val="2C3E50"/>
                </a:solidFill>
              </a:rPr>
              <a:t>Holdings</a:t>
            </a:r>
            <a:endParaRPr sz="850" b="1" i="0" dirty="0">
              <a:solidFill>
                <a:srgbClr val="2C3E50"/>
              </a:solidFill>
            </a:endParaRPr>
          </a:p>
        </p:txBody>
      </p:sp>
      <p:sp>
        <p:nvSpPr>
          <p:cNvPr id="83" name="TextBox 82"/>
          <p:cNvSpPr txBox="1"/>
          <p:nvPr/>
        </p:nvSpPr>
        <p:spPr>
          <a:xfrm>
            <a:off x="1719072" y="4069080"/>
            <a:ext cx="621792" cy="246888"/>
          </a:xfrm>
          <a:prstGeom prst="rect">
            <a:avLst/>
          </a:prstGeom>
          <a:noFill/>
        </p:spPr>
        <p:txBody>
          <a:bodyPr wrap="square">
            <a:spAutoFit/>
          </a:bodyPr>
          <a:lstStyle/>
          <a:p>
            <a:pPr algn="ctr"/>
            <a:r>
              <a:rPr sz="850" b="0" i="0">
                <a:solidFill>
                  <a:srgbClr val="2C3E50"/>
                </a:solidFill>
              </a:rPr>
              <a:t>~73%</a:t>
            </a:r>
          </a:p>
        </p:txBody>
      </p:sp>
      <p:sp>
        <p:nvSpPr>
          <p:cNvPr id="84" name="TextBox 83"/>
          <p:cNvSpPr txBox="1"/>
          <p:nvPr/>
        </p:nvSpPr>
        <p:spPr>
          <a:xfrm>
            <a:off x="2377440" y="4069080"/>
            <a:ext cx="749808" cy="246888"/>
          </a:xfrm>
          <a:prstGeom prst="rect">
            <a:avLst/>
          </a:prstGeom>
          <a:noFill/>
        </p:spPr>
        <p:txBody>
          <a:bodyPr wrap="square">
            <a:spAutoFit/>
          </a:bodyPr>
          <a:lstStyle/>
          <a:p>
            <a:pPr algn="ctr"/>
            <a:r>
              <a:rPr sz="850" b="0" i="0">
                <a:solidFill>
                  <a:srgbClr val="2C3E50"/>
                </a:solidFill>
              </a:rPr>
              <a:t>—</a:t>
            </a:r>
          </a:p>
        </p:txBody>
      </p:sp>
      <p:sp>
        <p:nvSpPr>
          <p:cNvPr id="85" name="TextBox 84"/>
          <p:cNvSpPr txBox="1"/>
          <p:nvPr/>
        </p:nvSpPr>
        <p:spPr>
          <a:xfrm>
            <a:off x="3154680" y="4069080"/>
            <a:ext cx="749808" cy="246888"/>
          </a:xfrm>
          <a:prstGeom prst="rect">
            <a:avLst/>
          </a:prstGeom>
          <a:noFill/>
        </p:spPr>
        <p:txBody>
          <a:bodyPr wrap="square">
            <a:spAutoFit/>
          </a:bodyPr>
          <a:lstStyle/>
          <a:p>
            <a:pPr algn="ctr"/>
            <a:r>
              <a:rPr sz="850" b="0" i="0">
                <a:solidFill>
                  <a:srgbClr val="95A5A6"/>
                </a:solidFill>
              </a:rPr>
              <a:t>—</a:t>
            </a:r>
          </a:p>
        </p:txBody>
      </p:sp>
      <p:sp>
        <p:nvSpPr>
          <p:cNvPr id="86" name="TextBox 85"/>
          <p:cNvSpPr txBox="1"/>
          <p:nvPr/>
        </p:nvSpPr>
        <p:spPr>
          <a:xfrm>
            <a:off x="3931920" y="4069080"/>
            <a:ext cx="777240" cy="246888"/>
          </a:xfrm>
          <a:prstGeom prst="rect">
            <a:avLst/>
          </a:prstGeom>
          <a:noFill/>
        </p:spPr>
        <p:txBody>
          <a:bodyPr wrap="square">
            <a:spAutoFit/>
          </a:bodyPr>
          <a:lstStyle/>
          <a:p>
            <a:pPr algn="ctr"/>
            <a:r>
              <a:rPr sz="850" b="0" i="0">
                <a:solidFill>
                  <a:srgbClr val="2C3E50"/>
                </a:solidFill>
              </a:rPr>
              <a:t>—</a:t>
            </a:r>
          </a:p>
        </p:txBody>
      </p:sp>
      <p:sp>
        <p:nvSpPr>
          <p:cNvPr id="87" name="TextBox 86"/>
          <p:cNvSpPr txBox="1"/>
          <p:nvPr/>
        </p:nvSpPr>
        <p:spPr>
          <a:xfrm>
            <a:off x="4736592" y="4069080"/>
            <a:ext cx="822960" cy="246888"/>
          </a:xfrm>
          <a:prstGeom prst="rect">
            <a:avLst/>
          </a:prstGeom>
          <a:noFill/>
        </p:spPr>
        <p:txBody>
          <a:bodyPr wrap="square">
            <a:spAutoFit/>
          </a:bodyPr>
          <a:lstStyle/>
          <a:p>
            <a:pPr algn="ctr"/>
            <a:r>
              <a:rPr sz="900" b="1" i="0">
                <a:solidFill>
                  <a:srgbClr val="27AE60"/>
                </a:solidFill>
              </a:rPr>
              <a:t>+0.51%</a:t>
            </a:r>
          </a:p>
        </p:txBody>
      </p:sp>
      <p:sp>
        <p:nvSpPr>
          <p:cNvPr id="88" name="TextBox 87"/>
          <p:cNvSpPr txBox="1"/>
          <p:nvPr/>
        </p:nvSpPr>
        <p:spPr>
          <a:xfrm>
            <a:off x="5577840" y="4069080"/>
            <a:ext cx="1188720" cy="246888"/>
          </a:xfrm>
          <a:prstGeom prst="rect">
            <a:avLst/>
          </a:prstGeom>
          <a:noFill/>
        </p:spPr>
        <p:txBody>
          <a:bodyPr wrap="square">
            <a:spAutoFit/>
          </a:bodyPr>
          <a:lstStyle/>
          <a:p>
            <a:pPr algn="l"/>
            <a:r>
              <a:rPr sz="750" b="1" i="0">
                <a:solidFill>
                  <a:srgbClr val="2C3E50"/>
                </a:solidFill>
              </a:rPr>
              <a:t>Missed alpha here</a:t>
            </a:r>
          </a:p>
        </p:txBody>
      </p:sp>
      <p:sp>
        <p:nvSpPr>
          <p:cNvPr id="89" name="Rectangle 88"/>
          <p:cNvSpPr/>
          <p:nvPr/>
        </p:nvSpPr>
        <p:spPr>
          <a:xfrm>
            <a:off x="7040880" y="1298448"/>
            <a:ext cx="4846320" cy="502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7040880" y="1298448"/>
            <a:ext cx="4846320" cy="32004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7114032" y="1316736"/>
            <a:ext cx="4663440" cy="274320"/>
          </a:xfrm>
          <a:prstGeom prst="rect">
            <a:avLst/>
          </a:prstGeom>
          <a:noFill/>
        </p:spPr>
        <p:txBody>
          <a:bodyPr wrap="square">
            <a:spAutoFit/>
          </a:bodyPr>
          <a:lstStyle/>
          <a:p>
            <a:pPr algn="l"/>
            <a:r>
              <a:rPr sz="1000" b="1" i="0" dirty="0">
                <a:solidFill>
                  <a:srgbClr val="FFFFFF"/>
                </a:solidFill>
              </a:rPr>
              <a:t>GAP ANALYSIS: HOW 4.18% EXPLAINED</a:t>
            </a:r>
          </a:p>
        </p:txBody>
      </p:sp>
      <p:sp>
        <p:nvSpPr>
          <p:cNvPr id="92" name="TextBox 91"/>
          <p:cNvSpPr txBox="1"/>
          <p:nvPr/>
        </p:nvSpPr>
        <p:spPr>
          <a:xfrm>
            <a:off x="7114032" y="1664208"/>
            <a:ext cx="4663440" cy="237744"/>
          </a:xfrm>
          <a:prstGeom prst="rect">
            <a:avLst/>
          </a:prstGeom>
          <a:noFill/>
        </p:spPr>
        <p:txBody>
          <a:bodyPr wrap="square">
            <a:spAutoFit/>
          </a:bodyPr>
          <a:lstStyle/>
          <a:p>
            <a:pPr algn="l"/>
            <a:r>
              <a:rPr sz="850" b="1" i="0">
                <a:solidFill>
                  <a:srgbClr val="2C3E50"/>
                </a:solidFill>
              </a:rPr>
              <a:t>3 Core Holdings (HDFC+Ins+MFI):</a:t>
            </a:r>
          </a:p>
        </p:txBody>
      </p:sp>
      <p:sp>
        <p:nvSpPr>
          <p:cNvPr id="93" name="TextBox 92"/>
          <p:cNvSpPr txBox="1"/>
          <p:nvPr/>
        </p:nvSpPr>
        <p:spPr>
          <a:xfrm>
            <a:off x="7114032" y="1901952"/>
            <a:ext cx="4663440" cy="237744"/>
          </a:xfrm>
          <a:prstGeom prst="rect">
            <a:avLst/>
          </a:prstGeom>
          <a:noFill/>
        </p:spPr>
        <p:txBody>
          <a:bodyPr wrap="square">
            <a:spAutoFit/>
          </a:bodyPr>
          <a:lstStyle/>
          <a:p>
            <a:pPr algn="l"/>
            <a:r>
              <a:rPr sz="850" b="0" i="0">
                <a:solidFill>
                  <a:srgbClr val="C0392B"/>
                </a:solidFill>
              </a:rPr>
              <a:t>  NIMF drag: –4.59%  |  ABSL drag: –3.65%</a:t>
            </a:r>
          </a:p>
        </p:txBody>
      </p:sp>
      <p:sp>
        <p:nvSpPr>
          <p:cNvPr id="94" name="TextBox 93"/>
          <p:cNvSpPr txBox="1"/>
          <p:nvPr/>
        </p:nvSpPr>
        <p:spPr>
          <a:xfrm>
            <a:off x="7114032" y="2139696"/>
            <a:ext cx="4663440" cy="237744"/>
          </a:xfrm>
          <a:prstGeom prst="rect">
            <a:avLst/>
          </a:prstGeom>
          <a:noFill/>
        </p:spPr>
        <p:txBody>
          <a:bodyPr wrap="square">
            <a:spAutoFit/>
          </a:bodyPr>
          <a:lstStyle/>
          <a:p>
            <a:pPr algn="l"/>
            <a:r>
              <a:rPr sz="850" b="1" i="0">
                <a:solidFill>
                  <a:srgbClr val="C0392B"/>
                </a:solidFill>
              </a:rPr>
              <a:t>  ► ABSL 0.94% BETTER on these 3</a:t>
            </a:r>
          </a:p>
        </p:txBody>
      </p:sp>
      <p:sp>
        <p:nvSpPr>
          <p:cNvPr id="95" name="TextBox 94"/>
          <p:cNvSpPr txBox="1"/>
          <p:nvPr/>
        </p:nvSpPr>
        <p:spPr>
          <a:xfrm>
            <a:off x="7114032" y="2468879"/>
            <a:ext cx="4663440" cy="223138"/>
          </a:xfrm>
          <a:prstGeom prst="rect">
            <a:avLst/>
          </a:prstGeom>
          <a:noFill/>
        </p:spPr>
        <p:txBody>
          <a:bodyPr wrap="square">
            <a:spAutoFit/>
          </a:bodyPr>
          <a:lstStyle/>
          <a:p>
            <a:pPr algn="l"/>
            <a:r>
              <a:rPr sz="850" b="1" i="0" dirty="0">
                <a:solidFill>
                  <a:srgbClr val="2C3E50"/>
                </a:solidFill>
              </a:rPr>
              <a:t>Other </a:t>
            </a:r>
            <a:r>
              <a:rPr lang="en-IN" sz="850" b="1" i="0" dirty="0">
                <a:solidFill>
                  <a:srgbClr val="2C3E50"/>
                </a:solidFill>
              </a:rPr>
              <a:t>67% to 73% </a:t>
            </a:r>
            <a:r>
              <a:rPr sz="850" b="1" i="0" dirty="0">
                <a:solidFill>
                  <a:srgbClr val="2C3E50"/>
                </a:solidFill>
              </a:rPr>
              <a:t>of Portfolio:</a:t>
            </a:r>
          </a:p>
        </p:txBody>
      </p:sp>
      <p:sp>
        <p:nvSpPr>
          <p:cNvPr id="96" name="TextBox 95"/>
          <p:cNvSpPr txBox="1"/>
          <p:nvPr/>
        </p:nvSpPr>
        <p:spPr>
          <a:xfrm>
            <a:off x="7114032" y="2706624"/>
            <a:ext cx="4663440" cy="223138"/>
          </a:xfrm>
          <a:prstGeom prst="rect">
            <a:avLst/>
          </a:prstGeom>
          <a:noFill/>
        </p:spPr>
        <p:txBody>
          <a:bodyPr wrap="square">
            <a:spAutoFit/>
          </a:bodyPr>
          <a:lstStyle/>
          <a:p>
            <a:pPr algn="l"/>
            <a:r>
              <a:rPr lang="en-US" sz="850" b="0" i="0" dirty="0">
                <a:solidFill>
                  <a:srgbClr val="27AE60"/>
                </a:solidFill>
              </a:rPr>
              <a:t>Other Holdings (67% - 73% of Portfolio): NIMF outperformed ABSL by 5.12%</a:t>
            </a:r>
            <a:endParaRPr lang="en-IN" sz="850" b="0" i="0" dirty="0">
              <a:solidFill>
                <a:srgbClr val="27AE60"/>
              </a:solidFill>
            </a:endParaRPr>
          </a:p>
        </p:txBody>
      </p:sp>
      <p:sp>
        <p:nvSpPr>
          <p:cNvPr id="97" name="TextBox 96"/>
          <p:cNvSpPr txBox="1"/>
          <p:nvPr/>
        </p:nvSpPr>
        <p:spPr>
          <a:xfrm>
            <a:off x="7114032" y="2944368"/>
            <a:ext cx="4663440" cy="223138"/>
          </a:xfrm>
          <a:prstGeom prst="rect">
            <a:avLst/>
          </a:prstGeom>
          <a:noFill/>
        </p:spPr>
        <p:txBody>
          <a:bodyPr wrap="square">
            <a:spAutoFit/>
          </a:bodyPr>
          <a:lstStyle/>
          <a:p>
            <a:pPr algn="l"/>
            <a:r>
              <a:rPr sz="850" b="1" i="0" dirty="0">
                <a:solidFill>
                  <a:srgbClr val="27AE60"/>
                </a:solidFill>
              </a:rPr>
              <a:t>  ★ NIMF 5.</a:t>
            </a:r>
            <a:r>
              <a:rPr lang="en-IN" sz="850" b="1" i="0" dirty="0">
                <a:solidFill>
                  <a:srgbClr val="27AE60"/>
                </a:solidFill>
              </a:rPr>
              <a:t>1</a:t>
            </a:r>
            <a:r>
              <a:rPr sz="850" b="1" i="0" dirty="0">
                <a:solidFill>
                  <a:srgbClr val="27AE60"/>
                </a:solidFill>
              </a:rPr>
              <a:t>2% BETTER = TRUE DRIVER</a:t>
            </a:r>
          </a:p>
        </p:txBody>
      </p:sp>
      <p:sp>
        <p:nvSpPr>
          <p:cNvPr id="98" name="TextBox 97"/>
          <p:cNvSpPr txBox="1"/>
          <p:nvPr/>
        </p:nvSpPr>
        <p:spPr>
          <a:xfrm>
            <a:off x="7114032" y="3273551"/>
            <a:ext cx="4663440" cy="237744"/>
          </a:xfrm>
          <a:prstGeom prst="rect">
            <a:avLst/>
          </a:prstGeom>
          <a:noFill/>
        </p:spPr>
        <p:txBody>
          <a:bodyPr wrap="square">
            <a:spAutoFit/>
          </a:bodyPr>
          <a:lstStyle/>
          <a:p>
            <a:pPr algn="l"/>
            <a:r>
              <a:rPr sz="850" b="1" i="0" dirty="0">
                <a:solidFill>
                  <a:srgbClr val="2C3E50"/>
                </a:solidFill>
              </a:rPr>
              <a:t>Sector Returns vs Benchmark (22.19%):</a:t>
            </a:r>
          </a:p>
        </p:txBody>
      </p:sp>
      <p:sp>
        <p:nvSpPr>
          <p:cNvPr id="99" name="TextBox 98"/>
          <p:cNvSpPr txBox="1"/>
          <p:nvPr/>
        </p:nvSpPr>
        <p:spPr>
          <a:xfrm>
            <a:off x="7114032" y="3511296"/>
            <a:ext cx="4663440" cy="237744"/>
          </a:xfrm>
          <a:prstGeom prst="rect">
            <a:avLst/>
          </a:prstGeom>
          <a:noFill/>
        </p:spPr>
        <p:txBody>
          <a:bodyPr wrap="square">
            <a:spAutoFit/>
          </a:bodyPr>
          <a:lstStyle/>
          <a:p>
            <a:pPr algn="l"/>
            <a:r>
              <a:rPr sz="850" b="0" i="0">
                <a:solidFill>
                  <a:srgbClr val="C0392B"/>
                </a:solidFill>
              </a:rPr>
              <a:t>  MFI/SFB:    –41.08% excess</a:t>
            </a:r>
          </a:p>
        </p:txBody>
      </p:sp>
      <p:sp>
        <p:nvSpPr>
          <p:cNvPr id="100" name="TextBox 99"/>
          <p:cNvSpPr txBox="1"/>
          <p:nvPr/>
        </p:nvSpPr>
        <p:spPr>
          <a:xfrm>
            <a:off x="7114032" y="3749039"/>
            <a:ext cx="4663440" cy="237744"/>
          </a:xfrm>
          <a:prstGeom prst="rect">
            <a:avLst/>
          </a:prstGeom>
          <a:noFill/>
        </p:spPr>
        <p:txBody>
          <a:bodyPr wrap="square">
            <a:spAutoFit/>
          </a:bodyPr>
          <a:lstStyle/>
          <a:p>
            <a:pPr algn="l"/>
            <a:r>
              <a:rPr sz="850" b="0" i="0">
                <a:solidFill>
                  <a:srgbClr val="C0392B"/>
                </a:solidFill>
              </a:rPr>
              <a:t>  Insurance:  –14.97% excess</a:t>
            </a:r>
          </a:p>
        </p:txBody>
      </p:sp>
      <p:sp>
        <p:nvSpPr>
          <p:cNvPr id="101" name="TextBox 100"/>
          <p:cNvSpPr txBox="1"/>
          <p:nvPr/>
        </p:nvSpPr>
        <p:spPr>
          <a:xfrm>
            <a:off x="7114032" y="3986783"/>
            <a:ext cx="4663440" cy="237744"/>
          </a:xfrm>
          <a:prstGeom prst="rect">
            <a:avLst/>
          </a:prstGeom>
          <a:noFill/>
        </p:spPr>
        <p:txBody>
          <a:bodyPr wrap="square">
            <a:spAutoFit/>
          </a:bodyPr>
          <a:lstStyle/>
          <a:p>
            <a:pPr algn="l"/>
            <a:r>
              <a:rPr sz="850" b="0" i="0">
                <a:solidFill>
                  <a:srgbClr val="E87A1E"/>
                </a:solidFill>
              </a:rPr>
              <a:t>  HDFC Bank:   –7.14% excess</a:t>
            </a:r>
          </a:p>
        </p:txBody>
      </p:sp>
      <p:sp>
        <p:nvSpPr>
          <p:cNvPr id="102" name="TextBox 101"/>
          <p:cNvSpPr txBox="1"/>
          <p:nvPr/>
        </p:nvSpPr>
        <p:spPr>
          <a:xfrm>
            <a:off x="7114032" y="4224527"/>
            <a:ext cx="4663440" cy="237744"/>
          </a:xfrm>
          <a:prstGeom prst="rect">
            <a:avLst/>
          </a:prstGeom>
          <a:noFill/>
        </p:spPr>
        <p:txBody>
          <a:bodyPr wrap="square">
            <a:spAutoFit/>
          </a:bodyPr>
          <a:lstStyle/>
          <a:p>
            <a:pPr algn="l"/>
            <a:r>
              <a:rPr sz="850" b="1" i="0">
                <a:solidFill>
                  <a:srgbClr val="C0392B"/>
                </a:solidFill>
              </a:rPr>
              <a:t>  All 3 underperformed benchmark!</a:t>
            </a:r>
          </a:p>
        </p:txBody>
      </p:sp>
      <p:sp>
        <p:nvSpPr>
          <p:cNvPr id="103" name="TextBox 102"/>
          <p:cNvSpPr txBox="1"/>
          <p:nvPr/>
        </p:nvSpPr>
        <p:spPr>
          <a:xfrm>
            <a:off x="7114032" y="4553711"/>
            <a:ext cx="4663440" cy="237744"/>
          </a:xfrm>
          <a:prstGeom prst="rect">
            <a:avLst/>
          </a:prstGeom>
          <a:noFill/>
        </p:spPr>
        <p:txBody>
          <a:bodyPr wrap="square">
            <a:spAutoFit/>
          </a:bodyPr>
          <a:lstStyle/>
          <a:p>
            <a:pPr algn="l"/>
            <a:r>
              <a:rPr sz="850" b="0" i="0">
                <a:solidFill>
                  <a:srgbClr val="27AE60"/>
                </a:solidFill>
              </a:rPr>
              <a:t>Pre-RBI: MFI was +19.7% excess</a:t>
            </a:r>
          </a:p>
        </p:txBody>
      </p:sp>
      <p:sp>
        <p:nvSpPr>
          <p:cNvPr id="104" name="TextBox 103"/>
          <p:cNvSpPr txBox="1"/>
          <p:nvPr/>
        </p:nvSpPr>
        <p:spPr>
          <a:xfrm>
            <a:off x="7114032" y="4791455"/>
            <a:ext cx="4663440" cy="237744"/>
          </a:xfrm>
          <a:prstGeom prst="rect">
            <a:avLst/>
          </a:prstGeom>
          <a:noFill/>
        </p:spPr>
        <p:txBody>
          <a:bodyPr wrap="square">
            <a:spAutoFit/>
          </a:bodyPr>
          <a:lstStyle/>
          <a:p>
            <a:pPr algn="l"/>
            <a:r>
              <a:rPr sz="850" b="0" i="0" dirty="0">
                <a:solidFill>
                  <a:srgbClr val="27AE60"/>
                </a:solidFill>
              </a:rPr>
              <a:t>Post-Easing: MFI recovered +2.6% excess</a:t>
            </a:r>
          </a:p>
        </p:txBody>
      </p:sp>
      <p:sp>
        <p:nvSpPr>
          <p:cNvPr id="105" name="TextBox 104"/>
          <p:cNvSpPr txBox="1"/>
          <p:nvPr/>
        </p:nvSpPr>
        <p:spPr>
          <a:xfrm>
            <a:off x="7114032" y="5029199"/>
            <a:ext cx="4663440" cy="237744"/>
          </a:xfrm>
          <a:prstGeom prst="rect">
            <a:avLst/>
          </a:prstGeom>
          <a:noFill/>
        </p:spPr>
        <p:txBody>
          <a:bodyPr wrap="square">
            <a:spAutoFit/>
          </a:bodyPr>
          <a:lstStyle/>
          <a:p>
            <a:pPr algn="l"/>
            <a:r>
              <a:rPr sz="850" b="1" i="0">
                <a:solidFill>
                  <a:srgbClr val="028090"/>
                </a:solidFill>
              </a:rPr>
              <a:t>  → MFI drag is cycle-specific, not secular</a:t>
            </a:r>
          </a:p>
        </p:txBody>
      </p:sp>
      <p:sp>
        <p:nvSpPr>
          <p:cNvPr id="106" name="TextBox 105"/>
          <p:cNvSpPr txBox="1"/>
          <p:nvPr/>
        </p:nvSpPr>
        <p:spPr>
          <a:xfrm>
            <a:off x="7114032" y="5358383"/>
            <a:ext cx="4663440" cy="223138"/>
          </a:xfrm>
          <a:prstGeom prst="rect">
            <a:avLst/>
          </a:prstGeom>
          <a:noFill/>
        </p:spPr>
        <p:txBody>
          <a:bodyPr wrap="square">
            <a:spAutoFit/>
          </a:bodyPr>
          <a:lstStyle/>
          <a:p>
            <a:pPr algn="l"/>
            <a:r>
              <a:rPr sz="850" b="1" i="0" dirty="0">
                <a:solidFill>
                  <a:srgbClr val="1E2761"/>
                </a:solidFill>
              </a:rPr>
              <a:t>CONCLUSION:</a:t>
            </a:r>
          </a:p>
        </p:txBody>
      </p:sp>
      <p:sp>
        <p:nvSpPr>
          <p:cNvPr id="107" name="TextBox 106"/>
          <p:cNvSpPr txBox="1"/>
          <p:nvPr/>
        </p:nvSpPr>
        <p:spPr>
          <a:xfrm>
            <a:off x="7114031" y="5596126"/>
            <a:ext cx="5389695" cy="230832"/>
          </a:xfrm>
          <a:prstGeom prst="rect">
            <a:avLst/>
          </a:prstGeom>
          <a:noFill/>
        </p:spPr>
        <p:txBody>
          <a:bodyPr wrap="square">
            <a:spAutoFit/>
          </a:bodyPr>
          <a:lstStyle/>
          <a:p>
            <a:pPr algn="l"/>
            <a:r>
              <a:rPr lang="en-IN" sz="850" i="0" dirty="0">
                <a:solidFill>
                  <a:srgbClr val="1E2761"/>
                </a:solidFill>
              </a:rPr>
              <a:t>NIMF's manager adds value </a:t>
            </a:r>
            <a:r>
              <a:rPr lang="en-IN" sz="850" b="1" i="0" dirty="0">
                <a:solidFill>
                  <a:srgbClr val="1E2761"/>
                </a:solidFill>
              </a:rPr>
              <a:t> </a:t>
            </a:r>
            <a:r>
              <a:rPr lang="en-US" sz="850" b="0" i="0" dirty="0">
                <a:solidFill>
                  <a:srgbClr val="1E2761"/>
                </a:solidFill>
              </a:rPr>
              <a:t>in mid-cap banks/brokerages - </a:t>
            </a:r>
            <a:r>
              <a:rPr lang="en-US" sz="850" dirty="0">
                <a:solidFill>
                  <a:srgbClr val="1E2761"/>
                </a:solidFill>
              </a:rPr>
              <a:t>not in </a:t>
            </a:r>
            <a:r>
              <a:rPr lang="en-IN" sz="850" dirty="0">
                <a:solidFill>
                  <a:srgbClr val="1E2761"/>
                </a:solidFill>
              </a:rPr>
              <a:t>headline HDFC Bank concentration.</a:t>
            </a:r>
            <a:endParaRPr lang="en-US" sz="850" dirty="0">
              <a:solidFill>
                <a:srgbClr val="1E2761"/>
              </a:solidFill>
            </a:endParaRPr>
          </a:p>
        </p:txBody>
      </p:sp>
      <p:sp>
        <p:nvSpPr>
          <p:cNvPr id="108" name="TextBox 107"/>
          <p:cNvSpPr txBox="1"/>
          <p:nvPr/>
        </p:nvSpPr>
        <p:spPr>
          <a:xfrm>
            <a:off x="7114032" y="5833871"/>
            <a:ext cx="4663440" cy="237744"/>
          </a:xfrm>
          <a:prstGeom prst="rect">
            <a:avLst/>
          </a:prstGeom>
          <a:noFill/>
        </p:spPr>
        <p:txBody>
          <a:bodyPr wrap="square">
            <a:spAutoFit/>
          </a:bodyPr>
          <a:lstStyle/>
          <a:p>
            <a:pPr algn="l"/>
            <a:r>
              <a:rPr sz="850" b="1" i="0">
                <a:solidFill>
                  <a:srgbClr val="1E2761"/>
                </a:solidFill>
              </a:rPr>
              <a:t>headline HDFC Bank concentration.</a:t>
            </a:r>
          </a:p>
        </p:txBody>
      </p:sp>
      <p:sp>
        <p:nvSpPr>
          <p:cNvPr id="109" name="Rectangle 108"/>
          <p:cNvSpPr/>
          <p:nvPr/>
        </p:nvSpPr>
        <p:spPr>
          <a:xfrm>
            <a:off x="274320" y="5897880"/>
            <a:ext cx="11430000" cy="56692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365760" y="5925312"/>
            <a:ext cx="11155680" cy="384721"/>
          </a:xfrm>
          <a:prstGeom prst="rect">
            <a:avLst/>
          </a:prstGeom>
          <a:noFill/>
        </p:spPr>
        <p:txBody>
          <a:bodyPr wrap="square">
            <a:spAutoFit/>
          </a:bodyPr>
          <a:lstStyle/>
          <a:p>
            <a:pPr algn="l"/>
            <a:r>
              <a:rPr lang="en-US" sz="950" b="0" i="0" dirty="0">
                <a:solidFill>
                  <a:srgbClr val="FFFFFF"/>
                </a:solidFill>
              </a:rPr>
              <a:t>STRATEGIC IMPLICATION: Full portfolio attribution is mandatory. NIMF lost 0.94% on headline holdings but won 4.18% overall because the remaining 67% to 73% of the portfolio generated 5.12% more than the ABSL equivalent. This reveals genuine stock selection alpha in Axis Bank, SBI, Kotak and mid tier financials. Investors should evaluate FULL portfolio attribution instead of just the names in the fund factsheet headline.</a:t>
            </a:r>
          </a:p>
        </p:txBody>
      </p:sp>
      <p:sp>
        <p:nvSpPr>
          <p:cNvPr id="111" name="Rectangle 110"/>
          <p:cNvSpPr/>
          <p:nvPr/>
        </p:nvSpPr>
        <p:spPr>
          <a:xfrm>
            <a:off x="0" y="6492240"/>
            <a:ext cx="12188952" cy="36576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274320" y="6519672"/>
            <a:ext cx="11430000" cy="230832"/>
          </a:xfrm>
          <a:prstGeom prst="rect">
            <a:avLst/>
          </a:prstGeom>
          <a:noFill/>
        </p:spPr>
        <p:txBody>
          <a:bodyPr wrap="square">
            <a:spAutoFit/>
          </a:bodyPr>
          <a:lstStyle/>
          <a:p>
            <a:pPr algn="l"/>
            <a:r>
              <a:rPr sz="900" b="0" i="0" dirty="0">
                <a:solidFill>
                  <a:srgbClr val="CADCFC"/>
                </a:solidFill>
              </a:rPr>
              <a:t>Contribution = Avg Weight × (Sector Return </a:t>
            </a:r>
            <a:r>
              <a:rPr lang="en-IN" sz="900" b="0" i="0" dirty="0">
                <a:solidFill>
                  <a:srgbClr val="CADCFC"/>
                </a:solidFill>
              </a:rPr>
              <a:t>-</a:t>
            </a:r>
            <a:r>
              <a:rPr sz="900" b="0" i="0" dirty="0">
                <a:solidFill>
                  <a:srgbClr val="CADCFC"/>
                </a:solidFill>
              </a:rPr>
              <a:t> Benchmark Return)  |  ★ Other = Regime return minus 3-holding contributions  |  Benchmark tightening return: 22.19% </a:t>
            </a:r>
            <a:r>
              <a:rPr lang="en-IN" sz="900" b="0" i="0" dirty="0">
                <a:solidFill>
                  <a:srgbClr val="CADCFC"/>
                </a:solidFill>
              </a:rPr>
              <a:t>cumulative.</a:t>
            </a:r>
            <a:endParaRPr sz="900" b="0" i="0" dirty="0">
              <a:solidFill>
                <a:srgbClr val="CADCFC"/>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64592"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91440"/>
            <a:ext cx="11430000" cy="347472"/>
          </a:xfrm>
          <a:prstGeom prst="rect">
            <a:avLst/>
          </a:prstGeom>
          <a:noFill/>
        </p:spPr>
        <p:txBody>
          <a:bodyPr wrap="square">
            <a:spAutoFit/>
          </a:bodyPr>
          <a:lstStyle/>
          <a:p>
            <a:pPr algn="l"/>
            <a:r>
              <a:rPr sz="1000" b="0" i="0">
                <a:solidFill>
                  <a:srgbClr val="CADCFC"/>
                </a:solidFill>
              </a:rPr>
              <a:t>RISK PROFILE &amp; ACTIONABLE INSIGHTS  |  Synthesis &amp; Strategic Implications</a:t>
            </a:r>
          </a:p>
        </p:txBody>
      </p:sp>
      <p:sp>
        <p:nvSpPr>
          <p:cNvPr id="6" name="TextBox 5"/>
          <p:cNvSpPr txBox="1"/>
          <p:nvPr/>
        </p:nvSpPr>
        <p:spPr>
          <a:xfrm>
            <a:off x="274320" y="457200"/>
            <a:ext cx="11430000" cy="393192"/>
          </a:xfrm>
          <a:prstGeom prst="rect">
            <a:avLst/>
          </a:prstGeom>
          <a:noFill/>
        </p:spPr>
        <p:txBody>
          <a:bodyPr wrap="square">
            <a:spAutoFit/>
          </a:bodyPr>
          <a:lstStyle/>
          <a:p>
            <a:pPr algn="l"/>
            <a:r>
              <a:rPr sz="1700" b="1" i="0">
                <a:solidFill>
                  <a:srgbClr val="FFFFFF"/>
                </a:solidFill>
              </a:rPr>
              <a:t>Causes &amp; Effects: Quality Concentration Wins on Returns and Risk in Credit-Sensitive Cycles</a:t>
            </a:r>
          </a:p>
        </p:txBody>
      </p:sp>
      <p:sp>
        <p:nvSpPr>
          <p:cNvPr id="7" name="TextBox 6"/>
          <p:cNvSpPr txBox="1"/>
          <p:nvPr/>
        </p:nvSpPr>
        <p:spPr>
          <a:xfrm>
            <a:off x="274320" y="960120"/>
            <a:ext cx="11430000" cy="238527"/>
          </a:xfrm>
          <a:prstGeom prst="rect">
            <a:avLst/>
          </a:prstGeom>
          <a:noFill/>
        </p:spPr>
        <p:txBody>
          <a:bodyPr wrap="square">
            <a:spAutoFit/>
          </a:bodyPr>
          <a:lstStyle/>
          <a:p>
            <a:pPr algn="l"/>
            <a:r>
              <a:rPr sz="950" b="1" i="0" dirty="0">
                <a:solidFill>
                  <a:srgbClr val="1E2761"/>
                </a:solidFill>
              </a:rPr>
              <a:t>KEY </a:t>
            </a:r>
            <a:r>
              <a:rPr lang="en-IN" sz="950" b="1" i="0" dirty="0">
                <a:solidFill>
                  <a:srgbClr val="1E2761"/>
                </a:solidFill>
              </a:rPr>
              <a:t>NOTE</a:t>
            </a:r>
            <a:r>
              <a:rPr sz="950" b="1" i="0" dirty="0">
                <a:solidFill>
                  <a:srgbClr val="1E2761"/>
                </a:solidFill>
              </a:rPr>
              <a:t>: NIMF contradicts diversification theory </a:t>
            </a:r>
            <a:r>
              <a:rPr lang="en-IN" sz="950" b="1" i="0" dirty="0">
                <a:solidFill>
                  <a:srgbClr val="1E2761"/>
                </a:solidFill>
              </a:rPr>
              <a:t>-</a:t>
            </a:r>
            <a:r>
              <a:rPr sz="950" b="1" i="0" dirty="0">
                <a:solidFill>
                  <a:srgbClr val="1E2761"/>
                </a:solidFill>
              </a:rPr>
              <a:t> fewer stocks delivered better risk-adjusted returns with less drawdown AND volatility</a:t>
            </a:r>
          </a:p>
        </p:txBody>
      </p:sp>
      <p:sp>
        <p:nvSpPr>
          <p:cNvPr id="8" name="Rectangle 7"/>
          <p:cNvSpPr/>
          <p:nvPr/>
        </p:nvSpPr>
        <p:spPr>
          <a:xfrm>
            <a:off x="274320" y="1234440"/>
            <a:ext cx="11430000" cy="2743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298448"/>
            <a:ext cx="5486400" cy="2743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316736"/>
            <a:ext cx="5303520" cy="228600"/>
          </a:xfrm>
          <a:prstGeom prst="rect">
            <a:avLst/>
          </a:prstGeom>
          <a:noFill/>
        </p:spPr>
        <p:txBody>
          <a:bodyPr wrap="square">
            <a:spAutoFit/>
          </a:bodyPr>
          <a:lstStyle/>
          <a:p>
            <a:pPr algn="l"/>
            <a:r>
              <a:rPr sz="950" b="1" i="0">
                <a:solidFill>
                  <a:srgbClr val="FFFFFF"/>
                </a:solidFill>
              </a:rPr>
              <a:t>CRITICAL RISK EVENTS &amp; DRAWDOWN ANALYSIS</a:t>
            </a:r>
          </a:p>
        </p:txBody>
      </p:sp>
      <p:sp>
        <p:nvSpPr>
          <p:cNvPr id="11" name="Rectangle 10"/>
          <p:cNvSpPr/>
          <p:nvPr/>
        </p:nvSpPr>
        <p:spPr>
          <a:xfrm>
            <a:off x="274320" y="1618488"/>
            <a:ext cx="548640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4320" y="1618488"/>
            <a:ext cx="73152" cy="8046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80" y="1664208"/>
            <a:ext cx="5212080" cy="228600"/>
          </a:xfrm>
          <a:prstGeom prst="rect">
            <a:avLst/>
          </a:prstGeom>
          <a:noFill/>
        </p:spPr>
        <p:txBody>
          <a:bodyPr wrap="square">
            <a:spAutoFit/>
          </a:bodyPr>
          <a:lstStyle/>
          <a:p>
            <a:pPr algn="l"/>
            <a:r>
              <a:rPr sz="950" b="1" i="0">
                <a:solidFill>
                  <a:srgbClr val="2C3E50"/>
                </a:solidFill>
              </a:rPr>
              <a:t>Feb 2025 Credit Shock</a:t>
            </a:r>
          </a:p>
        </p:txBody>
      </p:sp>
      <p:sp>
        <p:nvSpPr>
          <p:cNvPr id="14" name="TextBox 13"/>
          <p:cNvSpPr txBox="1"/>
          <p:nvPr/>
        </p:nvSpPr>
        <p:spPr>
          <a:xfrm>
            <a:off x="411480" y="1874519"/>
            <a:ext cx="5212080" cy="223138"/>
          </a:xfrm>
          <a:prstGeom prst="rect">
            <a:avLst/>
          </a:prstGeom>
          <a:noFill/>
        </p:spPr>
        <p:txBody>
          <a:bodyPr wrap="square">
            <a:spAutoFit/>
          </a:bodyPr>
          <a:lstStyle/>
          <a:p>
            <a:pPr algn="l"/>
            <a:r>
              <a:rPr lang="en-US" sz="850" b="0" i="0" dirty="0">
                <a:solidFill>
                  <a:srgbClr val="2C3E50"/>
                </a:solidFill>
              </a:rPr>
              <a:t>Active funds: –9.7% to –11.9% (3Y max DD) vs Benchmark: –7.1%</a:t>
            </a:r>
            <a:endParaRPr sz="850" b="0" i="0" dirty="0">
              <a:solidFill>
                <a:srgbClr val="2C3E50"/>
              </a:solidFill>
            </a:endParaRPr>
          </a:p>
        </p:txBody>
      </p:sp>
      <p:sp>
        <p:nvSpPr>
          <p:cNvPr id="15" name="TextBox 14"/>
          <p:cNvSpPr txBox="1"/>
          <p:nvPr/>
        </p:nvSpPr>
        <p:spPr>
          <a:xfrm>
            <a:off x="411480" y="2075688"/>
            <a:ext cx="5212080" cy="223138"/>
          </a:xfrm>
          <a:prstGeom prst="rect">
            <a:avLst/>
          </a:prstGeom>
          <a:noFill/>
        </p:spPr>
        <p:txBody>
          <a:bodyPr wrap="square">
            <a:spAutoFit/>
          </a:bodyPr>
          <a:lstStyle/>
          <a:p>
            <a:pPr algn="l"/>
            <a:r>
              <a:rPr sz="850" b="0" i="1" dirty="0">
                <a:solidFill>
                  <a:srgbClr val="27AE60"/>
                </a:solidFill>
              </a:rPr>
              <a:t>✓ Active management added value</a:t>
            </a:r>
            <a:r>
              <a:rPr lang="en-IN" sz="850" b="0" i="1" dirty="0">
                <a:solidFill>
                  <a:srgbClr val="27AE60"/>
                </a:solidFill>
              </a:rPr>
              <a:t>; </a:t>
            </a:r>
            <a:r>
              <a:rPr sz="850" b="0" i="1" dirty="0">
                <a:solidFill>
                  <a:srgbClr val="27AE60"/>
                </a:solidFill>
              </a:rPr>
              <a:t>contained sector-specific credit stress vs index</a:t>
            </a:r>
          </a:p>
        </p:txBody>
      </p:sp>
      <p:sp>
        <p:nvSpPr>
          <p:cNvPr id="16" name="Rectangle 15"/>
          <p:cNvSpPr/>
          <p:nvPr/>
        </p:nvSpPr>
        <p:spPr>
          <a:xfrm>
            <a:off x="274320" y="2478024"/>
            <a:ext cx="548640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74320" y="2478024"/>
            <a:ext cx="73152" cy="8046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2523744"/>
            <a:ext cx="5212080" cy="228600"/>
          </a:xfrm>
          <a:prstGeom prst="rect">
            <a:avLst/>
          </a:prstGeom>
          <a:noFill/>
        </p:spPr>
        <p:txBody>
          <a:bodyPr wrap="square">
            <a:spAutoFit/>
          </a:bodyPr>
          <a:lstStyle/>
          <a:p>
            <a:pPr algn="l"/>
            <a:r>
              <a:rPr sz="950" b="1" i="0" dirty="0">
                <a:solidFill>
                  <a:srgbClr val="2C3E50"/>
                </a:solidFill>
              </a:rPr>
              <a:t>Aug 2024 Peak Drawdown</a:t>
            </a:r>
          </a:p>
        </p:txBody>
      </p:sp>
      <p:sp>
        <p:nvSpPr>
          <p:cNvPr id="19" name="TextBox 18"/>
          <p:cNvSpPr txBox="1"/>
          <p:nvPr/>
        </p:nvSpPr>
        <p:spPr>
          <a:xfrm>
            <a:off x="411480" y="2734056"/>
            <a:ext cx="5212080" cy="223138"/>
          </a:xfrm>
          <a:prstGeom prst="rect">
            <a:avLst/>
          </a:prstGeom>
          <a:noFill/>
        </p:spPr>
        <p:txBody>
          <a:bodyPr wrap="square">
            <a:spAutoFit/>
          </a:bodyPr>
          <a:lstStyle/>
          <a:p>
            <a:pPr algn="l"/>
            <a:r>
              <a:rPr lang="en-US" sz="850" b="0" i="0" dirty="0">
                <a:solidFill>
                  <a:srgbClr val="2C3E50"/>
                </a:solidFill>
              </a:rPr>
              <a:t>NIMF fell 7.86%, ABSL fell 9.81%, and the Benchmark fell 5.10%.</a:t>
            </a:r>
            <a:endParaRPr lang="en-IN" sz="850" b="0" i="0" dirty="0">
              <a:solidFill>
                <a:srgbClr val="2C3E50"/>
              </a:solidFill>
            </a:endParaRPr>
          </a:p>
        </p:txBody>
      </p:sp>
      <p:sp>
        <p:nvSpPr>
          <p:cNvPr id="20" name="TextBox 19"/>
          <p:cNvSpPr txBox="1"/>
          <p:nvPr/>
        </p:nvSpPr>
        <p:spPr>
          <a:xfrm>
            <a:off x="411480" y="2935224"/>
            <a:ext cx="5212080" cy="353943"/>
          </a:xfrm>
          <a:prstGeom prst="rect">
            <a:avLst/>
          </a:prstGeom>
          <a:noFill/>
        </p:spPr>
        <p:txBody>
          <a:bodyPr wrap="square">
            <a:spAutoFit/>
          </a:bodyPr>
          <a:lstStyle/>
          <a:p>
            <a:pPr algn="l"/>
            <a:r>
              <a:rPr lang="en-US" sz="850" b="0" i="1" dirty="0">
                <a:solidFill>
                  <a:srgbClr val="C0392B"/>
                </a:solidFill>
              </a:rPr>
              <a:t>Both active funds fell MORE than the benchmark, demonstrating that sector concentration creates idiosyncratic risk.</a:t>
            </a:r>
          </a:p>
        </p:txBody>
      </p:sp>
      <p:sp>
        <p:nvSpPr>
          <p:cNvPr id="21" name="Rectangle 20"/>
          <p:cNvSpPr/>
          <p:nvPr/>
        </p:nvSpPr>
        <p:spPr>
          <a:xfrm>
            <a:off x="274320" y="3337560"/>
            <a:ext cx="548640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74320" y="3337560"/>
            <a:ext cx="73152" cy="80467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383279"/>
            <a:ext cx="5212080" cy="228600"/>
          </a:xfrm>
          <a:prstGeom prst="rect">
            <a:avLst/>
          </a:prstGeom>
          <a:noFill/>
        </p:spPr>
        <p:txBody>
          <a:bodyPr wrap="square">
            <a:spAutoFit/>
          </a:bodyPr>
          <a:lstStyle/>
          <a:p>
            <a:pPr algn="l"/>
            <a:r>
              <a:rPr sz="950" b="1" i="0">
                <a:solidFill>
                  <a:srgbClr val="2C3E50"/>
                </a:solidFill>
              </a:rPr>
              <a:t>Post-Easing Recovery</a:t>
            </a:r>
          </a:p>
        </p:txBody>
      </p:sp>
      <p:sp>
        <p:nvSpPr>
          <p:cNvPr id="24" name="TextBox 23"/>
          <p:cNvSpPr txBox="1"/>
          <p:nvPr/>
        </p:nvSpPr>
        <p:spPr>
          <a:xfrm>
            <a:off x="411480" y="3593591"/>
            <a:ext cx="5212080" cy="201168"/>
          </a:xfrm>
          <a:prstGeom prst="rect">
            <a:avLst/>
          </a:prstGeom>
          <a:noFill/>
        </p:spPr>
        <p:txBody>
          <a:bodyPr wrap="square">
            <a:spAutoFit/>
          </a:bodyPr>
          <a:lstStyle/>
          <a:p>
            <a:pPr algn="l"/>
            <a:r>
              <a:rPr sz="850" b="0" i="0">
                <a:solidFill>
                  <a:srgbClr val="2C3E50"/>
                </a:solidFill>
              </a:rPr>
              <a:t>Both funds hit NEW ALL-TIME HIGHS by July 2025</a:t>
            </a:r>
          </a:p>
        </p:txBody>
      </p:sp>
      <p:sp>
        <p:nvSpPr>
          <p:cNvPr id="25" name="TextBox 24"/>
          <p:cNvSpPr txBox="1"/>
          <p:nvPr/>
        </p:nvSpPr>
        <p:spPr>
          <a:xfrm>
            <a:off x="411480" y="3794760"/>
            <a:ext cx="5212080" cy="223138"/>
          </a:xfrm>
          <a:prstGeom prst="rect">
            <a:avLst/>
          </a:prstGeom>
          <a:noFill/>
        </p:spPr>
        <p:txBody>
          <a:bodyPr wrap="square">
            <a:spAutoFit/>
          </a:bodyPr>
          <a:lstStyle/>
          <a:p>
            <a:pPr algn="l"/>
            <a:r>
              <a:rPr sz="850" b="0" i="1" dirty="0">
                <a:solidFill>
                  <a:srgbClr val="F5C518"/>
                </a:solidFill>
              </a:rPr>
              <a:t>ABSL led recovery at 24.49% ann. </a:t>
            </a:r>
            <a:r>
              <a:rPr lang="en-IN" sz="850" i="1" dirty="0">
                <a:solidFill>
                  <a:srgbClr val="F5C518"/>
                </a:solidFill>
              </a:rPr>
              <a:t>-</a:t>
            </a:r>
            <a:r>
              <a:rPr sz="850" b="0" i="1" dirty="0">
                <a:solidFill>
                  <a:srgbClr val="F5C518"/>
                </a:solidFill>
              </a:rPr>
              <a:t> diversified approach captured microfinance rebound better</a:t>
            </a:r>
          </a:p>
        </p:txBody>
      </p:sp>
      <p:sp>
        <p:nvSpPr>
          <p:cNvPr id="26" name="Rectangle 25"/>
          <p:cNvSpPr/>
          <p:nvPr/>
        </p:nvSpPr>
        <p:spPr>
          <a:xfrm>
            <a:off x="274320" y="4197096"/>
            <a:ext cx="548640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74320" y="4197096"/>
            <a:ext cx="73152" cy="8046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1480" y="4242816"/>
            <a:ext cx="5212080" cy="228600"/>
          </a:xfrm>
          <a:prstGeom prst="rect">
            <a:avLst/>
          </a:prstGeom>
          <a:noFill/>
        </p:spPr>
        <p:txBody>
          <a:bodyPr wrap="square">
            <a:spAutoFit/>
          </a:bodyPr>
          <a:lstStyle/>
          <a:p>
            <a:pPr algn="l"/>
            <a:r>
              <a:rPr sz="950" b="1" i="0">
                <a:solidFill>
                  <a:srgbClr val="2C3E50"/>
                </a:solidFill>
              </a:rPr>
              <a:t>3Y Max Drawdown (Overall)</a:t>
            </a:r>
          </a:p>
        </p:txBody>
      </p:sp>
      <p:sp>
        <p:nvSpPr>
          <p:cNvPr id="29" name="TextBox 28"/>
          <p:cNvSpPr txBox="1"/>
          <p:nvPr/>
        </p:nvSpPr>
        <p:spPr>
          <a:xfrm>
            <a:off x="411480" y="4453128"/>
            <a:ext cx="5212080" cy="201168"/>
          </a:xfrm>
          <a:prstGeom prst="rect">
            <a:avLst/>
          </a:prstGeom>
          <a:noFill/>
        </p:spPr>
        <p:txBody>
          <a:bodyPr wrap="square">
            <a:spAutoFit/>
          </a:bodyPr>
          <a:lstStyle/>
          <a:p>
            <a:pPr algn="l"/>
            <a:r>
              <a:rPr sz="850" b="0" i="0">
                <a:solidFill>
                  <a:srgbClr val="2C3E50"/>
                </a:solidFill>
              </a:rPr>
              <a:t>NIMF: –9.69% | ABSL: –11.90% | Benchmark: –7.06%</a:t>
            </a:r>
          </a:p>
        </p:txBody>
      </p:sp>
      <p:sp>
        <p:nvSpPr>
          <p:cNvPr id="30" name="TextBox 29"/>
          <p:cNvSpPr txBox="1"/>
          <p:nvPr/>
        </p:nvSpPr>
        <p:spPr>
          <a:xfrm>
            <a:off x="411480" y="4654296"/>
            <a:ext cx="5212080" cy="223138"/>
          </a:xfrm>
          <a:prstGeom prst="rect">
            <a:avLst/>
          </a:prstGeom>
          <a:noFill/>
        </p:spPr>
        <p:txBody>
          <a:bodyPr wrap="square">
            <a:spAutoFit/>
          </a:bodyPr>
          <a:lstStyle/>
          <a:p>
            <a:pPr algn="l"/>
            <a:r>
              <a:rPr sz="850" b="0" i="1" dirty="0">
                <a:solidFill>
                  <a:srgbClr val="27AE60"/>
                </a:solidFill>
              </a:rPr>
              <a:t>NIMF's concentration: 22</a:t>
            </a:r>
            <a:r>
              <a:rPr lang="en-IN" sz="850" b="0" i="1" dirty="0">
                <a:solidFill>
                  <a:srgbClr val="27AE60"/>
                </a:solidFill>
              </a:rPr>
              <a:t>1 </a:t>
            </a:r>
            <a:r>
              <a:rPr sz="850" b="0" i="1" dirty="0">
                <a:solidFill>
                  <a:srgbClr val="27AE60"/>
                </a:solidFill>
              </a:rPr>
              <a:t>bps better protection than ABSL over full cycle</a:t>
            </a:r>
          </a:p>
        </p:txBody>
      </p:sp>
      <p:sp>
        <p:nvSpPr>
          <p:cNvPr id="31" name="Rectangle 30"/>
          <p:cNvSpPr/>
          <p:nvPr/>
        </p:nvSpPr>
        <p:spPr>
          <a:xfrm>
            <a:off x="5943600" y="1298448"/>
            <a:ext cx="5943600" cy="2743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035040" y="1316736"/>
            <a:ext cx="5760720" cy="238527"/>
          </a:xfrm>
          <a:prstGeom prst="rect">
            <a:avLst/>
          </a:prstGeom>
          <a:noFill/>
        </p:spPr>
        <p:txBody>
          <a:bodyPr wrap="square">
            <a:spAutoFit/>
          </a:bodyPr>
          <a:lstStyle/>
          <a:p>
            <a:pPr algn="l"/>
            <a:r>
              <a:rPr sz="950" b="1" i="0" dirty="0">
                <a:solidFill>
                  <a:srgbClr val="FFFFFF"/>
                </a:solidFill>
              </a:rPr>
              <a:t>ACTIONABLE INSIGHTS</a:t>
            </a:r>
          </a:p>
        </p:txBody>
      </p:sp>
      <p:sp>
        <p:nvSpPr>
          <p:cNvPr id="33" name="Rectangle 32"/>
          <p:cNvSpPr/>
          <p:nvPr/>
        </p:nvSpPr>
        <p:spPr>
          <a:xfrm>
            <a:off x="5943600" y="1618488"/>
            <a:ext cx="5943600" cy="274320"/>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035040" y="1655064"/>
            <a:ext cx="5760720" cy="210312"/>
          </a:xfrm>
          <a:prstGeom prst="rect">
            <a:avLst/>
          </a:prstGeom>
          <a:noFill/>
        </p:spPr>
        <p:txBody>
          <a:bodyPr wrap="square">
            <a:spAutoFit/>
          </a:bodyPr>
          <a:lstStyle/>
          <a:p>
            <a:pPr algn="l"/>
            <a:r>
              <a:rPr sz="900" b="1" i="0">
                <a:solidFill>
                  <a:srgbClr val="FFFFFF"/>
                </a:solidFill>
              </a:rPr>
              <a:t>For Asset Managers</a:t>
            </a:r>
          </a:p>
        </p:txBody>
      </p:sp>
      <p:sp>
        <p:nvSpPr>
          <p:cNvPr id="35" name="Rectangle 34"/>
          <p:cNvSpPr/>
          <p:nvPr/>
        </p:nvSpPr>
        <p:spPr>
          <a:xfrm>
            <a:off x="5943600" y="1911095"/>
            <a:ext cx="5943600" cy="2743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035040" y="1947672"/>
            <a:ext cx="5760720" cy="219456"/>
          </a:xfrm>
          <a:prstGeom prst="rect">
            <a:avLst/>
          </a:prstGeom>
          <a:noFill/>
        </p:spPr>
        <p:txBody>
          <a:bodyPr wrap="square">
            <a:spAutoFit/>
          </a:bodyPr>
          <a:lstStyle/>
          <a:p>
            <a:pPr algn="l"/>
            <a:r>
              <a:rPr sz="850" b="0" i="0">
                <a:solidFill>
                  <a:srgbClr val="2C3E50"/>
                </a:solidFill>
              </a:rPr>
              <a:t>▸  Quality concentration beats diversification in credit-sensitive sectors during tightening cycles</a:t>
            </a:r>
          </a:p>
        </p:txBody>
      </p:sp>
      <p:sp>
        <p:nvSpPr>
          <p:cNvPr id="37" name="Rectangle 36"/>
          <p:cNvSpPr/>
          <p:nvPr/>
        </p:nvSpPr>
        <p:spPr>
          <a:xfrm>
            <a:off x="5943600" y="2185415"/>
            <a:ext cx="5943600" cy="2743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035040" y="2221991"/>
            <a:ext cx="5760720" cy="223138"/>
          </a:xfrm>
          <a:prstGeom prst="rect">
            <a:avLst/>
          </a:prstGeom>
          <a:noFill/>
        </p:spPr>
        <p:txBody>
          <a:bodyPr wrap="square">
            <a:spAutoFit/>
          </a:bodyPr>
          <a:lstStyle/>
          <a:p>
            <a:pPr algn="l"/>
            <a:r>
              <a:rPr sz="850" b="0" i="0" dirty="0">
                <a:solidFill>
                  <a:srgbClr val="2C3E50"/>
                </a:solidFill>
              </a:rPr>
              <a:t>▸  MFI/SFB exit timing is critical </a:t>
            </a:r>
            <a:r>
              <a:rPr lang="en-IN" sz="850" b="0" i="0" dirty="0">
                <a:solidFill>
                  <a:srgbClr val="2C3E50"/>
                </a:solidFill>
              </a:rPr>
              <a:t>-</a:t>
            </a:r>
            <a:r>
              <a:rPr sz="850" b="0" i="0" dirty="0">
                <a:solidFill>
                  <a:srgbClr val="2C3E50"/>
                </a:solidFill>
              </a:rPr>
              <a:t> cycle-additive in Pre-RBI (+19.7%), cycle-destructive in Tightening (–41%)</a:t>
            </a:r>
          </a:p>
        </p:txBody>
      </p:sp>
      <p:sp>
        <p:nvSpPr>
          <p:cNvPr id="39" name="Rectangle 38"/>
          <p:cNvSpPr/>
          <p:nvPr/>
        </p:nvSpPr>
        <p:spPr>
          <a:xfrm>
            <a:off x="5943600" y="2459735"/>
            <a:ext cx="5943600" cy="2743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035040" y="2496311"/>
            <a:ext cx="5760720" cy="219456"/>
          </a:xfrm>
          <a:prstGeom prst="rect">
            <a:avLst/>
          </a:prstGeom>
          <a:noFill/>
        </p:spPr>
        <p:txBody>
          <a:bodyPr wrap="square">
            <a:spAutoFit/>
          </a:bodyPr>
          <a:lstStyle/>
          <a:p>
            <a:pPr algn="l"/>
            <a:r>
              <a:rPr sz="850" b="0" i="0">
                <a:solidFill>
                  <a:srgbClr val="2C3E50"/>
                </a:solidFill>
              </a:rPr>
              <a:t>▸  Insurance defensive thesis FAILS during rate-hike cycles (–14.97% excess vs benchmark)</a:t>
            </a:r>
          </a:p>
        </p:txBody>
      </p:sp>
      <p:sp>
        <p:nvSpPr>
          <p:cNvPr id="41" name="Rectangle 40"/>
          <p:cNvSpPr/>
          <p:nvPr/>
        </p:nvSpPr>
        <p:spPr>
          <a:xfrm>
            <a:off x="5943600" y="2734055"/>
            <a:ext cx="5943600" cy="2743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035040" y="2770631"/>
            <a:ext cx="5760720" cy="223138"/>
          </a:xfrm>
          <a:prstGeom prst="rect">
            <a:avLst/>
          </a:prstGeom>
          <a:noFill/>
        </p:spPr>
        <p:txBody>
          <a:bodyPr wrap="square">
            <a:spAutoFit/>
          </a:bodyPr>
          <a:lstStyle/>
          <a:p>
            <a:pPr algn="l"/>
            <a:r>
              <a:rPr sz="850" b="0" i="0" dirty="0">
                <a:solidFill>
                  <a:srgbClr val="2C3E50"/>
                </a:solidFill>
              </a:rPr>
              <a:t>▸  Evaluate full portfolio attribution </a:t>
            </a:r>
            <a:r>
              <a:rPr lang="en-IN" sz="850" b="0" i="0" dirty="0">
                <a:solidFill>
                  <a:srgbClr val="2C3E50"/>
                </a:solidFill>
              </a:rPr>
              <a:t>-</a:t>
            </a:r>
            <a:r>
              <a:rPr sz="850" b="0" i="0" dirty="0">
                <a:solidFill>
                  <a:srgbClr val="2C3E50"/>
                </a:solidFill>
              </a:rPr>
              <a:t> alpha may reside in mid-cap banks, not headline </a:t>
            </a:r>
            <a:r>
              <a:rPr sz="850" b="0" i="0" dirty="0" err="1">
                <a:solidFill>
                  <a:srgbClr val="2C3E50"/>
                </a:solidFill>
              </a:rPr>
              <a:t>overweights</a:t>
            </a:r>
            <a:endParaRPr sz="850" b="0" i="0" dirty="0">
              <a:solidFill>
                <a:srgbClr val="2C3E50"/>
              </a:solidFill>
            </a:endParaRPr>
          </a:p>
        </p:txBody>
      </p:sp>
      <p:sp>
        <p:nvSpPr>
          <p:cNvPr id="43" name="Rectangle 42"/>
          <p:cNvSpPr/>
          <p:nvPr/>
        </p:nvSpPr>
        <p:spPr>
          <a:xfrm>
            <a:off x="5943600" y="3063239"/>
            <a:ext cx="5943600" cy="274320"/>
          </a:xfrm>
          <a:prstGeom prst="rect">
            <a:avLst/>
          </a:prstGeom>
          <a:solidFill>
            <a:srgbClr val="236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035040" y="3099815"/>
            <a:ext cx="5760720" cy="210312"/>
          </a:xfrm>
          <a:prstGeom prst="rect">
            <a:avLst/>
          </a:prstGeom>
          <a:noFill/>
        </p:spPr>
        <p:txBody>
          <a:bodyPr wrap="square">
            <a:spAutoFit/>
          </a:bodyPr>
          <a:lstStyle/>
          <a:p>
            <a:pPr algn="l"/>
            <a:r>
              <a:rPr sz="900" b="1" i="0">
                <a:solidFill>
                  <a:srgbClr val="FFFFFF"/>
                </a:solidFill>
              </a:rPr>
              <a:t>For Investors — Fund Selection</a:t>
            </a:r>
          </a:p>
        </p:txBody>
      </p:sp>
      <p:sp>
        <p:nvSpPr>
          <p:cNvPr id="45" name="Rectangle 44"/>
          <p:cNvSpPr/>
          <p:nvPr/>
        </p:nvSpPr>
        <p:spPr>
          <a:xfrm>
            <a:off x="5943600" y="3355847"/>
            <a:ext cx="5943600" cy="2743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035040" y="3392423"/>
            <a:ext cx="5760720" cy="219456"/>
          </a:xfrm>
          <a:prstGeom prst="rect">
            <a:avLst/>
          </a:prstGeom>
          <a:noFill/>
        </p:spPr>
        <p:txBody>
          <a:bodyPr wrap="square">
            <a:spAutoFit/>
          </a:bodyPr>
          <a:lstStyle/>
          <a:p>
            <a:pPr algn="l"/>
            <a:r>
              <a:rPr sz="850" b="0" i="0" dirty="0">
                <a:solidFill>
                  <a:srgbClr val="2C3E50"/>
                </a:solidFill>
              </a:rPr>
              <a:t>▸  NIMF: Superior for long-term alpha (4.22% vs 1.99%) + better drawdown protection (–9.69% vs –11.90%)</a:t>
            </a:r>
          </a:p>
        </p:txBody>
      </p:sp>
      <p:sp>
        <p:nvSpPr>
          <p:cNvPr id="47" name="Rectangle 46"/>
          <p:cNvSpPr/>
          <p:nvPr/>
        </p:nvSpPr>
        <p:spPr>
          <a:xfrm>
            <a:off x="5943600" y="3630167"/>
            <a:ext cx="5943600" cy="2743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035040" y="3666743"/>
            <a:ext cx="5760720" cy="223138"/>
          </a:xfrm>
          <a:prstGeom prst="rect">
            <a:avLst/>
          </a:prstGeom>
          <a:noFill/>
        </p:spPr>
        <p:txBody>
          <a:bodyPr wrap="square">
            <a:spAutoFit/>
          </a:bodyPr>
          <a:lstStyle/>
          <a:p>
            <a:pPr algn="l"/>
            <a:r>
              <a:rPr sz="850" b="0" i="0" dirty="0">
                <a:solidFill>
                  <a:srgbClr val="2C3E50"/>
                </a:solidFill>
              </a:rPr>
              <a:t>▸  ABSL: Better in credit recovery cycles </a:t>
            </a:r>
            <a:r>
              <a:rPr lang="en-IN" sz="850" b="0" i="0" dirty="0">
                <a:solidFill>
                  <a:srgbClr val="2C3E50"/>
                </a:solidFill>
              </a:rPr>
              <a:t>-</a:t>
            </a:r>
            <a:r>
              <a:rPr sz="850" b="0" i="0" dirty="0">
                <a:solidFill>
                  <a:srgbClr val="2C3E50"/>
                </a:solidFill>
              </a:rPr>
              <a:t> diversification captured microfinance rebound in Post-Easing</a:t>
            </a:r>
          </a:p>
        </p:txBody>
      </p:sp>
      <p:sp>
        <p:nvSpPr>
          <p:cNvPr id="49" name="Rectangle 48"/>
          <p:cNvSpPr/>
          <p:nvPr/>
        </p:nvSpPr>
        <p:spPr>
          <a:xfrm>
            <a:off x="5943600" y="3904487"/>
            <a:ext cx="5943600" cy="2743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035040" y="3941063"/>
            <a:ext cx="5760720" cy="223138"/>
          </a:xfrm>
          <a:prstGeom prst="rect">
            <a:avLst/>
          </a:prstGeom>
          <a:noFill/>
        </p:spPr>
        <p:txBody>
          <a:bodyPr wrap="square">
            <a:spAutoFit/>
          </a:bodyPr>
          <a:lstStyle/>
          <a:p>
            <a:pPr algn="l"/>
            <a:r>
              <a:rPr sz="850" b="0" i="0" dirty="0">
                <a:solidFill>
                  <a:srgbClr val="2C3E50"/>
                </a:solidFill>
              </a:rPr>
              <a:t>▸  Both funds carry synchronized sector risk </a:t>
            </a:r>
            <a:r>
              <a:rPr lang="en-IN" sz="850" dirty="0">
                <a:solidFill>
                  <a:srgbClr val="2C3E50"/>
                </a:solidFill>
              </a:rPr>
              <a:t>-</a:t>
            </a:r>
            <a:r>
              <a:rPr sz="850" b="0" i="0" dirty="0">
                <a:solidFill>
                  <a:srgbClr val="2C3E50"/>
                </a:solidFill>
              </a:rPr>
              <a:t> monitor regime transitions and RBI policy signals</a:t>
            </a:r>
          </a:p>
        </p:txBody>
      </p:sp>
      <p:sp>
        <p:nvSpPr>
          <p:cNvPr id="51" name="Rectangle 50"/>
          <p:cNvSpPr/>
          <p:nvPr/>
        </p:nvSpPr>
        <p:spPr>
          <a:xfrm>
            <a:off x="5943600" y="4178807"/>
            <a:ext cx="5943600" cy="2743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943600" y="4507991"/>
            <a:ext cx="5943600" cy="274320"/>
          </a:xfrm>
          <a:prstGeom prst="rect">
            <a:avLst/>
          </a:prstGeom>
          <a:solidFill>
            <a:srgbClr val="95A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035040" y="4544567"/>
            <a:ext cx="5760720" cy="210312"/>
          </a:xfrm>
          <a:prstGeom prst="rect">
            <a:avLst/>
          </a:prstGeom>
          <a:noFill/>
        </p:spPr>
        <p:txBody>
          <a:bodyPr wrap="square">
            <a:spAutoFit/>
          </a:bodyPr>
          <a:lstStyle/>
          <a:p>
            <a:pPr algn="l"/>
            <a:r>
              <a:rPr sz="900" b="1" i="0">
                <a:solidFill>
                  <a:srgbClr val="FFFFFF"/>
                </a:solidFill>
              </a:rPr>
              <a:t>Research Limitations &amp; Next Steps</a:t>
            </a:r>
          </a:p>
        </p:txBody>
      </p:sp>
      <p:sp>
        <p:nvSpPr>
          <p:cNvPr id="55" name="Rectangle 54"/>
          <p:cNvSpPr/>
          <p:nvPr/>
        </p:nvSpPr>
        <p:spPr>
          <a:xfrm>
            <a:off x="5943600" y="4800599"/>
            <a:ext cx="5943600" cy="2743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035040" y="4837175"/>
            <a:ext cx="5760720" cy="223138"/>
          </a:xfrm>
          <a:prstGeom prst="rect">
            <a:avLst/>
          </a:prstGeom>
          <a:noFill/>
        </p:spPr>
        <p:txBody>
          <a:bodyPr wrap="square">
            <a:spAutoFit/>
          </a:bodyPr>
          <a:lstStyle/>
          <a:p>
            <a:pPr algn="l"/>
            <a:r>
              <a:rPr sz="850" b="0" i="0" dirty="0">
                <a:solidFill>
                  <a:srgbClr val="2C3E50"/>
                </a:solidFill>
              </a:rPr>
              <a:t>▸  </a:t>
            </a:r>
            <a:r>
              <a:rPr lang="en-US" sz="850" b="0" i="0" dirty="0">
                <a:solidFill>
                  <a:srgbClr val="2C3E50"/>
                </a:solidFill>
              </a:rPr>
              <a:t>Attribution covers only 3 sectors (27% to 33% of the portfolio); the remaining 67% to 73% requires full stock level data</a:t>
            </a:r>
            <a:endParaRPr sz="850" b="0" i="0" dirty="0">
              <a:solidFill>
                <a:srgbClr val="2C3E50"/>
              </a:solidFill>
            </a:endParaRPr>
          </a:p>
        </p:txBody>
      </p:sp>
      <p:sp>
        <p:nvSpPr>
          <p:cNvPr id="57" name="Rectangle 56"/>
          <p:cNvSpPr/>
          <p:nvPr/>
        </p:nvSpPr>
        <p:spPr>
          <a:xfrm>
            <a:off x="5943600" y="5074919"/>
            <a:ext cx="5943600" cy="2743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035040" y="5111495"/>
            <a:ext cx="5760720" cy="219456"/>
          </a:xfrm>
          <a:prstGeom prst="rect">
            <a:avLst/>
          </a:prstGeom>
          <a:noFill/>
        </p:spPr>
        <p:txBody>
          <a:bodyPr wrap="square">
            <a:spAutoFit/>
          </a:bodyPr>
          <a:lstStyle/>
          <a:p>
            <a:pPr algn="l"/>
            <a:r>
              <a:rPr sz="850" b="0" i="0">
                <a:solidFill>
                  <a:srgbClr val="2C3E50"/>
                </a:solidFill>
              </a:rPr>
              <a:t>▸  Extend with Brinson-Fachler: decompose allocation effect vs stock selection effect precisely</a:t>
            </a:r>
          </a:p>
        </p:txBody>
      </p:sp>
      <p:sp>
        <p:nvSpPr>
          <p:cNvPr id="59" name="Rectangle 58"/>
          <p:cNvSpPr/>
          <p:nvPr/>
        </p:nvSpPr>
        <p:spPr>
          <a:xfrm>
            <a:off x="5943600" y="5349239"/>
            <a:ext cx="5943600" cy="2743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035040" y="5385815"/>
            <a:ext cx="5760720" cy="219456"/>
          </a:xfrm>
          <a:prstGeom prst="rect">
            <a:avLst/>
          </a:prstGeom>
          <a:noFill/>
        </p:spPr>
        <p:txBody>
          <a:bodyPr wrap="square">
            <a:spAutoFit/>
          </a:bodyPr>
          <a:lstStyle/>
          <a:p>
            <a:pPr algn="l"/>
            <a:r>
              <a:rPr sz="850" b="0" i="0">
                <a:solidFill>
                  <a:srgbClr val="2C3E50"/>
                </a:solidFill>
              </a:rPr>
              <a:t>▸  Stress-test: If RBI cuts accelerate in 2026, does NIMF's concentration become a liability?</a:t>
            </a:r>
          </a:p>
        </p:txBody>
      </p:sp>
      <p:sp>
        <p:nvSpPr>
          <p:cNvPr id="61" name="Rectangle 60"/>
          <p:cNvSpPr/>
          <p:nvPr/>
        </p:nvSpPr>
        <p:spPr>
          <a:xfrm>
            <a:off x="5943600" y="5623559"/>
            <a:ext cx="5943600" cy="27432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035040" y="5660135"/>
            <a:ext cx="5760720" cy="219456"/>
          </a:xfrm>
          <a:prstGeom prst="rect">
            <a:avLst/>
          </a:prstGeom>
          <a:noFill/>
        </p:spPr>
        <p:txBody>
          <a:bodyPr wrap="square">
            <a:spAutoFit/>
          </a:bodyPr>
          <a:lstStyle/>
          <a:p>
            <a:pPr algn="l"/>
            <a:r>
              <a:rPr sz="850" b="0" i="0">
                <a:solidFill>
                  <a:srgbClr val="2C3E50"/>
                </a:solidFill>
              </a:rPr>
              <a:t>▸  Statistical significance: NIMF alpha t-stat &gt;2.0 (p&lt;0.05) on monthly data series</a:t>
            </a:r>
          </a:p>
        </p:txBody>
      </p:sp>
      <p:sp>
        <p:nvSpPr>
          <p:cNvPr id="63" name="Rectangle 62"/>
          <p:cNvSpPr/>
          <p:nvPr/>
        </p:nvSpPr>
        <p:spPr>
          <a:xfrm>
            <a:off x="274320" y="5870448"/>
            <a:ext cx="11430000" cy="62179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65760" y="5897880"/>
            <a:ext cx="11155680" cy="530915"/>
          </a:xfrm>
          <a:prstGeom prst="rect">
            <a:avLst/>
          </a:prstGeom>
          <a:noFill/>
        </p:spPr>
        <p:txBody>
          <a:bodyPr wrap="square">
            <a:spAutoFit/>
          </a:bodyPr>
          <a:lstStyle/>
          <a:p>
            <a:pPr algn="l"/>
            <a:r>
              <a:rPr lang="en-US" sz="950" b="0" i="0" dirty="0">
                <a:solidFill>
                  <a:srgbClr val="FFFFFF"/>
                </a:solidFill>
              </a:rPr>
              <a:t>STRATEGIC IMPLICATION </a:t>
            </a:r>
            <a:r>
              <a:rPr sz="950" b="0" i="0" dirty="0">
                <a:solidFill>
                  <a:srgbClr val="FFFFFF"/>
                </a:solidFill>
              </a:rPr>
              <a:t>: Quality concentration (27 stocks) dominates diversification (35 stocks) across Indian BFSI credit cycles. Higher alpha (4.22%), lower volatility (11.99%), lower drawdown (–9.69%) </a:t>
            </a:r>
            <a:r>
              <a:rPr lang="en-IN" sz="950" b="0" i="0" dirty="0">
                <a:solidFill>
                  <a:srgbClr val="FFFFFF"/>
                </a:solidFill>
              </a:rPr>
              <a:t>-</a:t>
            </a:r>
            <a:r>
              <a:rPr sz="950" b="0" i="0" dirty="0">
                <a:solidFill>
                  <a:srgbClr val="FFFFFF"/>
                </a:solidFill>
              </a:rPr>
              <a:t> concentrated quality reduces idiosyncratic risk while amplifying stock-selection returns</a:t>
            </a:r>
            <a:r>
              <a:rPr lang="en-IN" sz="950" dirty="0">
                <a:solidFill>
                  <a:srgbClr val="FFFFFF"/>
                </a:solidFill>
              </a:rPr>
              <a:t>. </a:t>
            </a:r>
            <a:r>
              <a:rPr lang="en-US" sz="950" b="0" i="0" dirty="0">
                <a:solidFill>
                  <a:srgbClr val="FFFFFF"/>
                </a:solidFill>
              </a:rPr>
              <a:t>Regime-timed positioning in quality banks + superior non-headline stock selection (5.12% edge) drives 80% of 3Y alpha during tightening; demonstrating that conviction-based concentration in high-quality financials can deliver lower realized volatility than broader diversification.</a:t>
            </a:r>
            <a:endParaRPr sz="950" b="0" i="0" dirty="0">
              <a:solidFill>
                <a:srgbClr val="FFFFFF"/>
              </a:solidFill>
            </a:endParaRPr>
          </a:p>
        </p:txBody>
      </p:sp>
      <p:sp>
        <p:nvSpPr>
          <p:cNvPr id="65" name="Rectangle 64"/>
          <p:cNvSpPr/>
          <p:nvPr/>
        </p:nvSpPr>
        <p:spPr>
          <a:xfrm>
            <a:off x="0" y="6492240"/>
            <a:ext cx="12188952" cy="365760"/>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274320" y="6519672"/>
            <a:ext cx="11430000" cy="230832"/>
          </a:xfrm>
          <a:prstGeom prst="rect">
            <a:avLst/>
          </a:prstGeom>
          <a:noFill/>
        </p:spPr>
        <p:txBody>
          <a:bodyPr wrap="square">
            <a:spAutoFit/>
          </a:bodyPr>
          <a:lstStyle/>
          <a:p>
            <a:pPr algn="l"/>
            <a:r>
              <a:rPr sz="900" b="0" i="0" dirty="0">
                <a:solidFill>
                  <a:srgbClr val="CADCFC"/>
                </a:solidFill>
              </a:rPr>
              <a:t>Period: Nov 1, 2022 </a:t>
            </a:r>
            <a:r>
              <a:rPr lang="en-IN" sz="900" b="0" i="0" dirty="0">
                <a:solidFill>
                  <a:srgbClr val="CADCFC"/>
                </a:solidFill>
              </a:rPr>
              <a:t>-</a:t>
            </a:r>
            <a:r>
              <a:rPr sz="900" b="0" i="0" dirty="0">
                <a:solidFill>
                  <a:srgbClr val="CADCFC"/>
                </a:solidFill>
              </a:rPr>
              <a:t> Oct 31, 2025  |  Methodology: Regime-based attribution, threshold-corrected capture ratios (0.5% filter), regime-specific peak drawdowns, Jensen's alpha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64592"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91440"/>
            <a:ext cx="11430000" cy="246221"/>
          </a:xfrm>
          <a:prstGeom prst="rect">
            <a:avLst/>
          </a:prstGeom>
          <a:noFill/>
        </p:spPr>
        <p:txBody>
          <a:bodyPr wrap="square">
            <a:spAutoFit/>
          </a:bodyPr>
          <a:lstStyle/>
          <a:p>
            <a:pPr algn="l"/>
            <a:r>
              <a:rPr sz="1000" b="0" i="0" dirty="0">
                <a:solidFill>
                  <a:srgbClr val="CADCFC"/>
                </a:solidFill>
              </a:rPr>
              <a:t>METHODOLOGY &amp; OPERATIONAL RIGOUR</a:t>
            </a:r>
          </a:p>
        </p:txBody>
      </p:sp>
      <p:sp>
        <p:nvSpPr>
          <p:cNvPr id="6" name="TextBox 5"/>
          <p:cNvSpPr txBox="1"/>
          <p:nvPr/>
        </p:nvSpPr>
        <p:spPr>
          <a:xfrm>
            <a:off x="274320" y="457200"/>
            <a:ext cx="11430000" cy="393192"/>
          </a:xfrm>
          <a:prstGeom prst="rect">
            <a:avLst/>
          </a:prstGeom>
          <a:noFill/>
        </p:spPr>
        <p:txBody>
          <a:bodyPr wrap="square">
            <a:spAutoFit/>
          </a:bodyPr>
          <a:lstStyle/>
          <a:p>
            <a:pPr algn="l"/>
            <a:r>
              <a:rPr sz="1700" b="1" i="0">
                <a:solidFill>
                  <a:srgbClr val="FFFFFF"/>
                </a:solidFill>
              </a:rPr>
              <a:t>Research-Grade Standards: Data Architecture, Formula Logic &amp; Validation Protocol</a:t>
            </a:r>
          </a:p>
        </p:txBody>
      </p:sp>
      <p:sp>
        <p:nvSpPr>
          <p:cNvPr id="7" name="TextBox 6"/>
          <p:cNvSpPr txBox="1"/>
          <p:nvPr/>
        </p:nvSpPr>
        <p:spPr>
          <a:xfrm>
            <a:off x="274320" y="960120"/>
            <a:ext cx="11430000" cy="238527"/>
          </a:xfrm>
          <a:prstGeom prst="rect">
            <a:avLst/>
          </a:prstGeom>
          <a:noFill/>
        </p:spPr>
        <p:txBody>
          <a:bodyPr wrap="square">
            <a:spAutoFit/>
          </a:bodyPr>
          <a:lstStyle/>
          <a:p>
            <a:pPr algn="l"/>
            <a:r>
              <a:rPr sz="950" b="1" i="0" dirty="0">
                <a:solidFill>
                  <a:srgbClr val="1E2761"/>
                </a:solidFill>
              </a:rPr>
              <a:t>KEY </a:t>
            </a:r>
            <a:r>
              <a:rPr lang="en-IN" sz="950" b="1" i="0" dirty="0">
                <a:solidFill>
                  <a:srgbClr val="1E2761"/>
                </a:solidFill>
              </a:rPr>
              <a:t>NOTE</a:t>
            </a:r>
            <a:r>
              <a:rPr sz="950" b="1" i="0" dirty="0">
                <a:solidFill>
                  <a:srgbClr val="1E2761"/>
                </a:solidFill>
              </a:rPr>
              <a:t>: Every number is traceable </a:t>
            </a:r>
            <a:r>
              <a:rPr lang="en-IN" sz="950" b="1" i="0" dirty="0">
                <a:solidFill>
                  <a:srgbClr val="1E2761"/>
                </a:solidFill>
              </a:rPr>
              <a:t>-</a:t>
            </a:r>
            <a:r>
              <a:rPr sz="950" b="1" i="0" dirty="0">
                <a:solidFill>
                  <a:srgbClr val="1E2761"/>
                </a:solidFill>
              </a:rPr>
              <a:t> from raw NAV to regime alpha </a:t>
            </a:r>
            <a:r>
              <a:rPr lang="en-IN" sz="950" b="1" i="0" dirty="0">
                <a:solidFill>
                  <a:srgbClr val="1E2761"/>
                </a:solidFill>
              </a:rPr>
              <a:t>-</a:t>
            </a:r>
            <a:r>
              <a:rPr sz="950" b="1" i="0" dirty="0">
                <a:solidFill>
                  <a:srgbClr val="1E2761"/>
                </a:solidFill>
              </a:rPr>
              <a:t> with explicit formula logic and cross-validated outputs</a:t>
            </a:r>
          </a:p>
        </p:txBody>
      </p:sp>
      <p:sp>
        <p:nvSpPr>
          <p:cNvPr id="8" name="Rectangle 7"/>
          <p:cNvSpPr/>
          <p:nvPr/>
        </p:nvSpPr>
        <p:spPr>
          <a:xfrm>
            <a:off x="274320" y="1234440"/>
            <a:ext cx="11430000" cy="2743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298448"/>
            <a:ext cx="3657600"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316736"/>
            <a:ext cx="3520440" cy="237744"/>
          </a:xfrm>
          <a:prstGeom prst="rect">
            <a:avLst/>
          </a:prstGeom>
          <a:noFill/>
        </p:spPr>
        <p:txBody>
          <a:bodyPr wrap="square">
            <a:spAutoFit/>
          </a:bodyPr>
          <a:lstStyle/>
          <a:p>
            <a:pPr algn="l"/>
            <a:r>
              <a:rPr sz="950" b="1" i="0">
                <a:solidFill>
                  <a:srgbClr val="FFFFFF"/>
                </a:solidFill>
              </a:rPr>
              <a:t>① DATA ARCHITECTURE</a:t>
            </a:r>
          </a:p>
        </p:txBody>
      </p:sp>
      <p:sp>
        <p:nvSpPr>
          <p:cNvPr id="11" name="Rectangle 10"/>
          <p:cNvSpPr/>
          <p:nvPr/>
        </p:nvSpPr>
        <p:spPr>
          <a:xfrm>
            <a:off x="274320" y="1627632"/>
            <a:ext cx="36576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4320" y="1627632"/>
            <a:ext cx="54864" cy="48463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048" y="1655064"/>
            <a:ext cx="1005840" cy="201168"/>
          </a:xfrm>
          <a:prstGeom prst="rect">
            <a:avLst/>
          </a:prstGeom>
          <a:noFill/>
        </p:spPr>
        <p:txBody>
          <a:bodyPr wrap="square">
            <a:spAutoFit/>
          </a:bodyPr>
          <a:lstStyle/>
          <a:p>
            <a:pPr algn="l"/>
            <a:r>
              <a:rPr sz="800" b="1" i="0">
                <a:solidFill>
                  <a:srgbClr val="2C3E50"/>
                </a:solidFill>
              </a:rPr>
              <a:t>Primary Data</a:t>
            </a:r>
          </a:p>
        </p:txBody>
      </p:sp>
      <p:sp>
        <p:nvSpPr>
          <p:cNvPr id="14" name="TextBox 13"/>
          <p:cNvSpPr txBox="1"/>
          <p:nvPr/>
        </p:nvSpPr>
        <p:spPr>
          <a:xfrm>
            <a:off x="384048" y="1847088"/>
            <a:ext cx="3429000" cy="215444"/>
          </a:xfrm>
          <a:prstGeom prst="rect">
            <a:avLst/>
          </a:prstGeom>
          <a:noFill/>
        </p:spPr>
        <p:txBody>
          <a:bodyPr wrap="square">
            <a:spAutoFit/>
          </a:bodyPr>
          <a:lstStyle/>
          <a:p>
            <a:pPr algn="l"/>
            <a:r>
              <a:rPr sz="800" b="0" i="0" dirty="0">
                <a:solidFill>
                  <a:srgbClr val="2C3E50"/>
                </a:solidFill>
              </a:rPr>
              <a:t>1,095 daily NAV observations per fund (Nov 1, 2022 </a:t>
            </a:r>
            <a:r>
              <a:rPr lang="en-IN" sz="800" b="0" i="0" dirty="0">
                <a:solidFill>
                  <a:srgbClr val="2C3E50"/>
                </a:solidFill>
              </a:rPr>
              <a:t>-</a:t>
            </a:r>
            <a:r>
              <a:rPr sz="800" b="0" i="0" dirty="0">
                <a:solidFill>
                  <a:srgbClr val="2C3E50"/>
                </a:solidFill>
              </a:rPr>
              <a:t> Oct 31, 2025)</a:t>
            </a:r>
          </a:p>
        </p:txBody>
      </p:sp>
      <p:sp>
        <p:nvSpPr>
          <p:cNvPr id="15" name="Rectangle 14"/>
          <p:cNvSpPr/>
          <p:nvPr/>
        </p:nvSpPr>
        <p:spPr>
          <a:xfrm>
            <a:off x="274320" y="2139696"/>
            <a:ext cx="36576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74320" y="2139696"/>
            <a:ext cx="54864" cy="48463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4048" y="2167127"/>
            <a:ext cx="1005840" cy="201168"/>
          </a:xfrm>
          <a:prstGeom prst="rect">
            <a:avLst/>
          </a:prstGeom>
          <a:noFill/>
        </p:spPr>
        <p:txBody>
          <a:bodyPr wrap="square">
            <a:spAutoFit/>
          </a:bodyPr>
          <a:lstStyle/>
          <a:p>
            <a:pPr algn="l"/>
            <a:r>
              <a:rPr sz="800" b="1" i="0" dirty="0">
                <a:solidFill>
                  <a:srgbClr val="2C3E50"/>
                </a:solidFill>
              </a:rPr>
              <a:t>Portfolio Holdings</a:t>
            </a:r>
          </a:p>
        </p:txBody>
      </p:sp>
      <p:sp>
        <p:nvSpPr>
          <p:cNvPr id="18" name="TextBox 17"/>
          <p:cNvSpPr txBox="1"/>
          <p:nvPr/>
        </p:nvSpPr>
        <p:spPr>
          <a:xfrm>
            <a:off x="384048" y="2359152"/>
            <a:ext cx="3429000" cy="228600"/>
          </a:xfrm>
          <a:prstGeom prst="rect">
            <a:avLst/>
          </a:prstGeom>
          <a:noFill/>
        </p:spPr>
        <p:txBody>
          <a:bodyPr wrap="square">
            <a:spAutoFit/>
          </a:bodyPr>
          <a:lstStyle/>
          <a:p>
            <a:pPr algn="l"/>
            <a:r>
              <a:rPr sz="800" b="0" i="0">
                <a:solidFill>
                  <a:srgbClr val="2C3E50"/>
                </a:solidFill>
              </a:rPr>
              <a:t>26 quarterly factsheet snapshots; equity, ETF &amp; TREPS classified separately</a:t>
            </a:r>
          </a:p>
        </p:txBody>
      </p:sp>
      <p:sp>
        <p:nvSpPr>
          <p:cNvPr id="19" name="Rectangle 18"/>
          <p:cNvSpPr/>
          <p:nvPr/>
        </p:nvSpPr>
        <p:spPr>
          <a:xfrm>
            <a:off x="274320" y="2651760"/>
            <a:ext cx="36576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74320" y="2651760"/>
            <a:ext cx="54864" cy="48463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84048" y="2679191"/>
            <a:ext cx="1005840" cy="201168"/>
          </a:xfrm>
          <a:prstGeom prst="rect">
            <a:avLst/>
          </a:prstGeom>
          <a:noFill/>
        </p:spPr>
        <p:txBody>
          <a:bodyPr wrap="square">
            <a:spAutoFit/>
          </a:bodyPr>
          <a:lstStyle/>
          <a:p>
            <a:pPr algn="l"/>
            <a:r>
              <a:rPr sz="800" b="1" i="0">
                <a:solidFill>
                  <a:srgbClr val="2C3E50"/>
                </a:solidFill>
              </a:rPr>
              <a:t>Benchmark</a:t>
            </a:r>
          </a:p>
        </p:txBody>
      </p:sp>
      <p:sp>
        <p:nvSpPr>
          <p:cNvPr id="22" name="TextBox 21"/>
          <p:cNvSpPr txBox="1"/>
          <p:nvPr/>
        </p:nvSpPr>
        <p:spPr>
          <a:xfrm>
            <a:off x="384048" y="2871215"/>
            <a:ext cx="3429000" cy="215444"/>
          </a:xfrm>
          <a:prstGeom prst="rect">
            <a:avLst/>
          </a:prstGeom>
          <a:noFill/>
        </p:spPr>
        <p:txBody>
          <a:bodyPr wrap="square">
            <a:spAutoFit/>
          </a:bodyPr>
          <a:lstStyle/>
          <a:p>
            <a:pPr algn="l"/>
            <a:r>
              <a:rPr sz="800" b="0" i="0" dirty="0">
                <a:solidFill>
                  <a:srgbClr val="2C3E50"/>
                </a:solidFill>
              </a:rPr>
              <a:t>Nifty Financial Services TRI (Total Return Index</a:t>
            </a:r>
            <a:r>
              <a:rPr lang="en-IN" sz="800" b="0" i="0" dirty="0">
                <a:solidFill>
                  <a:srgbClr val="2C3E50"/>
                </a:solidFill>
              </a:rPr>
              <a:t> -</a:t>
            </a:r>
            <a:r>
              <a:rPr sz="800" b="0" i="0" dirty="0">
                <a:solidFill>
                  <a:srgbClr val="2C3E50"/>
                </a:solidFill>
              </a:rPr>
              <a:t> dividends reinvested)</a:t>
            </a:r>
          </a:p>
        </p:txBody>
      </p:sp>
      <p:sp>
        <p:nvSpPr>
          <p:cNvPr id="23" name="Rectangle 22"/>
          <p:cNvSpPr/>
          <p:nvPr/>
        </p:nvSpPr>
        <p:spPr>
          <a:xfrm>
            <a:off x="274320" y="3163824"/>
            <a:ext cx="36576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74320" y="3163824"/>
            <a:ext cx="54864" cy="48463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3191256"/>
            <a:ext cx="1005840" cy="201168"/>
          </a:xfrm>
          <a:prstGeom prst="rect">
            <a:avLst/>
          </a:prstGeom>
          <a:noFill/>
        </p:spPr>
        <p:txBody>
          <a:bodyPr wrap="square">
            <a:spAutoFit/>
          </a:bodyPr>
          <a:lstStyle/>
          <a:p>
            <a:pPr algn="l"/>
            <a:r>
              <a:rPr sz="800" b="1" i="0">
                <a:solidFill>
                  <a:srgbClr val="2C3E50"/>
                </a:solidFill>
              </a:rPr>
              <a:t>Risk-Free Rate</a:t>
            </a:r>
          </a:p>
        </p:txBody>
      </p:sp>
      <p:sp>
        <p:nvSpPr>
          <p:cNvPr id="26" name="TextBox 25"/>
          <p:cNvSpPr txBox="1"/>
          <p:nvPr/>
        </p:nvSpPr>
        <p:spPr>
          <a:xfrm>
            <a:off x="384048" y="3383280"/>
            <a:ext cx="3429000" cy="215444"/>
          </a:xfrm>
          <a:prstGeom prst="rect">
            <a:avLst/>
          </a:prstGeom>
          <a:noFill/>
        </p:spPr>
        <p:txBody>
          <a:bodyPr wrap="square">
            <a:spAutoFit/>
          </a:bodyPr>
          <a:lstStyle/>
          <a:p>
            <a:pPr algn="l"/>
            <a:r>
              <a:rPr sz="800" b="0" i="0" dirty="0">
                <a:solidFill>
                  <a:srgbClr val="2C3E50"/>
                </a:solidFill>
              </a:rPr>
              <a:t>6.651%</a:t>
            </a:r>
            <a:r>
              <a:rPr lang="en-IN" sz="800" b="0" i="0" dirty="0">
                <a:solidFill>
                  <a:srgbClr val="2C3E50"/>
                </a:solidFill>
              </a:rPr>
              <a:t>:</a:t>
            </a:r>
            <a:r>
              <a:rPr sz="800" b="0" i="0" dirty="0">
                <a:solidFill>
                  <a:srgbClr val="2C3E50"/>
                </a:solidFill>
              </a:rPr>
              <a:t> 1-Year G-Sec average across study period</a:t>
            </a:r>
          </a:p>
        </p:txBody>
      </p:sp>
      <p:sp>
        <p:nvSpPr>
          <p:cNvPr id="27" name="Rectangle 26"/>
          <p:cNvSpPr/>
          <p:nvPr/>
        </p:nvSpPr>
        <p:spPr>
          <a:xfrm>
            <a:off x="274320" y="3675887"/>
            <a:ext cx="36576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74320" y="3675887"/>
            <a:ext cx="54864" cy="48463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3703320"/>
            <a:ext cx="1005840" cy="201168"/>
          </a:xfrm>
          <a:prstGeom prst="rect">
            <a:avLst/>
          </a:prstGeom>
          <a:noFill/>
        </p:spPr>
        <p:txBody>
          <a:bodyPr wrap="square">
            <a:spAutoFit/>
          </a:bodyPr>
          <a:lstStyle/>
          <a:p>
            <a:pPr algn="l"/>
            <a:r>
              <a:rPr sz="800" b="1" i="0" dirty="0">
                <a:solidFill>
                  <a:srgbClr val="2C3E50"/>
                </a:solidFill>
              </a:rPr>
              <a:t>Benchmark Note</a:t>
            </a:r>
          </a:p>
        </p:txBody>
      </p:sp>
      <p:sp>
        <p:nvSpPr>
          <p:cNvPr id="30" name="TextBox 29"/>
          <p:cNvSpPr txBox="1"/>
          <p:nvPr/>
        </p:nvSpPr>
        <p:spPr>
          <a:xfrm>
            <a:off x="384048" y="3861350"/>
            <a:ext cx="3429000" cy="338554"/>
          </a:xfrm>
          <a:prstGeom prst="rect">
            <a:avLst/>
          </a:prstGeom>
          <a:noFill/>
        </p:spPr>
        <p:txBody>
          <a:bodyPr wrap="square">
            <a:spAutoFit/>
          </a:bodyPr>
          <a:lstStyle/>
          <a:p>
            <a:pPr algn="l"/>
            <a:r>
              <a:rPr sz="800" b="0" i="0" dirty="0">
                <a:solidFill>
                  <a:srgbClr val="2C3E50"/>
                </a:solidFill>
              </a:rPr>
              <a:t>If TRI unavailable, Price Index used </a:t>
            </a:r>
            <a:r>
              <a:rPr lang="en-IN" sz="800" b="0" i="0" dirty="0">
                <a:solidFill>
                  <a:srgbClr val="2C3E50"/>
                </a:solidFill>
              </a:rPr>
              <a:t>-</a:t>
            </a:r>
            <a:r>
              <a:rPr sz="800" b="0" i="0" dirty="0">
                <a:solidFill>
                  <a:srgbClr val="2C3E50"/>
                </a:solidFill>
              </a:rPr>
              <a:t> may understate benchmark by 1</a:t>
            </a:r>
            <a:r>
              <a:rPr lang="en-IN" sz="800" b="0" i="0" dirty="0">
                <a:solidFill>
                  <a:srgbClr val="2C3E50"/>
                </a:solidFill>
              </a:rPr>
              <a:t>-</a:t>
            </a:r>
            <a:r>
              <a:rPr sz="800" b="0" i="0" dirty="0">
                <a:solidFill>
                  <a:srgbClr val="2C3E50"/>
                </a:solidFill>
              </a:rPr>
              <a:t>2% p.a.; does not affect relative fund ranking</a:t>
            </a:r>
          </a:p>
        </p:txBody>
      </p:sp>
      <p:sp>
        <p:nvSpPr>
          <p:cNvPr id="31" name="Rectangle 30"/>
          <p:cNvSpPr/>
          <p:nvPr/>
        </p:nvSpPr>
        <p:spPr>
          <a:xfrm>
            <a:off x="274320" y="4187952"/>
            <a:ext cx="36576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74320" y="4187952"/>
            <a:ext cx="54864" cy="484632"/>
          </a:xfrm>
          <a:prstGeom prst="rect">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4048" y="4215384"/>
            <a:ext cx="1005840" cy="201168"/>
          </a:xfrm>
          <a:prstGeom prst="rect">
            <a:avLst/>
          </a:prstGeom>
          <a:noFill/>
        </p:spPr>
        <p:txBody>
          <a:bodyPr wrap="square">
            <a:spAutoFit/>
          </a:bodyPr>
          <a:lstStyle/>
          <a:p>
            <a:pPr algn="l"/>
            <a:r>
              <a:rPr sz="800" b="1" i="0">
                <a:solidFill>
                  <a:srgbClr val="2C3E50"/>
                </a:solidFill>
              </a:rPr>
              <a:t>Data Sources</a:t>
            </a:r>
          </a:p>
        </p:txBody>
      </p:sp>
      <p:sp>
        <p:nvSpPr>
          <p:cNvPr id="34" name="TextBox 33"/>
          <p:cNvSpPr txBox="1"/>
          <p:nvPr/>
        </p:nvSpPr>
        <p:spPr>
          <a:xfrm>
            <a:off x="384048" y="4407408"/>
            <a:ext cx="3429000" cy="228600"/>
          </a:xfrm>
          <a:prstGeom prst="rect">
            <a:avLst/>
          </a:prstGeom>
          <a:noFill/>
        </p:spPr>
        <p:txBody>
          <a:bodyPr wrap="square">
            <a:spAutoFit/>
          </a:bodyPr>
          <a:lstStyle/>
          <a:p>
            <a:pPr algn="l"/>
            <a:r>
              <a:rPr sz="800" b="0" i="0" dirty="0">
                <a:solidFill>
                  <a:srgbClr val="2C3E50"/>
                </a:solidFill>
              </a:rPr>
              <a:t>AMFI (NAV), NSE (benchmark), Fund Factsheets (holdings weights)</a:t>
            </a:r>
          </a:p>
        </p:txBody>
      </p:sp>
      <p:sp>
        <p:nvSpPr>
          <p:cNvPr id="35" name="Rectangle 34"/>
          <p:cNvSpPr/>
          <p:nvPr/>
        </p:nvSpPr>
        <p:spPr>
          <a:xfrm>
            <a:off x="4096512" y="1298448"/>
            <a:ext cx="3977639"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169663" y="1316736"/>
            <a:ext cx="3840480" cy="237744"/>
          </a:xfrm>
          <a:prstGeom prst="rect">
            <a:avLst/>
          </a:prstGeom>
          <a:noFill/>
        </p:spPr>
        <p:txBody>
          <a:bodyPr wrap="square">
            <a:spAutoFit/>
          </a:bodyPr>
          <a:lstStyle/>
          <a:p>
            <a:pPr algn="l"/>
            <a:r>
              <a:rPr sz="950" b="1" i="0">
                <a:solidFill>
                  <a:srgbClr val="FFFFFF"/>
                </a:solidFill>
              </a:rPr>
              <a:t>② FORMULA LOGIC &amp; VALIDATION</a:t>
            </a:r>
          </a:p>
        </p:txBody>
      </p:sp>
      <p:sp>
        <p:nvSpPr>
          <p:cNvPr id="37" name="Rectangle 36"/>
          <p:cNvSpPr/>
          <p:nvPr/>
        </p:nvSpPr>
        <p:spPr>
          <a:xfrm>
            <a:off x="4096512" y="1627632"/>
            <a:ext cx="3977639"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096512" y="1627632"/>
            <a:ext cx="54864" cy="48463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206240" y="1655064"/>
            <a:ext cx="1188720" cy="201168"/>
          </a:xfrm>
          <a:prstGeom prst="rect">
            <a:avLst/>
          </a:prstGeom>
          <a:noFill/>
        </p:spPr>
        <p:txBody>
          <a:bodyPr wrap="square">
            <a:spAutoFit/>
          </a:bodyPr>
          <a:lstStyle/>
          <a:p>
            <a:pPr algn="l"/>
            <a:r>
              <a:rPr sz="800" b="1" i="0">
                <a:solidFill>
                  <a:srgbClr val="2C3E50"/>
                </a:solidFill>
              </a:rPr>
              <a:t>Cumulative Return</a:t>
            </a:r>
          </a:p>
        </p:txBody>
      </p:sp>
      <p:sp>
        <p:nvSpPr>
          <p:cNvPr id="40" name="TextBox 39"/>
          <p:cNvSpPr txBox="1"/>
          <p:nvPr/>
        </p:nvSpPr>
        <p:spPr>
          <a:xfrm>
            <a:off x="4206240" y="1847088"/>
            <a:ext cx="3749039" cy="246888"/>
          </a:xfrm>
          <a:prstGeom prst="rect">
            <a:avLst/>
          </a:prstGeom>
          <a:noFill/>
        </p:spPr>
        <p:txBody>
          <a:bodyPr wrap="square">
            <a:spAutoFit/>
          </a:bodyPr>
          <a:lstStyle/>
          <a:p>
            <a:pPr algn="l"/>
            <a:r>
              <a:rPr sz="780" b="0" i="1">
                <a:solidFill>
                  <a:srgbClr val="2C3E50"/>
                </a:solidFill>
              </a:rPr>
              <a:t>=(End NAV / Start NAV) – 1 · Regime baseline = ending NAV of prior regime (not first change row)</a:t>
            </a:r>
          </a:p>
        </p:txBody>
      </p:sp>
      <p:sp>
        <p:nvSpPr>
          <p:cNvPr id="41" name="Rectangle 40"/>
          <p:cNvSpPr/>
          <p:nvPr/>
        </p:nvSpPr>
        <p:spPr>
          <a:xfrm>
            <a:off x="4096512" y="2139696"/>
            <a:ext cx="3977639"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096512" y="2139696"/>
            <a:ext cx="54864" cy="48463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206240" y="2167127"/>
            <a:ext cx="1188720" cy="201168"/>
          </a:xfrm>
          <a:prstGeom prst="rect">
            <a:avLst/>
          </a:prstGeom>
          <a:noFill/>
        </p:spPr>
        <p:txBody>
          <a:bodyPr wrap="square">
            <a:spAutoFit/>
          </a:bodyPr>
          <a:lstStyle/>
          <a:p>
            <a:pPr algn="l"/>
            <a:r>
              <a:rPr sz="800" b="1" i="0">
                <a:solidFill>
                  <a:srgbClr val="2C3E50"/>
                </a:solidFill>
              </a:rPr>
              <a:t>Annualized Return</a:t>
            </a:r>
          </a:p>
        </p:txBody>
      </p:sp>
      <p:sp>
        <p:nvSpPr>
          <p:cNvPr id="44" name="TextBox 43"/>
          <p:cNvSpPr txBox="1"/>
          <p:nvPr/>
        </p:nvSpPr>
        <p:spPr>
          <a:xfrm>
            <a:off x="4206240" y="2359152"/>
            <a:ext cx="3749039" cy="246888"/>
          </a:xfrm>
          <a:prstGeom prst="rect">
            <a:avLst/>
          </a:prstGeom>
          <a:noFill/>
        </p:spPr>
        <p:txBody>
          <a:bodyPr wrap="square">
            <a:spAutoFit/>
          </a:bodyPr>
          <a:lstStyle/>
          <a:p>
            <a:pPr algn="l"/>
            <a:r>
              <a:rPr sz="780" b="0" i="1">
                <a:solidFill>
                  <a:srgbClr val="2C3E50"/>
                </a:solidFill>
              </a:rPr>
              <a:t>=((1 + Cumulative Return)^(12/n)) – 1 · n = number of months in regime (12, 15, or 9)</a:t>
            </a:r>
          </a:p>
        </p:txBody>
      </p:sp>
      <p:sp>
        <p:nvSpPr>
          <p:cNvPr id="45" name="Rectangle 44"/>
          <p:cNvSpPr/>
          <p:nvPr/>
        </p:nvSpPr>
        <p:spPr>
          <a:xfrm>
            <a:off x="4096512" y="2651760"/>
            <a:ext cx="3977639"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4096512" y="2651760"/>
            <a:ext cx="54864" cy="48463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206240" y="2679191"/>
            <a:ext cx="1188720" cy="201168"/>
          </a:xfrm>
          <a:prstGeom prst="rect">
            <a:avLst/>
          </a:prstGeom>
          <a:noFill/>
        </p:spPr>
        <p:txBody>
          <a:bodyPr wrap="square">
            <a:spAutoFit/>
          </a:bodyPr>
          <a:lstStyle/>
          <a:p>
            <a:pPr algn="l"/>
            <a:r>
              <a:rPr sz="800" b="1" i="0">
                <a:solidFill>
                  <a:srgbClr val="2C3E50"/>
                </a:solidFill>
              </a:rPr>
              <a:t>Annualized Volatility</a:t>
            </a:r>
          </a:p>
        </p:txBody>
      </p:sp>
      <p:sp>
        <p:nvSpPr>
          <p:cNvPr id="48" name="TextBox 47"/>
          <p:cNvSpPr txBox="1"/>
          <p:nvPr/>
        </p:nvSpPr>
        <p:spPr>
          <a:xfrm>
            <a:off x="4206240" y="2871215"/>
            <a:ext cx="3749039" cy="246888"/>
          </a:xfrm>
          <a:prstGeom prst="rect">
            <a:avLst/>
          </a:prstGeom>
          <a:noFill/>
        </p:spPr>
        <p:txBody>
          <a:bodyPr wrap="square">
            <a:spAutoFit/>
          </a:bodyPr>
          <a:lstStyle/>
          <a:p>
            <a:pPr algn="l"/>
            <a:r>
              <a:rPr sz="780" b="0" i="1">
                <a:solidFill>
                  <a:srgbClr val="2C3E50"/>
                </a:solidFill>
              </a:rPr>
              <a:t>=STDEV.S(monthly returns) × SQRT(12) · Excludes first return row (pre-period movement)</a:t>
            </a:r>
          </a:p>
        </p:txBody>
      </p:sp>
      <p:sp>
        <p:nvSpPr>
          <p:cNvPr id="49" name="Rectangle 48"/>
          <p:cNvSpPr/>
          <p:nvPr/>
        </p:nvSpPr>
        <p:spPr>
          <a:xfrm>
            <a:off x="4096512" y="3163824"/>
            <a:ext cx="3977639"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096512" y="3163824"/>
            <a:ext cx="54864" cy="48463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206240" y="3191256"/>
            <a:ext cx="1188720" cy="201168"/>
          </a:xfrm>
          <a:prstGeom prst="rect">
            <a:avLst/>
          </a:prstGeom>
          <a:noFill/>
        </p:spPr>
        <p:txBody>
          <a:bodyPr wrap="square">
            <a:spAutoFit/>
          </a:bodyPr>
          <a:lstStyle/>
          <a:p>
            <a:pPr algn="l"/>
            <a:r>
              <a:rPr sz="800" b="1" i="0">
                <a:solidFill>
                  <a:srgbClr val="2C3E50"/>
                </a:solidFill>
              </a:rPr>
              <a:t>Sharpe Ratio</a:t>
            </a:r>
          </a:p>
        </p:txBody>
      </p:sp>
      <p:sp>
        <p:nvSpPr>
          <p:cNvPr id="52" name="TextBox 51"/>
          <p:cNvSpPr txBox="1"/>
          <p:nvPr/>
        </p:nvSpPr>
        <p:spPr>
          <a:xfrm>
            <a:off x="4206240" y="3383280"/>
            <a:ext cx="3749039" cy="246888"/>
          </a:xfrm>
          <a:prstGeom prst="rect">
            <a:avLst/>
          </a:prstGeom>
          <a:noFill/>
        </p:spPr>
        <p:txBody>
          <a:bodyPr wrap="square">
            <a:spAutoFit/>
          </a:bodyPr>
          <a:lstStyle/>
          <a:p>
            <a:pPr algn="l"/>
            <a:r>
              <a:rPr sz="780" b="0" i="1">
                <a:solidFill>
                  <a:srgbClr val="2C3E50"/>
                </a:solidFill>
              </a:rPr>
              <a:t>=(Ann. Return – Rf) / Ann. Volatility · Rf = 6.651% (constant across all regimes)</a:t>
            </a:r>
          </a:p>
        </p:txBody>
      </p:sp>
      <p:sp>
        <p:nvSpPr>
          <p:cNvPr id="53" name="Rectangle 52"/>
          <p:cNvSpPr/>
          <p:nvPr/>
        </p:nvSpPr>
        <p:spPr>
          <a:xfrm>
            <a:off x="4096512" y="3675887"/>
            <a:ext cx="3977639"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4096512" y="3675887"/>
            <a:ext cx="54864" cy="56692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206240" y="3703320"/>
            <a:ext cx="1188720" cy="201168"/>
          </a:xfrm>
          <a:prstGeom prst="rect">
            <a:avLst/>
          </a:prstGeom>
          <a:noFill/>
        </p:spPr>
        <p:txBody>
          <a:bodyPr wrap="square">
            <a:spAutoFit/>
          </a:bodyPr>
          <a:lstStyle/>
          <a:p>
            <a:pPr algn="l"/>
            <a:r>
              <a:rPr sz="800" b="1" i="0">
                <a:solidFill>
                  <a:srgbClr val="2C3E50"/>
                </a:solidFill>
              </a:rPr>
              <a:t>Max Drawdown</a:t>
            </a:r>
          </a:p>
        </p:txBody>
      </p:sp>
      <p:sp>
        <p:nvSpPr>
          <p:cNvPr id="56" name="TextBox 55"/>
          <p:cNvSpPr txBox="1"/>
          <p:nvPr/>
        </p:nvSpPr>
        <p:spPr>
          <a:xfrm>
            <a:off x="4206240" y="3895344"/>
            <a:ext cx="3749039" cy="329184"/>
          </a:xfrm>
          <a:prstGeom prst="rect">
            <a:avLst/>
          </a:prstGeom>
          <a:noFill/>
        </p:spPr>
        <p:txBody>
          <a:bodyPr wrap="square">
            <a:spAutoFit/>
          </a:bodyPr>
          <a:lstStyle/>
          <a:p>
            <a:pPr algn="l"/>
            <a:r>
              <a:rPr sz="780" b="0" i="1">
                <a:solidFill>
                  <a:srgbClr val="2C3E50"/>
                </a:solidFill>
              </a:rPr>
              <a:t>=MIN(DD%) across regime rows · DD% = (Cum. Index / Regime-Specific Peak) – 1 · Peak resets at each regime boundary ← key methodological choice</a:t>
            </a:r>
          </a:p>
        </p:txBody>
      </p:sp>
      <p:sp>
        <p:nvSpPr>
          <p:cNvPr id="57" name="Rectangle 56"/>
          <p:cNvSpPr/>
          <p:nvPr/>
        </p:nvSpPr>
        <p:spPr>
          <a:xfrm>
            <a:off x="4096512" y="4270248"/>
            <a:ext cx="3977639"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096512" y="4270248"/>
            <a:ext cx="54864" cy="48463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206240" y="4297680"/>
            <a:ext cx="1188720" cy="201168"/>
          </a:xfrm>
          <a:prstGeom prst="rect">
            <a:avLst/>
          </a:prstGeom>
          <a:noFill/>
        </p:spPr>
        <p:txBody>
          <a:bodyPr wrap="square">
            <a:spAutoFit/>
          </a:bodyPr>
          <a:lstStyle/>
          <a:p>
            <a:pPr algn="l"/>
            <a:r>
              <a:rPr sz="800" b="1" i="0">
                <a:solidFill>
                  <a:srgbClr val="2C3E50"/>
                </a:solidFill>
              </a:rPr>
              <a:t>Capture Ratios</a:t>
            </a:r>
          </a:p>
        </p:txBody>
      </p:sp>
      <p:sp>
        <p:nvSpPr>
          <p:cNvPr id="60" name="TextBox 59"/>
          <p:cNvSpPr txBox="1"/>
          <p:nvPr/>
        </p:nvSpPr>
        <p:spPr>
          <a:xfrm>
            <a:off x="4206240" y="4457700"/>
            <a:ext cx="3749039" cy="452432"/>
          </a:xfrm>
          <a:prstGeom prst="rect">
            <a:avLst/>
          </a:prstGeom>
          <a:noFill/>
        </p:spPr>
        <p:txBody>
          <a:bodyPr wrap="square">
            <a:spAutoFit/>
          </a:bodyPr>
          <a:lstStyle/>
          <a:p>
            <a:pPr algn="l"/>
            <a:r>
              <a:rPr sz="780" b="0" i="1" dirty="0">
                <a:solidFill>
                  <a:srgbClr val="2C3E50"/>
                </a:solidFill>
              </a:rPr>
              <a:t>=AVERAGE(Fund Return / Bench Return) for up/down months · 0.5% threshold filter applied </a:t>
            </a:r>
            <a:r>
              <a:rPr lang="en-IN" sz="780" b="0" i="1" dirty="0">
                <a:solidFill>
                  <a:srgbClr val="2C3E50"/>
                </a:solidFill>
              </a:rPr>
              <a:t>-</a:t>
            </a:r>
            <a:r>
              <a:rPr sz="780" b="0" i="1" dirty="0">
                <a:solidFill>
                  <a:srgbClr val="2C3E50"/>
                </a:solidFill>
              </a:rPr>
              <a:t> months where |benchmark| &lt; 0.5% excluded to avoid division-by-near-zero distortion</a:t>
            </a:r>
          </a:p>
        </p:txBody>
      </p:sp>
      <p:sp>
        <p:nvSpPr>
          <p:cNvPr id="61" name="Rectangle 60"/>
          <p:cNvSpPr/>
          <p:nvPr/>
        </p:nvSpPr>
        <p:spPr>
          <a:xfrm>
            <a:off x="4096512" y="4782312"/>
            <a:ext cx="3977639"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4096512" y="4782312"/>
            <a:ext cx="54864" cy="48463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206240" y="4809744"/>
            <a:ext cx="1188720" cy="201168"/>
          </a:xfrm>
          <a:prstGeom prst="rect">
            <a:avLst/>
          </a:prstGeom>
          <a:noFill/>
        </p:spPr>
        <p:txBody>
          <a:bodyPr wrap="square">
            <a:spAutoFit/>
          </a:bodyPr>
          <a:lstStyle/>
          <a:p>
            <a:pPr algn="l"/>
            <a:r>
              <a:rPr sz="800" b="1" i="0" dirty="0">
                <a:solidFill>
                  <a:srgbClr val="2C3E50"/>
                </a:solidFill>
              </a:rPr>
              <a:t>Jensen's Alpha</a:t>
            </a:r>
          </a:p>
        </p:txBody>
      </p:sp>
      <p:sp>
        <p:nvSpPr>
          <p:cNvPr id="64" name="TextBox 63"/>
          <p:cNvSpPr txBox="1"/>
          <p:nvPr/>
        </p:nvSpPr>
        <p:spPr>
          <a:xfrm>
            <a:off x="4206240" y="4967007"/>
            <a:ext cx="3749039" cy="246888"/>
          </a:xfrm>
          <a:prstGeom prst="rect">
            <a:avLst/>
          </a:prstGeom>
          <a:noFill/>
        </p:spPr>
        <p:txBody>
          <a:bodyPr wrap="square">
            <a:spAutoFit/>
          </a:bodyPr>
          <a:lstStyle/>
          <a:p>
            <a:pPr algn="l"/>
            <a:r>
              <a:rPr sz="780" b="0" i="1" dirty="0">
                <a:solidFill>
                  <a:srgbClr val="2C3E50"/>
                </a:solidFill>
              </a:rPr>
              <a:t>=Ann. Return – [Rf + Beta × (Benchmark Return – Rf)] · Beta computed via COVAR(fund, bench) / VAR(bench) on monthly returns</a:t>
            </a:r>
          </a:p>
        </p:txBody>
      </p:sp>
      <p:sp>
        <p:nvSpPr>
          <p:cNvPr id="65" name="Rectangle 64"/>
          <p:cNvSpPr/>
          <p:nvPr/>
        </p:nvSpPr>
        <p:spPr>
          <a:xfrm>
            <a:off x="8202168" y="1298448"/>
            <a:ext cx="3776472" cy="2926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275320" y="1316736"/>
            <a:ext cx="3639312" cy="237744"/>
          </a:xfrm>
          <a:prstGeom prst="rect">
            <a:avLst/>
          </a:prstGeom>
          <a:noFill/>
        </p:spPr>
        <p:txBody>
          <a:bodyPr wrap="square">
            <a:spAutoFit/>
          </a:bodyPr>
          <a:lstStyle/>
          <a:p>
            <a:pPr algn="l"/>
            <a:r>
              <a:rPr sz="950" b="1" i="0">
                <a:solidFill>
                  <a:srgbClr val="FFFFFF"/>
                </a:solidFill>
              </a:rPr>
              <a:t>③ VALIDATION &amp; ATTRIBUTION PROTOCOL</a:t>
            </a:r>
          </a:p>
        </p:txBody>
      </p:sp>
      <p:sp>
        <p:nvSpPr>
          <p:cNvPr id="67" name="Rectangle 66"/>
          <p:cNvSpPr/>
          <p:nvPr/>
        </p:nvSpPr>
        <p:spPr>
          <a:xfrm>
            <a:off x="8202168" y="1627632"/>
            <a:ext cx="3776472"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8202168" y="1627632"/>
            <a:ext cx="54864" cy="6858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311896" y="1655064"/>
            <a:ext cx="1234440" cy="201168"/>
          </a:xfrm>
          <a:prstGeom prst="rect">
            <a:avLst/>
          </a:prstGeom>
          <a:noFill/>
        </p:spPr>
        <p:txBody>
          <a:bodyPr wrap="square">
            <a:spAutoFit/>
          </a:bodyPr>
          <a:lstStyle/>
          <a:p>
            <a:pPr algn="l"/>
            <a:r>
              <a:rPr sz="800" b="1" i="0">
                <a:solidFill>
                  <a:srgbClr val="2C3E50"/>
                </a:solidFill>
              </a:rPr>
              <a:t>Regime Boundary Logic</a:t>
            </a:r>
          </a:p>
        </p:txBody>
      </p:sp>
      <p:sp>
        <p:nvSpPr>
          <p:cNvPr id="70" name="TextBox 69"/>
          <p:cNvSpPr txBox="1"/>
          <p:nvPr/>
        </p:nvSpPr>
        <p:spPr>
          <a:xfrm>
            <a:off x="8311896" y="1847088"/>
            <a:ext cx="3547872" cy="448056"/>
          </a:xfrm>
          <a:prstGeom prst="rect">
            <a:avLst/>
          </a:prstGeom>
          <a:noFill/>
        </p:spPr>
        <p:txBody>
          <a:bodyPr wrap="square">
            <a:spAutoFit/>
          </a:bodyPr>
          <a:lstStyle/>
          <a:p>
            <a:pPr algn="l"/>
            <a:r>
              <a:rPr sz="780" b="0" i="0">
                <a:solidFill>
                  <a:srgbClr val="2C3E50"/>
                </a:solidFill>
              </a:rPr>
              <a:t>Start NAV = Ending NAV of prior regime. · Tightening: Row 14 (Oct 31, 2023) → Row 29 (Jan 31, 2025). · Return rows start one row after regime NAV baseline.</a:t>
            </a:r>
          </a:p>
        </p:txBody>
      </p:sp>
      <p:sp>
        <p:nvSpPr>
          <p:cNvPr id="71" name="Rectangle 70"/>
          <p:cNvSpPr/>
          <p:nvPr/>
        </p:nvSpPr>
        <p:spPr>
          <a:xfrm>
            <a:off x="8202168" y="2340864"/>
            <a:ext cx="3776472"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8202168" y="2340864"/>
            <a:ext cx="54864" cy="56692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311896" y="2368296"/>
            <a:ext cx="1234440" cy="201168"/>
          </a:xfrm>
          <a:prstGeom prst="rect">
            <a:avLst/>
          </a:prstGeom>
          <a:noFill/>
        </p:spPr>
        <p:txBody>
          <a:bodyPr wrap="square">
            <a:spAutoFit/>
          </a:bodyPr>
          <a:lstStyle/>
          <a:p>
            <a:pPr algn="l"/>
            <a:r>
              <a:rPr sz="800" b="1" i="0">
                <a:solidFill>
                  <a:srgbClr val="2C3E50"/>
                </a:solidFill>
              </a:rPr>
              <a:t>Cross-Validation</a:t>
            </a:r>
          </a:p>
        </p:txBody>
      </p:sp>
      <p:sp>
        <p:nvSpPr>
          <p:cNvPr id="74" name="TextBox 73"/>
          <p:cNvSpPr txBox="1"/>
          <p:nvPr/>
        </p:nvSpPr>
        <p:spPr>
          <a:xfrm>
            <a:off x="8311896" y="2560320"/>
            <a:ext cx="3547872" cy="329184"/>
          </a:xfrm>
          <a:prstGeom prst="rect">
            <a:avLst/>
          </a:prstGeom>
          <a:noFill/>
        </p:spPr>
        <p:txBody>
          <a:bodyPr wrap="square">
            <a:spAutoFit/>
          </a:bodyPr>
          <a:lstStyle/>
          <a:p>
            <a:pPr algn="l"/>
            <a:r>
              <a:rPr sz="780" b="0" i="0" dirty="0">
                <a:solidFill>
                  <a:srgbClr val="2C3E50"/>
                </a:solidFill>
              </a:rPr>
              <a:t>Cumulative Index vs Direct NAV Growth checked for each fund. · Maximum rounding difference: 0.05% (ABSL), 0.01% (NIMF) </a:t>
            </a:r>
            <a:r>
              <a:rPr lang="en-IN" sz="780" dirty="0">
                <a:solidFill>
                  <a:srgbClr val="2C3E50"/>
                </a:solidFill>
              </a:rPr>
              <a:t>-</a:t>
            </a:r>
            <a:r>
              <a:rPr sz="780" b="0" i="0" dirty="0">
                <a:solidFill>
                  <a:srgbClr val="2C3E50"/>
                </a:solidFill>
              </a:rPr>
              <a:t> within acceptable tolerance.</a:t>
            </a:r>
          </a:p>
        </p:txBody>
      </p:sp>
      <p:sp>
        <p:nvSpPr>
          <p:cNvPr id="75" name="Rectangle 74"/>
          <p:cNvSpPr/>
          <p:nvPr/>
        </p:nvSpPr>
        <p:spPr>
          <a:xfrm>
            <a:off x="8202168" y="2935224"/>
            <a:ext cx="3776472"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8202168" y="2935224"/>
            <a:ext cx="54864" cy="6858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8311896" y="2962656"/>
            <a:ext cx="1234440" cy="201168"/>
          </a:xfrm>
          <a:prstGeom prst="rect">
            <a:avLst/>
          </a:prstGeom>
          <a:noFill/>
        </p:spPr>
        <p:txBody>
          <a:bodyPr wrap="square">
            <a:spAutoFit/>
          </a:bodyPr>
          <a:lstStyle/>
          <a:p>
            <a:pPr algn="l"/>
            <a:r>
              <a:rPr sz="800" b="1" i="0">
                <a:solidFill>
                  <a:srgbClr val="2C3E50"/>
                </a:solidFill>
              </a:rPr>
              <a:t>Regime-Specific Peak DD</a:t>
            </a:r>
          </a:p>
        </p:txBody>
      </p:sp>
      <p:sp>
        <p:nvSpPr>
          <p:cNvPr id="78" name="TextBox 77"/>
          <p:cNvSpPr txBox="1"/>
          <p:nvPr/>
        </p:nvSpPr>
        <p:spPr>
          <a:xfrm>
            <a:off x="8311896" y="3154680"/>
            <a:ext cx="3547872" cy="448056"/>
          </a:xfrm>
          <a:prstGeom prst="rect">
            <a:avLst/>
          </a:prstGeom>
          <a:noFill/>
        </p:spPr>
        <p:txBody>
          <a:bodyPr wrap="square">
            <a:spAutoFit/>
          </a:bodyPr>
          <a:lstStyle/>
          <a:p>
            <a:pPr algn="l"/>
            <a:r>
              <a:rPr sz="780" b="0" i="0">
                <a:solidFill>
                  <a:srgbClr val="2C3E50"/>
                </a:solidFill>
              </a:rPr>
              <a:t>Peak columns (U/V/W) reset to regime start NAV at each boundary. · Verified: Row 15 DD = 0.00%, Row 30 DD = 0.00% ✓ · Ensures drawdowns reflect in-regime peak, not all-time peak.</a:t>
            </a:r>
          </a:p>
        </p:txBody>
      </p:sp>
      <p:sp>
        <p:nvSpPr>
          <p:cNvPr id="79" name="Rectangle 78"/>
          <p:cNvSpPr/>
          <p:nvPr/>
        </p:nvSpPr>
        <p:spPr>
          <a:xfrm>
            <a:off x="8202168" y="3648456"/>
            <a:ext cx="3776472"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8202168" y="3648456"/>
            <a:ext cx="54864" cy="6858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311896" y="3675888"/>
            <a:ext cx="1234440" cy="201168"/>
          </a:xfrm>
          <a:prstGeom prst="rect">
            <a:avLst/>
          </a:prstGeom>
          <a:noFill/>
        </p:spPr>
        <p:txBody>
          <a:bodyPr wrap="square">
            <a:spAutoFit/>
          </a:bodyPr>
          <a:lstStyle/>
          <a:p>
            <a:pPr algn="l"/>
            <a:r>
              <a:rPr sz="800" b="1" i="0">
                <a:solidFill>
                  <a:srgbClr val="2C3E50"/>
                </a:solidFill>
              </a:rPr>
              <a:t>Attribution Formula</a:t>
            </a:r>
          </a:p>
        </p:txBody>
      </p:sp>
      <p:sp>
        <p:nvSpPr>
          <p:cNvPr id="82" name="TextBox 81"/>
          <p:cNvSpPr txBox="1"/>
          <p:nvPr/>
        </p:nvSpPr>
        <p:spPr>
          <a:xfrm>
            <a:off x="8321040" y="3811303"/>
            <a:ext cx="3547872" cy="448056"/>
          </a:xfrm>
          <a:prstGeom prst="rect">
            <a:avLst/>
          </a:prstGeom>
          <a:noFill/>
        </p:spPr>
        <p:txBody>
          <a:bodyPr wrap="square">
            <a:spAutoFit/>
          </a:bodyPr>
          <a:lstStyle/>
          <a:p>
            <a:pPr algn="l"/>
            <a:r>
              <a:rPr sz="780" b="0" i="0" dirty="0">
                <a:solidFill>
                  <a:srgbClr val="2C3E50"/>
                </a:solidFill>
              </a:rPr>
              <a:t>Contribution = Avg Weight × (Sector Return – Benchmark Return) · Weights: average of start and end-of-regime factsheet weights. · Other Holdings = Regime Return – Sum(3-holding contributions). · This is a simplified Brinson-Hood-</a:t>
            </a:r>
            <a:r>
              <a:rPr sz="780" b="0" i="0" dirty="0" err="1">
                <a:solidFill>
                  <a:srgbClr val="2C3E50"/>
                </a:solidFill>
              </a:rPr>
              <a:t>Beebower</a:t>
            </a:r>
            <a:r>
              <a:rPr sz="780" b="0" i="0" dirty="0">
                <a:solidFill>
                  <a:srgbClr val="2C3E50"/>
                </a:solidFill>
              </a:rPr>
              <a:t> model.</a:t>
            </a:r>
          </a:p>
        </p:txBody>
      </p:sp>
      <p:sp>
        <p:nvSpPr>
          <p:cNvPr id="83" name="Rectangle 82"/>
          <p:cNvSpPr/>
          <p:nvPr/>
        </p:nvSpPr>
        <p:spPr>
          <a:xfrm>
            <a:off x="8202168" y="4361688"/>
            <a:ext cx="3776472"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8202168" y="4361688"/>
            <a:ext cx="54864" cy="6858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8311896" y="4389120"/>
            <a:ext cx="1234440" cy="201168"/>
          </a:xfrm>
          <a:prstGeom prst="rect">
            <a:avLst/>
          </a:prstGeom>
          <a:noFill/>
        </p:spPr>
        <p:txBody>
          <a:bodyPr wrap="square">
            <a:spAutoFit/>
          </a:bodyPr>
          <a:lstStyle/>
          <a:p>
            <a:pPr algn="l"/>
            <a:r>
              <a:rPr sz="800" b="1" i="0">
                <a:solidFill>
                  <a:srgbClr val="2C3E50"/>
                </a:solidFill>
              </a:rPr>
              <a:t>Capture Ratio Threshold</a:t>
            </a:r>
          </a:p>
        </p:txBody>
      </p:sp>
      <p:sp>
        <p:nvSpPr>
          <p:cNvPr id="86" name="TextBox 85"/>
          <p:cNvSpPr txBox="1"/>
          <p:nvPr/>
        </p:nvSpPr>
        <p:spPr>
          <a:xfrm>
            <a:off x="8311896" y="4581144"/>
            <a:ext cx="3547872" cy="448056"/>
          </a:xfrm>
          <a:prstGeom prst="rect">
            <a:avLst/>
          </a:prstGeom>
          <a:noFill/>
        </p:spPr>
        <p:txBody>
          <a:bodyPr wrap="square">
            <a:spAutoFit/>
          </a:bodyPr>
          <a:lstStyle/>
          <a:p>
            <a:pPr algn="l"/>
            <a:r>
              <a:rPr sz="780" b="0" i="0">
                <a:solidFill>
                  <a:srgbClr val="2C3E50"/>
                </a:solidFill>
              </a:rPr>
              <a:t>Industry standard: exclude months where |benchmark| &lt; 0.5%. · Prevents division by near-zero denominator causing distorted ratios (e.g., 178 million% pre-correction). · Same approach used by Morningstar, Bloomberg.</a:t>
            </a:r>
          </a:p>
        </p:txBody>
      </p:sp>
      <p:sp>
        <p:nvSpPr>
          <p:cNvPr id="87" name="Rectangle 86"/>
          <p:cNvSpPr/>
          <p:nvPr/>
        </p:nvSpPr>
        <p:spPr>
          <a:xfrm>
            <a:off x="8202168" y="5074920"/>
            <a:ext cx="3776472" cy="791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8202168" y="5074920"/>
            <a:ext cx="54864" cy="791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8311896" y="5102352"/>
            <a:ext cx="1234440" cy="201168"/>
          </a:xfrm>
          <a:prstGeom prst="rect">
            <a:avLst/>
          </a:prstGeom>
          <a:noFill/>
        </p:spPr>
        <p:txBody>
          <a:bodyPr wrap="square">
            <a:spAutoFit/>
          </a:bodyPr>
          <a:lstStyle/>
          <a:p>
            <a:pPr algn="l"/>
            <a:r>
              <a:rPr sz="800" b="1" i="0">
                <a:solidFill>
                  <a:srgbClr val="2C3E50"/>
                </a:solidFill>
              </a:rPr>
              <a:t>Limitations Disclosed</a:t>
            </a:r>
          </a:p>
        </p:txBody>
      </p:sp>
      <p:sp>
        <p:nvSpPr>
          <p:cNvPr id="90" name="TextBox 89"/>
          <p:cNvSpPr txBox="1"/>
          <p:nvPr/>
        </p:nvSpPr>
        <p:spPr>
          <a:xfrm>
            <a:off x="8311896" y="5294376"/>
            <a:ext cx="3547872" cy="572464"/>
          </a:xfrm>
          <a:prstGeom prst="rect">
            <a:avLst/>
          </a:prstGeom>
          <a:noFill/>
        </p:spPr>
        <p:txBody>
          <a:bodyPr wrap="square">
            <a:spAutoFit/>
          </a:bodyPr>
          <a:lstStyle/>
          <a:p>
            <a:pPr algn="l"/>
            <a:r>
              <a:rPr lang="en-US" sz="780" b="0" i="0" dirty="0">
                <a:solidFill>
                  <a:srgbClr val="2C3E50"/>
                </a:solidFill>
              </a:rPr>
              <a:t>Attribution covers only 3 sectors (27% to 33% of the portfolio); the remaining 67% to 73% requires full stock level data</a:t>
            </a:r>
            <a:r>
              <a:rPr sz="780" b="0" i="0" dirty="0">
                <a:solidFill>
                  <a:srgbClr val="2C3E50"/>
                </a:solidFill>
              </a:rPr>
              <a:t>. </a:t>
            </a:r>
            <a:endParaRPr lang="en-IN" sz="780" b="0" i="0" dirty="0">
              <a:solidFill>
                <a:srgbClr val="2C3E50"/>
              </a:solidFill>
            </a:endParaRPr>
          </a:p>
          <a:p>
            <a:pPr algn="l"/>
            <a:r>
              <a:rPr sz="780" b="0" i="0" dirty="0">
                <a:solidFill>
                  <a:srgbClr val="2C3E50"/>
                </a:solidFill>
              </a:rPr>
              <a:t>Brinson-</a:t>
            </a:r>
            <a:r>
              <a:rPr sz="780" b="0" i="0" dirty="0" err="1">
                <a:solidFill>
                  <a:srgbClr val="2C3E50"/>
                </a:solidFill>
              </a:rPr>
              <a:t>Fachler</a:t>
            </a:r>
            <a:r>
              <a:rPr sz="780" b="0" i="0" dirty="0">
                <a:solidFill>
                  <a:srgbClr val="2C3E50"/>
                </a:solidFill>
              </a:rPr>
              <a:t> decomposition (allocation vs selection) not computed. </a:t>
            </a:r>
            <a:endParaRPr lang="en-IN" sz="780" dirty="0">
              <a:solidFill>
                <a:srgbClr val="2C3E50"/>
              </a:solidFill>
            </a:endParaRPr>
          </a:p>
          <a:p>
            <a:pPr algn="l"/>
            <a:r>
              <a:rPr sz="780" b="0" i="0" dirty="0">
                <a:solidFill>
                  <a:srgbClr val="2C3E50"/>
                </a:solidFill>
              </a:rPr>
              <a:t>Forward-looking inference not intended.</a:t>
            </a:r>
          </a:p>
        </p:txBody>
      </p:sp>
      <p:sp>
        <p:nvSpPr>
          <p:cNvPr id="91" name="Rectangle 90"/>
          <p:cNvSpPr/>
          <p:nvPr/>
        </p:nvSpPr>
        <p:spPr>
          <a:xfrm>
            <a:off x="274320" y="6263640"/>
            <a:ext cx="11430000" cy="53035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411480" y="6300216"/>
            <a:ext cx="11109960" cy="384721"/>
          </a:xfrm>
          <a:prstGeom prst="rect">
            <a:avLst/>
          </a:prstGeom>
          <a:noFill/>
        </p:spPr>
        <p:txBody>
          <a:bodyPr wrap="square">
            <a:spAutoFit/>
          </a:bodyPr>
          <a:lstStyle/>
          <a:p>
            <a:pPr algn="l"/>
            <a:r>
              <a:rPr lang="en-US" sz="950" b="0" i="0" dirty="0">
                <a:solidFill>
                  <a:srgbClr val="FFFFFF"/>
                </a:solidFill>
              </a:rPr>
              <a:t>STRATEGIC IMPLICATION </a:t>
            </a:r>
            <a:r>
              <a:rPr sz="950" b="0" i="0" dirty="0">
                <a:solidFill>
                  <a:srgbClr val="FFFFFF"/>
                </a:solidFill>
              </a:rPr>
              <a:t>:  1,095 NAV </a:t>
            </a:r>
            <a:r>
              <a:rPr sz="950" b="0" i="0" dirty="0" err="1">
                <a:solidFill>
                  <a:srgbClr val="FFFFFF"/>
                </a:solidFill>
              </a:rPr>
              <a:t>obs</a:t>
            </a:r>
            <a:r>
              <a:rPr sz="950" b="0" i="0" dirty="0">
                <a:solidFill>
                  <a:srgbClr val="FFFFFF"/>
                </a:solidFill>
              </a:rPr>
              <a:t> × 3 funds · 26 quarterly holding snapshots · 2</a:t>
            </a:r>
            <a:r>
              <a:rPr lang="en-IN" sz="950" dirty="0">
                <a:solidFill>
                  <a:srgbClr val="FFFFFF"/>
                </a:solidFill>
              </a:rPr>
              <a:t>1</a:t>
            </a:r>
            <a:r>
              <a:rPr sz="950" b="0" i="0" dirty="0">
                <a:solidFill>
                  <a:srgbClr val="FFFFFF"/>
                </a:solidFill>
              </a:rPr>
              <a:t> regime metrics (</a:t>
            </a:r>
            <a:r>
              <a:rPr lang="en-IN" sz="950" dirty="0">
                <a:solidFill>
                  <a:srgbClr val="FFFFFF"/>
                </a:solidFill>
              </a:rPr>
              <a:t>7</a:t>
            </a:r>
            <a:r>
              <a:rPr sz="950" b="0" i="0" dirty="0">
                <a:solidFill>
                  <a:srgbClr val="FFFFFF"/>
                </a:solidFill>
              </a:rPr>
              <a:t> metrics × 3 regimes) · Threshold-corrected capture ratios (industry-standard 0.5% filter) · Regime-specific peak drawdown reset (not cumulative) · Cross-validated Cumulative Index vs Direct NAV (max delta: 0.05%) · All formulas documented, cell-referenced, and independently verifiable in source Excel.</a:t>
            </a:r>
          </a:p>
        </p:txBody>
      </p:sp>
      <p:sp>
        <p:nvSpPr>
          <p:cNvPr id="93" name="Rectangle 92"/>
          <p:cNvSpPr/>
          <p:nvPr/>
        </p:nvSpPr>
        <p:spPr>
          <a:xfrm>
            <a:off x="0" y="6812280"/>
            <a:ext cx="12188952" cy="457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1914</TotalTime>
  <Words>2563</Words>
  <Application>Microsoft Office PowerPoint</Application>
  <PresentationFormat>Custom</PresentationFormat>
  <Paragraphs>304</Paragraphs>
  <Slides>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Hemanshu Bhargav</cp:lastModifiedBy>
  <cp:revision>25</cp:revision>
  <dcterms:created xsi:type="dcterms:W3CDTF">2013-01-27T09:14:16Z</dcterms:created>
  <dcterms:modified xsi:type="dcterms:W3CDTF">2026-04-08T10:58:08Z</dcterms:modified>
  <cp:category/>
</cp:coreProperties>
</file>